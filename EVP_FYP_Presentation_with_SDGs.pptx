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73" r:id="rId3"/>
    <p:sldId id="271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22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7658" autoAdjust="0"/>
  </p:normalViewPr>
  <p:slideViewPr>
    <p:cSldViewPr snapToGrid="0" snapToObjects="1">
      <p:cViewPr>
        <p:scale>
          <a:sx n="42" d="100"/>
          <a:sy n="42" d="100"/>
        </p:scale>
        <p:origin x="15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0B1F3A"/>
                </a:solidFill>
                <a:latin typeface="Calibri"/>
                <a:ea typeface="+mn-ea"/>
                <a:cs typeface="+mn-cs"/>
              </a:defRPr>
            </a:pPr>
            <a:r>
              <a:rPr lang="en-US" sz="1300" b="0" i="0" u="none" strike="noStrike">
                <a:solidFill>
                  <a:srgbClr val="0B1F3A"/>
                </a:solidFill>
                <a:latin typeface="Calibri"/>
              </a:rPr>
              <a:t>Warning time vs camera distance upstream (approach at ~14 m/s)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 time (s)</c:v>
                </c:pt>
              </c:strCache>
            </c:strRef>
          </c:tx>
          <c:spPr>
            <a:solidFill>
              <a:srgbClr val="14325A"/>
            </a:solidFill>
            <a:effectLst/>
          </c:spPr>
          <c:invertIfNegative val="0"/>
          <c:dLbls>
            <c:numFmt formatCode="0.0\ &quot;s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300" b="1" i="0" u="none" strike="noStrike" kern="1200" baseline="0">
                    <a:solidFill>
                      <a:srgbClr val="0B1F3A"/>
                    </a:solidFill>
                    <a:latin typeface="Arial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50 m</c:v>
                </c:pt>
                <c:pt idx="1">
                  <c:v>100 m</c:v>
                </c:pt>
                <c:pt idx="2">
                  <c:v>150 m</c:v>
                </c:pt>
                <c:pt idx="3">
                  <c:v>200 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3.6</c:v>
                </c:pt>
                <c:pt idx="1">
                  <c:v>7.1</c:v>
                </c:pt>
                <c:pt idx="2">
                  <c:v>10.7</c:v>
                </c:pt>
                <c:pt idx="3">
                  <c:v>14.3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82-49D1-8452-53F3A5F537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5B6B82"/>
                    </a:solidFill>
                    <a:latin typeface="Arial"/>
                    <a:ea typeface="+mn-ea"/>
                    <a:cs typeface="+mn-cs"/>
                  </a:defRPr>
                </a:pPr>
                <a:r>
                  <a:rPr lang="en-US" sz="1100" b="0" i="0" u="none" strike="noStrike">
                    <a:solidFill>
                      <a:srgbClr val="5B6B82"/>
                    </a:solidFill>
                    <a:latin typeface="Arial"/>
                  </a:rPr>
                  <a:t>Camera distance from stop line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B82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 cmpd="sng" algn="ctr">
              <a:solidFill>
                <a:srgbClr val="DCE3EC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5B6B82"/>
                    </a:solidFill>
                    <a:latin typeface="Arial"/>
                    <a:ea typeface="+mn-ea"/>
                    <a:cs typeface="+mn-cs"/>
                  </a:defRPr>
                </a:pPr>
                <a:r>
                  <a:rPr lang="en-US" sz="1100" b="0" i="0" u="none" strike="noStrike">
                    <a:solidFill>
                      <a:srgbClr val="5B6B82"/>
                    </a:solidFill>
                    <a:latin typeface="Arial"/>
                  </a:rPr>
                  <a:t>Lead time (seconds)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82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3.png"/><Relationship Id="rId5" Type="http://schemas.openxmlformats.org/officeDocument/2006/relationships/image" Target="../media/image26.png"/><Relationship Id="rId6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4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PROPOSAL  |  SEECS, NUST ISLAMABAD  | 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877824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Computer-Vision-Based Emergency Vehicle Preemption for Traffic Intersections in Pakistan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simulation-based study: detect with a camera, grant the green, hand control back safely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241280" y="822960"/>
            <a:ext cx="1188720" cy="2926080"/>
          </a:xfrm>
          <a:prstGeom prst="roundRect">
            <a:avLst>
              <a:gd name="adj" fmla="val 30769"/>
            </a:avLst>
          </a:prstGeom>
          <a:solidFill>
            <a:srgbClr val="14325A"/>
          </a:solidFill>
          <a:ln w="12700">
            <a:solidFill>
              <a:srgbClr val="2A4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15600" y="1024128"/>
            <a:ext cx="640080" cy="640080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1847088"/>
            <a:ext cx="640080" cy="640080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15600" y="2670048"/>
            <a:ext cx="640080" cy="640080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406908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422452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Syed Muhammad Abdur Rehman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57200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467471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9194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model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406908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526280" y="422452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Abdullah Salim Nizami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457200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457223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9194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signal control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55280" y="406908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183880" y="422452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Abdul Hadi Sheikh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457200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454448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49194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Scenarios, experiments &amp; analysis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8521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Khurram Shahzad</a:t>
            </a:r>
            <a:r>
              <a:rPr lang="en-US" sz="15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Co-Advisor: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Maam Sana Qadir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8521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Ambulances lose minutes at red lights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27080" y="457200"/>
            <a:ext cx="155448" cy="155448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73968" y="457200"/>
            <a:ext cx="155448" cy="155448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457200"/>
            <a:ext cx="155448" cy="155448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Computer-Vision-Based EVP for Pakistan  |  NUST SEECS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34472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371600"/>
            <a:ext cx="6903720" cy="4709160"/>
          </a:xfrm>
          <a:prstGeom prst="roundRect">
            <a:avLst>
              <a:gd name="adj" fmla="val 2330"/>
            </a:avLst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960120" y="1645920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2011680"/>
            <a:ext cx="626364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Pakistani cities have no low-cost, vehicle-independent way of giving emergency vehicles priority at signalised intersections, so time-critical emergencies suffer avoidable delays.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960120" y="4937760"/>
            <a:ext cx="6263640" cy="0"/>
          </a:xfrm>
          <a:prstGeom prst="line">
            <a:avLst/>
          </a:prstGeom>
          <a:noFill/>
          <a:ln w="12700">
            <a:solidFill>
              <a:srgbClr val="2A4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960120" y="5047488"/>
            <a:ext cx="62636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imported EVP does not fit: </a:t>
            </a: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infrared, RF and GPS/GSM units go on every vehicle, which assumes one centrally funded fleet. Pakistan's response is split across Rescue 1122, charities and private hospitals.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5669280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Law: Section 112AA grants right of way only to vehicles with active warning devices.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818120" y="1371600"/>
            <a:ext cx="373075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46720" y="146304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+5%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208483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of on-scene death per extra minute of EMS response, elderly road-traffic-injury patients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0" y="256032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AOR 1.05; Rescue 1122 data, 2025 [3]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818120" y="2994660"/>
            <a:ext cx="373075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046720" y="30861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3400" dirty="0"/>
          </a:p>
        </p:txBody>
      </p:sp>
      <p:sp>
        <p:nvSpPr>
          <p:cNvPr id="22" name="Text 19"/>
          <p:cNvSpPr txBox="1"/>
          <p:nvPr/>
        </p:nvSpPr>
        <p:spPr>
          <a:xfrm>
            <a:off x="8046720" y="370789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Lahore study area reachable by fire-brigade vehicles within 7 minutes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046720" y="418338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analysis, Lahore [8]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818120" y="4617720"/>
            <a:ext cx="373075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8046720" y="470916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3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30.9%</a:t>
            </a:r>
            <a:endParaRPr lang="en-US" sz="3400" dirty="0"/>
          </a:p>
        </p:txBody>
      </p:sp>
      <p:sp>
        <p:nvSpPr>
          <p:cNvPr id="26" name="Text 23"/>
          <p:cNvSpPr txBox="1"/>
          <p:nvPr/>
        </p:nvSpPr>
        <p:spPr>
          <a:xfrm>
            <a:off x="8046720" y="533095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978 Karachi trauma patients reached the emergency room within one hour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046720" y="580644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Trauma-registry study [4]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8521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camera-only EVP: see it, don't tag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27080" y="457200"/>
            <a:ext cx="155448" cy="155448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73968" y="457200"/>
            <a:ext cx="155448" cy="155448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457200"/>
            <a:ext cx="155448" cy="155448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Computer-Vision-Based EVP for Pakistan  |  NUST SEECS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34472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37160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280160" y="1490472"/>
            <a:ext cx="548640" cy="548640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62763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" y="21031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150-200 m upstream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2542032" y="1874520"/>
            <a:ext cx="292608" cy="274320"/>
          </a:xfrm>
          <a:prstGeom prst="rightArrow">
            <a:avLst/>
          </a:prstGeom>
          <a:solidFill>
            <a:srgbClr val="5B6B82"/>
          </a:solidFill>
          <a:ln w="63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907792" y="137160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547872" y="1490472"/>
            <a:ext cx="548640" cy="548640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162763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999232" y="21031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detects the vehicle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809744" y="1874520"/>
            <a:ext cx="292608" cy="274320"/>
          </a:xfrm>
          <a:prstGeom prst="rightArrow">
            <a:avLst/>
          </a:prstGeom>
          <a:solidFill>
            <a:srgbClr val="5B6B82"/>
          </a:solidFill>
          <a:ln w="63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175504" y="137160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815584" y="1490472"/>
            <a:ext cx="548640" cy="548640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744" y="162763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266944" y="21031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confirms it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077456" y="1874520"/>
            <a:ext cx="292608" cy="274320"/>
          </a:xfrm>
          <a:prstGeom prst="rightArrow">
            <a:avLst/>
          </a:prstGeom>
          <a:solidFill>
            <a:srgbClr val="5B6B82"/>
          </a:solidFill>
          <a:ln w="63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443216" y="137160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8083296" y="1490472"/>
            <a:ext cx="548640" cy="548640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456" y="162763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534656" y="21031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grants green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9345168" y="1874520"/>
            <a:ext cx="292608" cy="274320"/>
          </a:xfrm>
          <a:prstGeom prst="rightArrow">
            <a:avLst/>
          </a:prstGeom>
          <a:solidFill>
            <a:srgbClr val="5B6B82"/>
          </a:solidFill>
          <a:ln w="63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9710928" y="137160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10351008" y="1490472"/>
            <a:ext cx="548640" cy="548640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8168" y="1627632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802368" y="21031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reverts safely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40080" y="2926080"/>
          <a:ext cx="7223760" cy="30175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/ IoT approach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Camera-only CV (this project)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Vehicle-side hardware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GPS+GSM unit on every ambulance and fire truck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7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None; zero equipment on any vehicle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per-vehicle cost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PKR 2,250 per vehicle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7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PKR 0; one-time cost per intersection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dependency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cellular uplink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7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per intersection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 coordination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Buy-in across Edhi, Rescue 1122, private fleets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7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required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Positioning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drift and multipath in dense corridors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7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confirms physical presence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Shape 26"/>
          <p:cNvSpPr/>
          <p:nvPr/>
        </p:nvSpPr>
        <p:spPr>
          <a:xfrm>
            <a:off x="8138160" y="2926080"/>
            <a:ext cx="3410712" cy="3017520"/>
          </a:xfrm>
          <a:prstGeom prst="roundRect">
            <a:avLst>
              <a:gd name="adj" fmla="val 3636"/>
            </a:avLst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 txBox="1"/>
          <p:nvPr/>
        </p:nvSpPr>
        <p:spPr>
          <a:xfrm>
            <a:off x="8366760" y="31089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at the intersection</a:t>
            </a:r>
            <a:endParaRPr lang="en-US" sz="1700" dirty="0"/>
          </a:p>
        </p:txBody>
      </p:sp>
      <p:sp>
        <p:nvSpPr>
          <p:cNvPr id="37" name="Text 28"/>
          <p:cNvSpPr txBox="1"/>
          <p:nvPr/>
        </p:nvSpPr>
        <p:spPr>
          <a:xfrm>
            <a:off x="8366760" y="352044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GPS, no cellular link, no central server, nothing on the vehicle.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8366760" y="44348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8366760" y="475488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range than GPS; rain, fog and low light reduce detection. Modelled in simulation first.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8521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EVP approaches and their limits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27080" y="457200"/>
            <a:ext cx="155448" cy="155448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73968" y="457200"/>
            <a:ext cx="155448" cy="155448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457200"/>
            <a:ext cx="155448" cy="155448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Computer-Vision-Based EVP for Pakistan  |  NUST SEECS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34472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371600"/>
            <a:ext cx="534009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" y="1600200"/>
            <a:ext cx="548640" cy="548640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37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1600200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Infrared emitters (e.g. 3M Opticom)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22860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r>
              <a:rPr lang="en-US" sz="13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emitter on each emergency vehicle is read by a receiver at every intersection.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14400" y="274320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</a:t>
            </a:r>
            <a:r>
              <a:rPr lang="en-US" sz="13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Emitter on every vehicle; line-of-sight only; fleet-wide fitting and maintenance.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08776" y="1371600"/>
            <a:ext cx="534009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37376" y="1600200"/>
            <a:ext cx="548640" cy="548640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7373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68896" y="1600200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Radio-frequency priority systems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83096" y="22860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r>
              <a:rPr lang="en-US" sz="13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vehicle broadcasts a priority request over a dedicated RF channel.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483096" y="274320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</a:t>
            </a:r>
            <a:r>
              <a:rPr lang="en-US" sz="13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 transmitter on every vehicle; coordination across independent fleets.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40080" y="3566160"/>
            <a:ext cx="534009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68680" y="3794760"/>
            <a:ext cx="548640" cy="548640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93192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00200" y="3794760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GNSS-based systems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14400" y="44805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r>
              <a:rPr lang="en-US" sz="13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platform computes vehicle proximity to intersections from reported coordinates.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914400" y="493776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</a:t>
            </a:r>
            <a:r>
              <a:rPr lang="en-US" sz="13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GPS+GSM unit per vehicle (about PKR 2,250), live cellular link, GPS drift and multipath in dense corridors.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6208776" y="3566160"/>
            <a:ext cx="534009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6437376" y="3794760"/>
            <a:ext cx="548640" cy="548640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393192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68896" y="3794760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 YOLO prototypes [11], [12]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6483096" y="44805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r>
              <a:rPr lang="en-US" sz="13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on a Raspberry Pi detects emergency vehicles; some also switch the signal to green.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6483096" y="493776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</a:t>
            </a:r>
            <a:r>
              <a:rPr lang="en-US" sz="13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adapted to Pakistani liveries; little on lead time, false-trigger handling or fail-safe reversion.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640080" y="5760720"/>
            <a:ext cx="10908792" cy="548640"/>
          </a:xfrm>
          <a:prstGeom prst="roundRect">
            <a:avLst>
              <a:gd name="adj" fmla="val 20000"/>
            </a:avLst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 txBox="1"/>
          <p:nvPr/>
        </p:nvSpPr>
        <p:spPr>
          <a:xfrm>
            <a:off x="914400" y="576072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NTCIP 1211 [1] defines how a priority unit talks to a signal controller. It is the reference model for our controller logic.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8521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literature says about detection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27080" y="457200"/>
            <a:ext cx="155448" cy="155448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73968" y="457200"/>
            <a:ext cx="155448" cy="155448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457200"/>
            <a:ext cx="155448" cy="155448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Computer-Vision-Based EVP for Pakistan  |  NUST SEECS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34472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371600"/>
            <a:ext cx="3429000" cy="47548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14400" y="1600200"/>
            <a:ext cx="548640" cy="548640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37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160020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YOLO prototypes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2377440"/>
            <a:ext cx="292608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</a:t>
            </a:r>
            <a:r>
              <a:rPr lang="en-US" sz="14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on a Raspberry Pi: 31 FPS, 95% accuracy, alerts to emergency services.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</a:t>
            </a:r>
            <a:r>
              <a:rPr lang="en-US" sz="14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on a Raspberry Pi 5 switches the matching signal to green and syncs across intersections.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914400" y="4709160"/>
            <a:ext cx="28803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914400" y="4846320"/>
            <a:ext cx="292608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3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on cheap hardware, but silent on local liveries, camera placement and false or lost detections.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379976" y="1371600"/>
            <a:ext cx="3429000" cy="47548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654296" y="1600200"/>
            <a:ext cx="548640" cy="548640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173736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40096" y="160020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siren detection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654296" y="2377440"/>
            <a:ext cx="292608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</a:t>
            </a:r>
            <a:r>
              <a:rPr lang="en-US" sz="14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on MFCC features separates sirens from traffic noise, even in poor conditions.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</a:t>
            </a:r>
            <a:r>
              <a:rPr lang="en-US" sz="14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pre-trained CNN detects sirens in real time on embedded hardware.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4654296" y="4709160"/>
            <a:ext cx="28803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4654296" y="4846320"/>
            <a:ext cx="292608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3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siren is audible when the vehicle is hidden, a natural second channel (our future work).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8119872" y="1371600"/>
            <a:ext cx="3429000" cy="47548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8394192" y="1600200"/>
            <a:ext cx="548640" cy="548640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173736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079992" y="160020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landscape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8394192" y="2377440"/>
            <a:ext cx="292608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</a:t>
            </a:r>
            <a:r>
              <a:rPr lang="en-US" sz="14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Karachi make-and-model: 3,847 images, 48 classes.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</a:t>
            </a:r>
            <a:r>
              <a:rPr lang="en-US" sz="14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Pakistani traffic: 129,000 images, 94 classes.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[18], [19] </a:t>
            </a:r>
            <a:r>
              <a:rPr lang="en-US" sz="14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(DhakaAI, Poribohon-BD): ambulance class and a method to adapt detectors to South Asian traffic.</a:t>
            </a:r>
            <a:endParaRPr lang="en-US" sz="1450" dirty="0"/>
          </a:p>
        </p:txBody>
      </p:sp>
      <p:sp>
        <p:nvSpPr>
          <p:cNvPr id="29" name="Shape 23"/>
          <p:cNvSpPr/>
          <p:nvPr/>
        </p:nvSpPr>
        <p:spPr>
          <a:xfrm>
            <a:off x="8394192" y="4709160"/>
            <a:ext cx="288036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 txBox="1"/>
          <p:nvPr/>
        </p:nvSpPr>
        <p:spPr>
          <a:xfrm>
            <a:off x="8394192" y="4846320"/>
            <a:ext cx="292608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3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Pakistani emergency-vehicle dataset exists.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THE LITERATURE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8521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gaps this project targets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27080" y="457200"/>
            <a:ext cx="155448" cy="155448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73968" y="457200"/>
            <a:ext cx="155448" cy="155448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457200"/>
            <a:ext cx="155448" cy="155448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Computer-Vision-Based EVP for Pakistan  |  NUST SEECS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34472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371600"/>
            <a:ext cx="3511296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" y="1572768"/>
            <a:ext cx="475488" cy="475488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69164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08760" y="164592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" y="2176272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 are not adapted to Pakistani vehicle liveries.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278892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3044952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dataset strategy: public data now, local fine-tuning once a dataset is obtained.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334256" y="1371600"/>
            <a:ext cx="3511296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62856" y="1572768"/>
            <a:ext cx="475488" cy="475488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691640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02936" y="164592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4562856" y="2176272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is reported on how much lead time the camera placement buys.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562856" y="278892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4562856" y="3044952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Camera-placement study: lead time vs latency and clearance budget, in simulation.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028432" y="1371600"/>
            <a:ext cx="3511296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8257032" y="1572768"/>
            <a:ext cx="475488" cy="475488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1691640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897112" y="164592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8257032" y="2176272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triggers from one-off misclassifications go unaddressed.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8257032" y="278892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8257032" y="3044952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 confidence gating: preemption starts only on a sustained detection.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640080" y="3822192"/>
            <a:ext cx="3511296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868680" y="4023360"/>
            <a:ext cx="475488" cy="475488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4142232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508760" y="4096512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868680" y="4626864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or failed detections are not handled safely.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868680" y="523951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868680" y="5495544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controller plus exit-zone tracking for automatic, safe reversion.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4334256" y="3822192"/>
            <a:ext cx="3511296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4562856" y="4023360"/>
            <a:ext cx="475488" cy="475488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4142232"/>
            <a:ext cx="237744" cy="237744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5202936" y="4096512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42" name="Text 34"/>
          <p:cNvSpPr txBox="1"/>
          <p:nvPr/>
        </p:nvSpPr>
        <p:spPr>
          <a:xfrm>
            <a:off x="4562856" y="4626864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are not tied to the law on right of way.</a:t>
            </a:r>
            <a:endParaRPr lang="en-US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4562856" y="523951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100" dirty="0"/>
          </a:p>
        </p:txBody>
      </p:sp>
      <p:sp>
        <p:nvSpPr>
          <p:cNvPr id="44" name="Text 36"/>
          <p:cNvSpPr txBox="1"/>
          <p:nvPr/>
        </p:nvSpPr>
        <p:spPr>
          <a:xfrm>
            <a:off x="4562856" y="5495544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requires active warning devices, in line with Section 112AA.</a:t>
            </a:r>
            <a:endParaRPr lang="en-US" sz="1300" dirty="0"/>
          </a:p>
        </p:txBody>
      </p:sp>
      <p:sp>
        <p:nvSpPr>
          <p:cNvPr id="45" name="Shape 37"/>
          <p:cNvSpPr/>
          <p:nvPr/>
        </p:nvSpPr>
        <p:spPr>
          <a:xfrm>
            <a:off x="8028432" y="3822192"/>
            <a:ext cx="3511296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/>
          <p:nvPr/>
        </p:nvSpPr>
        <p:spPr>
          <a:xfrm>
            <a:off x="8257032" y="4023360"/>
            <a:ext cx="475488" cy="475488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904" y="4142232"/>
            <a:ext cx="237744" cy="237744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8897112" y="4096512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49" name="Text 40"/>
          <p:cNvSpPr txBox="1"/>
          <p:nvPr/>
        </p:nvSpPr>
        <p:spPr>
          <a:xfrm>
            <a:off x="8257032" y="4626864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rarely checked against stated targets.</a:t>
            </a:r>
            <a:endParaRPr lang="en-US" sz="1300" dirty="0"/>
          </a:p>
        </p:txBody>
      </p:sp>
      <p:sp>
        <p:nvSpPr>
          <p:cNvPr id="50" name="Text 41"/>
          <p:cNvSpPr txBox="1"/>
          <p:nvPr/>
        </p:nvSpPr>
        <p:spPr>
          <a:xfrm>
            <a:off x="8257032" y="523951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100" dirty="0"/>
          </a:p>
        </p:txBody>
      </p:sp>
      <p:sp>
        <p:nvSpPr>
          <p:cNvPr id="51" name="Text 42"/>
          <p:cNvSpPr txBox="1"/>
          <p:nvPr/>
        </p:nvSpPr>
        <p:spPr>
          <a:xfrm>
            <a:off x="8257032" y="5495544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validation against explicit targets and a no-preemption baseline.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8521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detector: YOLOv8n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27080" y="457200"/>
            <a:ext cx="155448" cy="155448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73968" y="457200"/>
            <a:ext cx="155448" cy="155448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457200"/>
            <a:ext cx="155448" cy="155448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Computer-Vision-Based EVP for Pakistan  |  NUST SEECS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34472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371600"/>
            <a:ext cx="5943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8973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37360" y="155448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YOLOv8n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737360" y="187452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edge-deployable and gives up little accuracy for its speed. Mature tooling; exports to ONNX / NCNN for Raspberry Pi.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" y="2971800"/>
            <a:ext cx="5943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68680" y="3337560"/>
            <a:ext cx="640080" cy="640080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34975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37360" y="315468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detects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737360" y="347472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Ambulances, fire trucks and rescue vehicles, from livery colour and markings, the roof light-bar signature and silhouette. Separates them from vans, buses and delivery trucks.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40080" y="4572000"/>
            <a:ext cx="5943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68680" y="4937760"/>
            <a:ext cx="640080" cy="640080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50977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737360" y="475488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1737360" y="507492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public data, evaluated on a held-out split with a low-light subset: precision, recall, mAP and per-frame inference time on CPU.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858000" y="1371600"/>
            <a:ext cx="4690872" cy="4617720"/>
          </a:xfrm>
          <a:prstGeom prst="roundRect">
            <a:avLst>
              <a:gd name="adj" fmla="val 2376"/>
            </a:avLst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7132320" y="155448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TO SIMULATION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132320" y="1920240"/>
            <a:ext cx="4142232" cy="841248"/>
          </a:xfrm>
          <a:prstGeom prst="roundRect">
            <a:avLst>
              <a:gd name="adj" fmla="val 10870"/>
            </a:avLst>
          </a:prstGeom>
          <a:solidFill>
            <a:srgbClr val="14325A"/>
          </a:solidFill>
          <a:ln w="9525">
            <a:solidFill>
              <a:srgbClr val="2A4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 txBox="1"/>
          <p:nvPr/>
        </p:nvSpPr>
        <p:spPr>
          <a:xfrm>
            <a:off x="7315200" y="199339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YOLOv8n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7315200" y="2286000"/>
            <a:ext cx="379476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emergency-vehicle datasets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9052560" y="2770632"/>
            <a:ext cx="274320" cy="164592"/>
          </a:xfrm>
          <a:prstGeom prst="downArrow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7132320" y="2944368"/>
            <a:ext cx="4142232" cy="841248"/>
          </a:xfrm>
          <a:prstGeom prst="roundRect">
            <a:avLst>
              <a:gd name="adj" fmla="val 10870"/>
            </a:avLst>
          </a:prstGeom>
          <a:solidFill>
            <a:srgbClr val="14325A"/>
          </a:solidFill>
          <a:ln w="9525">
            <a:solidFill>
              <a:srgbClr val="2A4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 txBox="1"/>
          <p:nvPr/>
        </p:nvSpPr>
        <p:spPr>
          <a:xfrm>
            <a:off x="7315200" y="301752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7315200" y="3310128"/>
            <a:ext cx="379476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mAP, latency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9052560" y="3794760"/>
            <a:ext cx="274320" cy="164592"/>
          </a:xfrm>
          <a:prstGeom prst="downArrow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7132320" y="3968496"/>
            <a:ext cx="4142232" cy="841248"/>
          </a:xfrm>
          <a:prstGeom prst="roundRect">
            <a:avLst>
              <a:gd name="adj" fmla="val 10870"/>
            </a:avLst>
          </a:prstGeom>
          <a:solidFill>
            <a:srgbClr val="14325A"/>
          </a:solidFill>
          <a:ln w="9525">
            <a:solidFill>
              <a:srgbClr val="2A4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 txBox="1"/>
          <p:nvPr/>
        </p:nvSpPr>
        <p:spPr>
          <a:xfrm>
            <a:off x="7315200" y="4041648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Detector-performance profile</a:t>
            </a:r>
            <a:endParaRPr lang="en-US" sz="1400" dirty="0"/>
          </a:p>
        </p:txBody>
      </p:sp>
      <p:sp>
        <p:nvSpPr>
          <p:cNvPr id="37" name="Text 31"/>
          <p:cNvSpPr txBox="1"/>
          <p:nvPr/>
        </p:nvSpPr>
        <p:spPr>
          <a:xfrm>
            <a:off x="7315200" y="4334256"/>
            <a:ext cx="379476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probability vs distance and apparent size; false-positive rate; latency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9052560" y="4818888"/>
            <a:ext cx="274320" cy="164592"/>
          </a:xfrm>
          <a:prstGeom prst="downArrow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7132320" y="4992624"/>
            <a:ext cx="4142232" cy="841248"/>
          </a:xfrm>
          <a:prstGeom prst="roundRect">
            <a:avLst>
              <a:gd name="adj" fmla="val 10870"/>
            </a:avLst>
          </a:prstGeom>
          <a:solidFill>
            <a:srgbClr val="14325A"/>
          </a:solidFill>
          <a:ln w="9525">
            <a:solidFill>
              <a:srgbClr val="2A4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 txBox="1"/>
          <p:nvPr/>
        </p:nvSpPr>
        <p:spPr>
          <a:xfrm>
            <a:off x="7315200" y="5065776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simulated camera</a:t>
            </a:r>
            <a:endParaRPr lang="en-US" sz="1400" dirty="0"/>
          </a:p>
        </p:txBody>
      </p:sp>
      <p:sp>
        <p:nvSpPr>
          <p:cNvPr id="41" name="Text 35"/>
          <p:cNvSpPr txBox="1"/>
          <p:nvPr/>
        </p:nvSpPr>
        <p:spPr>
          <a:xfrm>
            <a:off x="7315200" y="5358384"/>
            <a:ext cx="379476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SUMO intersection model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8521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Datasets: public now, Pakistani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27080" y="457200"/>
            <a:ext cx="155448" cy="155448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73968" y="457200"/>
            <a:ext cx="155448" cy="155448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457200"/>
            <a:ext cx="155448" cy="155448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Computer-Vision-Based EVP for Pakistan  |  NUST SEECS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34472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371600"/>
            <a:ext cx="6400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1627632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29,759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945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7 classes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743200" y="15544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"Vehicle Dataset" [13]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187452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ambulance and fire truck. Published YOLOv7 baseline: 85% precision, 85% mAP@0.5. Primary Stage 1 baseline.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2971800"/>
            <a:ext cx="6400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68680" y="3227832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1,800+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7947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YOLO format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0" y="31546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"Emergency Vehicles" [20]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743200" y="347472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ambulance and fire-truck classes. Actively maintained; supplements class balance.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572000"/>
            <a:ext cx="6400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68680" y="4828032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3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556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" y="53949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per class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2743200" y="47548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"Vehicle Detection" [21]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743200" y="507492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Ambulance, bus, car, truck. Supplies negative-class examples so look-alikes are not detected as emergency vehicles.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7315200" y="1371600"/>
            <a:ext cx="42336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543800" y="1554480"/>
            <a:ext cx="457200" cy="457200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1668780"/>
            <a:ext cx="228600" cy="2286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183880" y="15544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this phase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7543800" y="2194560"/>
            <a:ext cx="3749040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YOLOv8n on the IEEE and Roboflow sets, with Kaggle negatives. Establish baseline mAP and the detector-performance profile.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7315200" y="3703320"/>
            <a:ext cx="423367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7543800" y="3886200"/>
            <a:ext cx="457200" cy="457200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0" y="4000500"/>
            <a:ext cx="228600" cy="22860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8183880" y="38862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future work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7543800" y="4526280"/>
            <a:ext cx="37490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150-300 locally annotated images of Rescue 1122, Edhi and fire-brigade liveries by day, night and in the wet. Augmentation (brightness jitter, motion blur, synthetic rain/fog). Needs a Pakistani dataset.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8521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architecture: from video to green light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27080" y="457200"/>
            <a:ext cx="155448" cy="155448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73968" y="457200"/>
            <a:ext cx="155448" cy="155448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457200"/>
            <a:ext cx="155448" cy="155448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Computer-Vision-Based EVP for Pakistan  |  NUST SEECS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34472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  <p:pic>
        <p:nvPicPr>
          <p:cNvPr id="10" name="Image 0" descr="img/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436" y="1371600"/>
            <a:ext cx="9784080" cy="49218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8521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detections to a trustworthy trigger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27080" y="457200"/>
            <a:ext cx="155448" cy="155448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73968" y="457200"/>
            <a:ext cx="155448" cy="155448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457200"/>
            <a:ext cx="155448" cy="155448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Computer-Vision-Based EVP for Pakistan  |  NUST SEECS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34472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371600"/>
            <a:ext cx="6035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" y="1755648"/>
            <a:ext cx="640080" cy="640080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91566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83080" y="153619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783080" y="1847088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centroid / IoU tracker (Norfair or similar) follows each vehicle frame to frame and watches an exit zone beyond the stop line.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2971800"/>
            <a:ext cx="6035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68680" y="3355848"/>
            <a:ext cx="640080" cy="640080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351586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83080" y="313639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783080" y="3447288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Preemption is issued only after a high-confidence detection holds across several consecutive frames, filtering one-off misclassifications.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0080" y="4572000"/>
            <a:ext cx="6035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68680" y="4956048"/>
            <a:ext cx="640080" cy="640080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5116068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783080" y="473659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the law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1783080" y="5047488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only for an emergency vehicle that is also signalling (Section 112AA). Look-alikes and silent ambulances must not trigger.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040880" y="1371600"/>
            <a:ext cx="450799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7269480" y="144475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detection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269480" y="173736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 confidence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9144000" y="2084832"/>
            <a:ext cx="274320" cy="182880"/>
          </a:xfrm>
          <a:prstGeom prst="downArrow">
            <a:avLst/>
          </a:prstGeom>
          <a:solidFill>
            <a:srgbClr val="5B6B82"/>
          </a:solidFill>
          <a:ln w="63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040880" y="2313432"/>
            <a:ext cx="450799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 txBox="1"/>
          <p:nvPr/>
        </p:nvSpPr>
        <p:spPr>
          <a:xfrm>
            <a:off x="7269480" y="2386584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over several frames?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7269480" y="267919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 gating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9144000" y="3026664"/>
            <a:ext cx="274320" cy="182880"/>
          </a:xfrm>
          <a:prstGeom prst="downArrow">
            <a:avLst/>
          </a:prstGeom>
          <a:solidFill>
            <a:srgbClr val="5B6B82"/>
          </a:solidFill>
          <a:ln w="63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040880" y="3255264"/>
            <a:ext cx="450799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 txBox="1"/>
          <p:nvPr/>
        </p:nvSpPr>
        <p:spPr>
          <a:xfrm>
            <a:off x="7269480" y="3328416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devices active?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7269480" y="362102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112AA trigger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9144000" y="3968496"/>
            <a:ext cx="274320" cy="182880"/>
          </a:xfrm>
          <a:prstGeom prst="downArrow">
            <a:avLst/>
          </a:prstGeom>
          <a:solidFill>
            <a:srgbClr val="5B6B82"/>
          </a:solidFill>
          <a:ln w="63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7040880" y="4197096"/>
            <a:ext cx="450799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 txBox="1"/>
          <p:nvPr/>
        </p:nvSpPr>
        <p:spPr>
          <a:xfrm>
            <a:off x="7269480" y="427024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Approaching, ETA in threshold?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7269480" y="4562856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lane, direction, distance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9144000" y="4910328"/>
            <a:ext cx="274320" cy="182880"/>
          </a:xfrm>
          <a:prstGeom prst="downArrow">
            <a:avLst/>
          </a:prstGeom>
          <a:solidFill>
            <a:srgbClr val="5B6B82"/>
          </a:solidFill>
          <a:ln w="63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7040880" y="5138928"/>
            <a:ext cx="4507992" cy="694944"/>
          </a:xfrm>
          <a:prstGeom prst="roundRect">
            <a:avLst>
              <a:gd name="adj" fmla="val 13158"/>
            </a:avLst>
          </a:prstGeom>
          <a:solidFill>
            <a:srgbClr val="2BB673"/>
          </a:solidFill>
          <a:ln w="9525">
            <a:solidFill>
              <a:srgbClr val="2BB673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 txBox="1"/>
          <p:nvPr/>
        </p:nvSpPr>
        <p:spPr>
          <a:xfrm>
            <a:off x="7269480" y="52120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preemption</a:t>
            </a:r>
            <a:endParaRPr lang="en-US" sz="1400" dirty="0"/>
          </a:p>
        </p:txBody>
      </p:sp>
      <p:sp>
        <p:nvSpPr>
          <p:cNvPr id="43" name="Text 37"/>
          <p:cNvSpPr txBox="1"/>
          <p:nvPr/>
        </p:nvSpPr>
        <p:spPr>
          <a:xfrm>
            <a:off x="7269480" y="550468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to signal controller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8521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placement buys the lead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27080" y="457200"/>
            <a:ext cx="155448" cy="155448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73968" y="457200"/>
            <a:ext cx="155448" cy="155448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457200"/>
            <a:ext cx="155448" cy="155448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Computer-Vision-Based EVP for Pakistan  |  NUST SEECS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34472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371600"/>
            <a:ext cx="658368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11" name="Chart 0"/>
          <p:cNvGraphicFramePr/>
          <p:nvPr/>
        </p:nvGraphicFramePr>
        <p:xfrm>
          <a:off x="822960" y="1554480"/>
          <a:ext cx="621792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8"/>
          <p:cNvSpPr/>
          <p:nvPr/>
        </p:nvSpPr>
        <p:spPr>
          <a:xfrm>
            <a:off x="7498080" y="1371600"/>
            <a:ext cx="40507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680960" y="1554480"/>
            <a:ext cx="457200" cy="457200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260" y="166878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21040" y="155448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 is too close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7680960" y="2121408"/>
            <a:ext cx="37033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4 s of warning, almost all consumed by system latency.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498080" y="2971800"/>
            <a:ext cx="40507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680960" y="3154680"/>
            <a:ext cx="457200" cy="457200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260" y="326898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321040" y="315468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150-200 m works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680960" y="3721608"/>
            <a:ext cx="37033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11-14 s: covers the &lt;3 s latency target plus cross-traffic clearance.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498080" y="4572000"/>
            <a:ext cx="40507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7680960" y="4754880"/>
            <a:ext cx="457200" cy="457200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260" y="4869180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321040" y="475488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in SUMO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680960" y="5321808"/>
            <a:ext cx="37033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and approach speed are swept; an optional second camera rechecks the class near the stop line.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CONTROL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8521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processing: the time-state machine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27080" y="457200"/>
            <a:ext cx="155448" cy="155448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73968" y="457200"/>
            <a:ext cx="155448" cy="155448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457200"/>
            <a:ext cx="155448" cy="155448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Computer-Vision-Based EVP for Pakistan  |  NUST SEECS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34472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  <p:pic>
        <p:nvPicPr>
          <p:cNvPr id="10" name="Image 0" descr="img/states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25880"/>
            <a:ext cx="11064240" cy="309741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" y="4754880"/>
            <a:ext cx="34290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868680" y="4956048"/>
            <a:ext cx="457200" cy="457200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5070348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956048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(S0-S2)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68680" y="553212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approach lane and direction, then ETA from position, distance and speed.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379976" y="4754880"/>
            <a:ext cx="34290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4608576" y="4956048"/>
            <a:ext cx="457200" cy="457200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876" y="5070348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248656" y="4956048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(S3)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4608576" y="553212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ETA, current signal phase and vehicle conditions yield a preempt decision, target phase and timing.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8119872" y="4754880"/>
            <a:ext cx="34290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8348472" y="4956048"/>
            <a:ext cx="457200" cy="457200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2772" y="5070348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988552" y="4956048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and recover (S4-S5)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8348472" y="553212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phase, hold green for passage, then restore the normal plan.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CONTROL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8521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Preemption: clear, hold, hand back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27080" y="457200"/>
            <a:ext cx="155448" cy="155448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73968" y="457200"/>
            <a:ext cx="155448" cy="155448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457200"/>
            <a:ext cx="155448" cy="155448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Computer-Vision-Based EVP for Pakistan  |  NUST SEECS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34472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  <p:pic>
        <p:nvPicPr>
          <p:cNvPr id="10" name="Image 0" descr="img/states_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25880"/>
            <a:ext cx="11064240" cy="278046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" y="4315968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822960" y="4480560"/>
            <a:ext cx="420624" cy="420624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458571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53312" y="4480560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22960" y="5029200"/>
            <a:ext cx="2286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phase ends through yellow and all-red; pedestrians held safe; emergency approach turns green, cross-traffic stays red.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419856" y="4315968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3602736" y="4480560"/>
            <a:ext cx="420624" cy="420624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7892" y="458571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133088" y="4480560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3602736" y="5029200"/>
            <a:ext cx="2286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held while the tracker monitors passage; the exit zone past the stop line marks that the vehicle has gone through.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199632" y="4315968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382512" y="4480560"/>
            <a:ext cx="420624" cy="420624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7668" y="4585716"/>
            <a:ext cx="210312" cy="21031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12864" y="4480560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back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6382512" y="5029200"/>
            <a:ext cx="2286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cycle restored with a gradual phase transition, within 2 s of the vehicle leaving the detection zone.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8979408" y="4315968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9162288" y="4480560"/>
            <a:ext cx="420624" cy="420624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7444" y="4585716"/>
            <a:ext cx="210312" cy="21031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692640" y="4480560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safe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9162288" y="5029200"/>
            <a:ext cx="2286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lost, detection timeout or unrenewed preemption: fall back to the normal cycle. Each intersection runs independently.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9184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NEXT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8521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in SUMO against clear targets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27080" y="457200"/>
            <a:ext cx="155448" cy="155448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73968" y="457200"/>
            <a:ext cx="155448" cy="155448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457200"/>
            <a:ext cx="155448" cy="155448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Computer-Vision-Based EVP for Pakistan  |  NUST SEECS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34472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37160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31520" y="1481328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&gt;95%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24028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preemption accuracy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438144" y="137160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3529584" y="1481328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 s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3575304" y="224028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latency, detection to green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36208" y="137160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327648" y="1481328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&lt;2%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6373368" y="224028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false-trigger rate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034272" y="137160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9125712" y="1481328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3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 s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9171432" y="224028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reversion after the vehicle leaves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2999232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targets, all measured in simulation against a no-preemption baseline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0080" y="3383280"/>
            <a:ext cx="576072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868680" y="354787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experiments measure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" y="3977640"/>
            <a:ext cx="5303520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Emergency-vehicle travel time vs a no-preemption baseline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Cross-traffic delay and throughput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night and weather, missed detections, look-alikes, closely spaced emergency vehicles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over multiple random seeds; shortfalls reported as measured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6675120" y="3383280"/>
            <a:ext cx="4873752" cy="2697480"/>
          </a:xfrm>
          <a:prstGeom prst="roundRect">
            <a:avLst>
              <a:gd name="adj" fmla="val 4068"/>
            </a:avLst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6949440" y="354787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this phase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949440" y="3977640"/>
            <a:ext cx="43891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Pakistani dataset and Stage 2 fine-tuning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prototype, about PKR 15,250 in parts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validation, then a pilot with traffic authorities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Warning-light and siren verification</a:t>
            </a:r>
            <a:endParaRPr lang="en-US" sz="1450" dirty="0"/>
          </a:p>
        </p:txBody>
      </p:sp>
      <p:sp>
        <p:nvSpPr>
          <p:cNvPr id="29" name="Text 26"/>
          <p:cNvSpPr txBox="1"/>
          <p:nvPr/>
        </p:nvSpPr>
        <p:spPr>
          <a:xfrm>
            <a:off x="6949440" y="562356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SDG 3, SDG 9 and SDG 11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1097280"/>
            <a:ext cx="1371600" cy="3383280"/>
          </a:xfrm>
          <a:prstGeom prst="roundRect">
            <a:avLst>
              <a:gd name="adj" fmla="val 30000"/>
            </a:avLst>
          </a:prstGeom>
          <a:solidFill>
            <a:srgbClr val="14325A"/>
          </a:solidFill>
          <a:ln w="12700">
            <a:solidFill>
              <a:srgbClr val="2A4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1371600"/>
            <a:ext cx="822960" cy="822960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41280" y="2331720"/>
            <a:ext cx="822960" cy="822960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41280" y="3291840"/>
            <a:ext cx="822960" cy="822960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86868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840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questions and feedback.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48640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Muhammad Abdur Rehman  |  Abdullah Salim Nizami  |  Abdul Hadi Sheikh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521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Sir Khurram Shahzad  |  Co-Advisor: Maam Sana Qadir  |  SEECS, NUST Islamabad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329184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DEVELOPMENT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8521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SDGs this project supports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27080" y="457200"/>
            <a:ext cx="155448" cy="155448"/>
          </a:xfrm>
          <a:prstGeom prst="ellipse">
            <a:avLst/>
          </a:prstGeom>
          <a:solidFill>
            <a:srgbClr val="E63946"/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73968" y="457200"/>
            <a:ext cx="155448" cy="155448"/>
          </a:xfrm>
          <a:prstGeom prst="ellipse">
            <a:avLst/>
          </a:prstGeom>
          <a:solidFill>
            <a:srgbClr val="F4A300"/>
          </a:solidFill>
          <a:ln w="635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0856" y="457200"/>
            <a:ext cx="155448" cy="155448"/>
          </a:xfrm>
          <a:prstGeom prst="ellipse">
            <a:avLst/>
          </a:prstGeom>
          <a:solidFill>
            <a:srgbClr val="2BB673"/>
          </a:solidFill>
          <a:ln w="6350">
            <a:solidFill>
              <a:srgbClr val="2BB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Computer-Vision-Based EVP for Pakistan  |  NUST SEECS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34472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371600"/>
            <a:ext cx="3511296" cy="429768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1645920"/>
            <a:ext cx="713232" cy="713232"/>
          </a:xfrm>
          <a:prstGeom prst="ellipse">
            <a:avLst/>
          </a:prstGeom>
          <a:solidFill>
            <a:srgbClr val="1E7F52"/>
          </a:solidFill>
          <a:ln w="6350">
            <a:solidFill>
              <a:srgbClr val="1E7F52"/>
            </a:solidFill>
            <a:prstDash val="solid"/>
          </a:ln>
        </p:spPr>
        <p:txBody>
          <a:bodyPr wrap="square" lIns="0" tIns="0" rIns="0" bIns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1828800" y="1645920"/>
            <a:ext cx="209397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 and</a:t>
            </a:r>
            <a:br>
              <a:rPr lang="en-US" sz="1500" dirty="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dirty="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Well-being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697480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3.6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08376"/>
            <a:ext cx="2962656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road traffic deaths and injuries.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914400" y="3657600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914400" y="3968496"/>
            <a:ext cx="2962656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delay at intersections for ambulances and fire trucks, supporting faster response to crashes and time-critical medical emergencies.</a:t>
            </a:r>
            <a:endParaRPr lang="en-US" sz="1400" dirty="0"/>
          </a:p>
        </p:txBody>
      </p:sp>
      <p:sp>
        <p:nvSpPr>
          <p:cNvPr id="16" name="Shape 7"/>
          <p:cNvSpPr/>
          <p:nvPr/>
        </p:nvSpPr>
        <p:spPr>
          <a:xfrm>
            <a:off x="2779776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E7F52"/>
          </a:solidFill>
          <a:ln w="9525">
            <a:solidFill>
              <a:srgbClr val="1E7F52"/>
            </a:solidFill>
            <a:prstDash val="solid"/>
          </a:ln>
        </p:spPr>
        <p:txBody>
          <a:bodyPr wrap="square" lIns="0" tIns="0" rIns="0" bIns="0" anchor="ctr"/>
          <a:lstStyle/>
          <a:p>
            <a:pPr algn="ctr"/>
            <a:r>
              <a:rPr lang="en-US" sz="1000" b="1" spc="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CLOSEST FIT</a:t>
            </a:r>
          </a:p>
        </p:txBody>
      </p:sp>
      <p:sp>
        <p:nvSpPr>
          <p:cNvPr id="17" name="Shape 7"/>
          <p:cNvSpPr/>
          <p:nvPr/>
        </p:nvSpPr>
        <p:spPr>
          <a:xfrm>
            <a:off x="4334256" y="1371600"/>
            <a:ext cx="3511296" cy="429768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8"/>
          <p:cNvSpPr/>
          <p:nvPr/>
        </p:nvSpPr>
        <p:spPr>
          <a:xfrm>
            <a:off x="4608576" y="1645920"/>
            <a:ext cx="713232" cy="713232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11</a:t>
            </a:r>
          </a:p>
        </p:txBody>
      </p:sp>
      <p:sp>
        <p:nvSpPr>
          <p:cNvPr id="19" name="Text 10"/>
          <p:cNvSpPr txBox="1"/>
          <p:nvPr/>
        </p:nvSpPr>
        <p:spPr>
          <a:xfrm>
            <a:off x="5522976" y="1645920"/>
            <a:ext cx="209397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 and Communities</a:t>
            </a:r>
            <a:endParaRPr lang="en-US" sz="1500" dirty="0"/>
          </a:p>
        </p:txBody>
      </p:sp>
      <p:sp>
        <p:nvSpPr>
          <p:cNvPr id="20" name="Text 9"/>
          <p:cNvSpPr txBox="1"/>
          <p:nvPr/>
        </p:nvSpPr>
        <p:spPr>
          <a:xfrm>
            <a:off x="4608576" y="2697480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11.2</a:t>
            </a:r>
            <a:endParaRPr lang="en-US" sz="1100" dirty="0"/>
          </a:p>
        </p:txBody>
      </p:sp>
      <p:sp>
        <p:nvSpPr>
          <p:cNvPr id="21" name="Text 10"/>
          <p:cNvSpPr txBox="1"/>
          <p:nvPr/>
        </p:nvSpPr>
        <p:spPr>
          <a:xfrm>
            <a:off x="4608576" y="3008376"/>
            <a:ext cx="2962656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and sustainable transport systems.</a:t>
            </a:r>
            <a:endParaRPr lang="en-US" sz="1400" dirty="0"/>
          </a:p>
        </p:txBody>
      </p:sp>
      <p:sp>
        <p:nvSpPr>
          <p:cNvPr id="22" name="Text 9"/>
          <p:cNvSpPr txBox="1"/>
          <p:nvPr/>
        </p:nvSpPr>
        <p:spPr>
          <a:xfrm>
            <a:off x="4608576" y="3657600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</a:t>
            </a:r>
            <a:endParaRPr lang="en-US" sz="1100" dirty="0"/>
          </a:p>
        </p:txBody>
      </p:sp>
      <p:sp>
        <p:nvSpPr>
          <p:cNvPr id="23" name="Text 10"/>
          <p:cNvSpPr txBox="1"/>
          <p:nvPr/>
        </p:nvSpPr>
        <p:spPr>
          <a:xfrm>
            <a:off x="4608576" y="3968496"/>
            <a:ext cx="2962656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signalised intersections more responsive to emergency traffic at low cost, deployable one intersection at a time with no equipment on vehicles.</a:t>
            </a:r>
            <a:endParaRPr lang="en-US" sz="1400" dirty="0"/>
          </a:p>
        </p:txBody>
      </p:sp>
      <p:sp>
        <p:nvSpPr>
          <p:cNvPr id="24" name="Shape 7"/>
          <p:cNvSpPr/>
          <p:nvPr/>
        </p:nvSpPr>
        <p:spPr>
          <a:xfrm>
            <a:off x="8028432" y="1371600"/>
            <a:ext cx="3511296" cy="429768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8"/>
          <p:cNvSpPr/>
          <p:nvPr/>
        </p:nvSpPr>
        <p:spPr>
          <a:xfrm>
            <a:off x="8302752" y="1645920"/>
            <a:ext cx="713232" cy="713232"/>
          </a:xfrm>
          <a:prstGeom prst="ellipse">
            <a:avLst/>
          </a:prstGeom>
          <a:solidFill>
            <a:srgbClr val="14325A"/>
          </a:solidFill>
          <a:ln w="6350">
            <a:solidFill>
              <a:srgbClr val="14325A"/>
            </a:solidFill>
            <a:prstDash val="solid"/>
          </a:ln>
        </p:spPr>
        <p:txBody>
          <a:bodyPr wrap="square" lIns="0" tIns="0" rIns="0" bIns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9</a:t>
            </a:r>
          </a:p>
        </p:txBody>
      </p:sp>
      <p:sp>
        <p:nvSpPr>
          <p:cNvPr id="26" name="Text 10"/>
          <p:cNvSpPr txBox="1"/>
          <p:nvPr/>
        </p:nvSpPr>
        <p:spPr>
          <a:xfrm>
            <a:off x="9217152" y="1645920"/>
            <a:ext cx="209397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Innovation and Infrastructure</a:t>
            </a:r>
            <a:endParaRPr lang="en-US" sz="1500" dirty="0"/>
          </a:p>
        </p:txBody>
      </p:sp>
      <p:sp>
        <p:nvSpPr>
          <p:cNvPr id="27" name="Text 9"/>
          <p:cNvSpPr txBox="1"/>
          <p:nvPr/>
        </p:nvSpPr>
        <p:spPr>
          <a:xfrm>
            <a:off x="8302752" y="2697480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9.1</a:t>
            </a:r>
            <a:endParaRPr lang="en-US" sz="1100" dirty="0"/>
          </a:p>
        </p:txBody>
      </p:sp>
      <p:sp>
        <p:nvSpPr>
          <p:cNvPr id="28" name="Text 10"/>
          <p:cNvSpPr txBox="1"/>
          <p:nvPr/>
        </p:nvSpPr>
        <p:spPr>
          <a:xfrm>
            <a:off x="8302752" y="3008376"/>
            <a:ext cx="2962656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and resilient infrastructure.</a:t>
            </a:r>
            <a:endParaRPr lang="en-US" sz="1400" dirty="0"/>
          </a:p>
        </p:txBody>
      </p:sp>
      <p:sp>
        <p:nvSpPr>
          <p:cNvPr id="29" name="Text 9"/>
          <p:cNvSpPr txBox="1"/>
          <p:nvPr/>
        </p:nvSpPr>
        <p:spPr>
          <a:xfrm>
            <a:off x="8302752" y="3657600"/>
            <a:ext cx="296265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</a:t>
            </a:r>
            <a:endParaRPr lang="en-US" sz="1100" dirty="0"/>
          </a:p>
        </p:txBody>
      </p:sp>
      <p:sp>
        <p:nvSpPr>
          <p:cNvPr id="30" name="Text 10"/>
          <p:cNvSpPr txBox="1"/>
          <p:nvPr/>
        </p:nvSpPr>
        <p:spPr>
          <a:xfrm>
            <a:off x="8302752" y="3968496"/>
            <a:ext cx="2962656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smart-infrastructure capability from commodity hardware and open-source software that can be built and maintained locally.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1939</Words>
  <Application>Microsoft Office PowerPoint</Application>
  <PresentationFormat>Widescreen</PresentationFormat>
  <Paragraphs>265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Computer-Vision-Based Emergency Vehicle Preemption for Pakistan</dc:title>
  <dc:subject>PptxGenJS Presentation</dc:subject>
  <dc:creator>Abdur Rehman, Abdullah Salim Nizami, Abdul Hadi Sheikh</dc:creator>
  <cp:lastModifiedBy>Abdullah Salim</cp:lastModifiedBy>
  <cp:revision>7</cp:revision>
  <dcterms:created xsi:type="dcterms:W3CDTF">2026-10-01T19:08:08Z</dcterms:created>
  <dcterms:modified xsi:type="dcterms:W3CDTF">2026-10-01T19:15:15Z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