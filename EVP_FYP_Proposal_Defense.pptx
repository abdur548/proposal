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Warning time (s)</c:v>
                </c:pt>
              </c:strCache>
            </c:strRef>
          </c:tx>
          <c:spPr>
            <a:solidFill>
              <a:srgbClr val="D62839"/>
            </a:solidFill>
            <a:effectLst/>
          </c:spPr>
          <c:invertIfNegative val="0"/>
          <c:dLbls>
            <c:numFmt formatCode="0.0&quot; s&quot;" sourceLinked="0"/>
            <c:txPr>
              <a:bodyPr/>
              <a:lstStyle/>
              <a:p>
                <a:pPr>
                  <a:defRPr b="0" i="0" strike="noStrike" sz="1050" u="none">
                    <a:solidFill>
                      <a:srgbClr val="1B2437"/>
                    </a:solidFill>
                    <a:latin typeface="Calibri"/>
                  </a:defRPr>
                </a:pPr>
              </a:p>
            </c:txPr>
            <c:showLegendKey val="0"/>
            <c:showVal val="1"/>
            <c:showCatName val="0"/>
            <c:showSerName val="0"/>
            <c:showPercent val="0"/>
            <c:showBubbleSize val="0"/>
            <c:showLeaderLines val="0"/>
          </c:dLbls>
          <c:dPt>
            <c:idx val="0"/>
            <c:invertIfNegative val="0"/>
            <c:bubble3D val="0"/>
            <c:spPr>
              <a:solidFill>
                <a:srgbClr val="D62839"/>
              </a:solidFill>
              <a:effectLst/>
            </c:spPr>
          </c:dPt>
          <c:dPt>
            <c:idx val="1"/>
            <c:invertIfNegative val="0"/>
            <c:bubble3D val="0"/>
            <c:spPr>
              <a:solidFill>
                <a:srgbClr val="F2A300"/>
              </a:solidFill>
              <a:effectLst/>
            </c:spPr>
          </c:dPt>
          <c:dPt>
            <c:idx val="2"/>
            <c:invertIfNegative val="0"/>
            <c:bubble3D val="0"/>
            <c:spPr>
              <a:solidFill>
                <a:srgbClr val="17875B"/>
              </a:solidFill>
              <a:effectLst/>
            </c:spPr>
          </c:dPt>
          <c:dPt>
            <c:idx val="3"/>
            <c:invertIfNegative val="0"/>
            <c:bubble3D val="0"/>
            <c:spPr>
              <a:solidFill>
                <a:srgbClr val="17875B"/>
              </a:solidFill>
              <a:effectLst/>
            </c:spPr>
          </c:dPt>
          <c:cat>
            <c:multiLvlStrRef>
              <c:f>Sheet1!$A$2:$A$5</c:f>
              <c:multiLvlStrCache>
                <c:ptCount val="4"/>
                <c:lvl>
                  <c:pt idx="0">
                    <c:v>50 m</c:v>
                  </c:pt>
                  <c:pt idx="1">
                    <c:v>100 m</c:v>
                  </c:pt>
                  <c:pt idx="2">
                    <c:v>150 m</c:v>
                  </c:pt>
                  <c:pt idx="3">
                    <c:v>200 m</c:v>
                  </c:pt>
                </c:lvl>
              </c:multiLvlStrCache>
            </c:multiLvlStrRef>
          </c:cat>
          <c:val>
            <c:numRef>
              <c:f>Sheet1!$B$2:$B$5</c:f>
              <c:numCache>
                <c:formatCode>General</c:formatCode>
                <c:ptCount val="4"/>
                <c:pt idx="0">
                  <c:v>3.6</c:v>
                </c:pt>
                <c:pt idx="1">
                  <c:v>7.2</c:v>
                </c:pt>
                <c:pt idx="2">
                  <c:v>10.8</c:v>
                </c:pt>
                <c:pt idx="3">
                  <c:v>14.4</c:v>
                </c:pt>
              </c:numCache>
            </c:numRef>
          </c:val>
        </c:ser>
        <c:dLbls>
          <c:numFmt formatCode="0.0&quot; s&quot;" sourceLinked="0"/>
          <c:txPr>
            <a:bodyPr/>
            <a:lstStyle/>
            <a:p>
              <a:pPr>
                <a:defRPr b="0" i="0" strike="noStrike" sz="1050" u="none">
                  <a:solidFill>
                    <a:srgbClr val="1B24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2"/>
                </a:solidFill>
                <a:latin typeface="Calibri"/>
              </a:defRPr>
            </a:pPr>
            <a:endParaRPr lang="en-US"/>
          </a:p>
        </c:txPr>
        <c:crossAx val="2094734552"/>
        <c:crosses val="autoZero"/>
        <c:auto val="1"/>
        <c:lblAlgn val="ctr"/>
        <c:noMultiLvlLbl val="1"/>
      </c:catAx>
      <c:valAx>
        <c:axId val="2094734552"/>
        <c:scaling>
          <c:orientation val="minMax"/>
          <c:max val="1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the team and advisors, then the one-sentence pitch: we are designing and simulating a camera-only Emergency Vehicle Preemption system for Pakistani intersections, with nothing installed on the ambulance. The green light on the right is the idea in one picture: the signal turns green for the emergency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Pakistan has no automated EVP that we could find, so an ambulance clears a red light the way it did decades ago. Elsewhere EVP is a mature technology (Opticom, NTCIP 1211) but every product needs hardware on each emergency vehicle. The three numbers show why minutes matter: each extra minute of EMS response raised the odds of on-scene death by about 5% in Punjab Rescue 1122 data for elderly road-injury patients; fire-brigade vehicles reach only about 20% of the Lahore study area within 7 minutes; Rescue 1122 averages roughly 7 minutes, so one or two minutes saved at intersections is a large share. Close with the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six base papers, grouped in three families. Camera-based EVP prototypes [11], [12] are the closest prior art: YOLOv8 on a Raspberry Pi. Detector benchmarks [13], [19] give us the dataset and the South-Asian adaptation precedent. Acoustic papers [14], [15] show a second sensing channel that we keep as future work. Details come from the papers' published abstracts and pages. For [12] the dataset and authors are not named in the abstract we could access; confirm from the full text before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Closest prior art on the detector side. Setup: YOLOv8 on a Raspberry Pi with a Pi Camera, live video from an IoT camera on a busy road. Contribution: 31 FPS and 95% accuracy on cheap hardware, alerts to emergency services. Limitations as visible in the abstract: dataset not named, only accuracy reported, no signal control, no discussion of where the camera should sit or what happens on a false or lost detection, and no local liveries. Authors' stated future work: more advanced ML and additional sensors. Our takeaway: this validates the hardware class; our contribution is the system around the detector. Verify details against the full text before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nearest system-level competitor: detection plus automatic green plus synchronisation across junctions. Reported result: 97.0% detection accuracy and improved flow efficiency and emergency-vehicle clearance. What we could not see: the dataset name, the authors' stated limitations and future work. ResearchGate blocked full access, so the hardware detail (Raspberry Pi 5, YOLO) is as summarised in our proposal. Be ready to say: we do not claim this paper lacks these analyses, only that its abstract does not report them. Action before the defense: open the full text and fill in the authors and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gives us the main training data. The Vehicle Dataset has 29,759 images, 7 classes including ambulance and fire truck, and a published YOLOv5/6/7 baseline. We fine-tune YOLOv8n on it (primary Stage-1 source) and compare against YOLOv7's 85% precision and 85% mAP@0.5. Limitation to state plainly: the images are web-sourced, so there is a domain gap to Pakistani roads and to a fixed upstream camera, which is exactly why Stage 2 local data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precedent for local adaptation. The authors pooled DhakaAI, Poribohon-BD and their own images into 7,390 images over 21 vehicle types and compared YOLOv3, YOLOv5s and YOLOv5x, with YOLOv5x best. It shows that adding locally collected images is the accepted way to bring an international detector to South-Asian traffic. We follow this in our two-stage dataset strategy: public data now, a small Pakistani set (150-300 images, with augmentation for night, rain and fog) later if one can be obtained. Limitation: it is general vehicle detection with no control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audio papers, shown together because they play the same role for us. SirenNet (Tran and Tsai, IEEE Access 2020) uses a two-stream CNN, raw waveform plus MFCC/log-mel, reaching 98.24% accuracy and 96.89% on 0.25-second clips. E2PANNs (Giacomelli et al., 2025) is a lightweight, explainable siren detector that runs in real time on an edge device; its abstract claims state-of-the-art results but gives no numbers. Neither targets Pakistani sirens or intersections, and neither controls a signal. We keep audio as an optional second check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of the review. Limitations 1 and 2 belong to the commercial EVP families: every one needs vehicle-side hardware, and GPS and cellular links add drift and failure points. Limitations 3 to 5 belong to the research literature: camera prototypes stop at detection, datasets are not Pakistani, and papers report detector accuracy rather than system-level latency, cross-traffic cost or a baseline comparison. Limitation 6 ties it together: nothing is built for Pakistani liveries, fleets or the legal trigger in Section 112AA. Note that 3 and 5 are statements about what the abstracts report; we do not claim the full texts lack them. This leads straight into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one-line problem statement slowly. Then the three pieces of evidence. First, Pakistani data tie longer EMS response to worse outcomes: about 5% higher odds of on-scene death per extra minute. Second, delay is documented: in a 978-patient Karachi trauma-registry study only 30.9% reached the ER within an hour. Third, the law gives right of way only to emergency vehicles that are signalling, which is why our trigger policy is tied to active warning devices. Be careful with wording: no Pakistani study has isolated intersection delay as a cause of death; we say delays are avoidable, not that intersections alone cause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mirrors the problem sentence: low-cost and vehicle-independent. Everything lives at the intersection: no GPS, no cellular link, no central server, nothing on the ambulance. That removes the need to coordinate Rescue 1122, Edhi and private fleets, and the recurring per-vehicle cost (about PKR 2,250 for a GPS+GSM unit) drops to zero. Be upfront about the trade-off: detection range is shorter than GPS and weather and low light hurt vision. We model both in simulation as reduced detection probability and range, and measure them on hardware only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solution as a five-step pipeline. Detect: YOLOv8n fine-tuned on public datasets, benchmarked to produce a detector-performance profile (detection probability against distance, false-positive rate, latency) that drives the simulated camera. Track and gate: preemption is requested only after a high-confidence detection holds over several consecutive frames. Trigger policy: only for vehicles with active warning devices, in line with Section 112AA. Preempt: finish the current phase through yellow and all-red, then green for the emergency approach. Revert: return to the normal cycle within 2 seconds after the exit zone, and fail safe on camera loss, timeout or an unrenewed request. The chart is arithmetic: at 50 km/h a camera 50 m out gives about 3.6 s of warning, which latency would eat; 150-200 m gives about 11-14 s. The 100 m bar is an intermediate point computed the same way. Scope: simulation only in this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explains our focus area. Top lane: how EVP works today. A unit on every vehicle (IR emitter, RF transmitter or GPS+GSM) talks over a line-of-sight, radio or cellular link to a receiver or central platform, which sends a priority request to the signal controller. Every hop is a dependency: hardware on each vehicle, a live link, and a central server or fleet coordination. Bottom lane: our architecture. The camera, modelled 150-200 m upstream, feeds a fine-tuned YOLOv8n detector; a tracker with multi-frame gating and the warning-device trigger decides when to preempt; the signal controller state machine (normal, preempt, revert, fail-safe) drives the signal heads through TraCI in SUMO. The dashed green box is what this project builds and validates: detector, tracker and trigger, and controller. The controller logic follows the NTCIP 1211 reference model and is written so it can later be ported to a Raspberry Pi. The camera and signal heads are modelled, and real hardware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how we will judge success. All four targets are provisional and measured in simulation against a no-preemption baseline: preemption accuracy above 95%, latency from first sustained detection to green under 3 seconds, false-trigger rate below 2%, and reversion within 2 seconds of the vehicle leaving the detection zone. Whatever the measurements are, shortfalls included, we report them as measured. The plan has four stages over 18 weeks; the detector comes first because it is the heart of a vision-first system. Work division: Abdur Rehman owns computer vision, tracking and the detector profile (Modules 2 and 3); Abdullah owns the SUMO environment, controller and camera placement (Modules 1 and 4); Hadi owns trigger policy, scenarios, experiments and benchmarking (Modules 5 and 6). Hardware deployment, local fine-tuning and a pilot with the traffic authority are future work, dependent on a Pakistani emergency-vehicle dataset (Rescue 1122, Edhi or the fire brigade).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281160" y="777240"/>
            <a:ext cx="2148840" cy="5303520"/>
          </a:xfrm>
          <a:prstGeom prst="roundRect">
            <a:avLst>
              <a:gd name="adj" fmla="val 17021"/>
            </a:avLst>
          </a:prstGeom>
          <a:solidFill>
            <a:srgbClr val="0B1426"/>
          </a:solidFill>
          <a:ln w="25400">
            <a:solidFill>
              <a:srgbClr val="2A3B63"/>
            </a:solidFill>
            <a:prstDash val="solid"/>
          </a:ln>
        </p:spPr>
      </p:sp>
      <p:sp>
        <p:nvSpPr>
          <p:cNvPr id="3" name="Shape 1"/>
          <p:cNvSpPr/>
          <p:nvPr/>
        </p:nvSpPr>
        <p:spPr>
          <a:xfrm>
            <a:off x="9692640" y="1051560"/>
            <a:ext cx="1325880" cy="1325880"/>
          </a:xfrm>
          <a:prstGeom prst="ellipse">
            <a:avLst/>
          </a:prstGeom>
          <a:solidFill>
            <a:srgbClr val="D62839">
              <a:alpha val="22000"/>
            </a:srgbClr>
          </a:solidFill>
          <a:ln w="12700">
            <a:solidFill>
              <a:srgbClr val="D62839">
                <a:alpha val="0"/>
              </a:srgbClr>
            </a:solidFill>
            <a:prstDash val="solid"/>
          </a:ln>
        </p:spPr>
      </p:sp>
      <p:sp>
        <p:nvSpPr>
          <p:cNvPr id="4" name="Shape 2"/>
          <p:cNvSpPr/>
          <p:nvPr/>
        </p:nvSpPr>
        <p:spPr>
          <a:xfrm>
            <a:off x="9692640" y="2697480"/>
            <a:ext cx="1325880" cy="1325880"/>
          </a:xfrm>
          <a:prstGeom prst="ellipse">
            <a:avLst/>
          </a:prstGeom>
          <a:solidFill>
            <a:srgbClr val="F2A300">
              <a:alpha val="20000"/>
            </a:srgbClr>
          </a:solidFill>
          <a:ln w="12700">
            <a:solidFill>
              <a:srgbClr val="F2A300">
                <a:alpha val="0"/>
              </a:srgbClr>
            </a:solidFill>
            <a:prstDash val="solid"/>
          </a:ln>
        </p:spPr>
      </p:sp>
      <p:sp>
        <p:nvSpPr>
          <p:cNvPr id="5" name="Shape 3"/>
          <p:cNvSpPr/>
          <p:nvPr/>
        </p:nvSpPr>
        <p:spPr>
          <a:xfrm>
            <a:off x="9418320" y="4114800"/>
            <a:ext cx="1874520" cy="1874520"/>
          </a:xfrm>
          <a:prstGeom prst="ellipse">
            <a:avLst/>
          </a:prstGeom>
          <a:solidFill>
            <a:srgbClr val="17875B">
              <a:alpha val="20000"/>
            </a:srgbClr>
          </a:solidFill>
          <a:ln w="12700">
            <a:solidFill>
              <a:srgbClr val="17875B">
                <a:alpha val="0"/>
              </a:srgbClr>
            </a:solidFill>
            <a:prstDash val="solid"/>
          </a:ln>
        </p:spPr>
      </p:sp>
      <p:sp>
        <p:nvSpPr>
          <p:cNvPr id="6" name="Shape 4"/>
          <p:cNvSpPr/>
          <p:nvPr/>
        </p:nvSpPr>
        <p:spPr>
          <a:xfrm>
            <a:off x="9692640" y="4389120"/>
            <a:ext cx="1325880" cy="1325880"/>
          </a:xfrm>
          <a:prstGeom prst="ellipse">
            <a:avLst/>
          </a:prstGeom>
          <a:solidFill>
            <a:srgbClr val="22B573"/>
          </a:solidFill>
          <a:ln w="12700">
            <a:solidFill>
              <a:srgbClr val="22B573"/>
            </a:solidFill>
            <a:prstDash val="solid"/>
          </a:ln>
        </p:spPr>
      </p:sp>
      <p:sp>
        <p:nvSpPr>
          <p:cNvPr id="7" name="Text 5"/>
          <p:cNvSpPr txBox="1"/>
          <p:nvPr/>
        </p:nvSpPr>
        <p:spPr>
          <a:xfrm>
            <a:off x="731520" y="731520"/>
            <a:ext cx="7863840" cy="320040"/>
          </a:xfrm>
          <a:prstGeom prst="rect">
            <a:avLst/>
          </a:prstGeom>
          <a:noFill/>
          <a:ln/>
        </p:spPr>
        <p:txBody>
          <a:bodyPr wrap="square" lIns="0" tIns="0" rIns="0" bIns="0" rtlCol="0" anchor="t"/>
          <a:lstStyle/>
          <a:p>
            <a:pPr indent="0" marL="0">
              <a:buNone/>
            </a:pPr>
            <a:r>
              <a:rPr lang="en-US" sz="1300" b="1" spc="300" kern="0" dirty="0">
                <a:solidFill>
                  <a:srgbClr val="F2A300"/>
                </a:solidFill>
                <a:latin typeface="Calibri" pitchFamily="34" charset="0"/>
                <a:ea typeface="Calibri" pitchFamily="34" charset="-122"/>
                <a:cs typeface="Calibri" pitchFamily="34" charset="-120"/>
              </a:rPr>
              <a:t>FINAL YEAR PROJECT  |  PROPOSAL DEFENSE</a:t>
            </a:r>
            <a:endParaRPr lang="en-US" sz="1300" dirty="0"/>
          </a:p>
        </p:txBody>
      </p:sp>
      <p:sp>
        <p:nvSpPr>
          <p:cNvPr id="8" name="Text 6"/>
          <p:cNvSpPr txBox="1"/>
          <p:nvPr/>
        </p:nvSpPr>
        <p:spPr>
          <a:xfrm>
            <a:off x="731520" y="1188720"/>
            <a:ext cx="8138160" cy="2240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Computer-Vision-Based Emergency Vehicle Preemption (EVP) System for Traffic Intersections in Pakistan</a:t>
            </a:r>
            <a:endParaRPr lang="en-US" sz="3400" dirty="0"/>
          </a:p>
        </p:txBody>
      </p:sp>
      <p:sp>
        <p:nvSpPr>
          <p:cNvPr id="9" name="Text 7"/>
          <p:cNvSpPr txBox="1"/>
          <p:nvPr/>
        </p:nvSpPr>
        <p:spPr>
          <a:xfrm>
            <a:off x="731520" y="3291840"/>
            <a:ext cx="7863840" cy="457200"/>
          </a:xfrm>
          <a:prstGeom prst="rect">
            <a:avLst/>
          </a:prstGeom>
          <a:noFill/>
          <a:ln/>
        </p:spPr>
        <p:txBody>
          <a:bodyPr wrap="square" lIns="0" tIns="0" rIns="0" bIns="0" rtlCol="0" anchor="t"/>
          <a:lstStyle/>
          <a:p>
            <a:pPr indent="0" marL="0">
              <a:buNone/>
            </a:pPr>
            <a:r>
              <a:rPr lang="en-US" sz="2200" i="1" dirty="0">
                <a:solidFill>
                  <a:srgbClr val="F2A300"/>
                </a:solidFill>
                <a:latin typeface="Cambria" pitchFamily="34" charset="0"/>
                <a:ea typeface="Cambria" pitchFamily="34" charset="-122"/>
                <a:cs typeface="Cambria" pitchFamily="34" charset="-120"/>
              </a:rPr>
              <a:t>A Simulation-Based Study</a:t>
            </a:r>
            <a:endParaRPr lang="en-US" sz="2200" dirty="0"/>
          </a:p>
        </p:txBody>
      </p:sp>
      <p:sp>
        <p:nvSpPr>
          <p:cNvPr id="10" name="Text 8"/>
          <p:cNvSpPr txBox="1"/>
          <p:nvPr/>
        </p:nvSpPr>
        <p:spPr>
          <a:xfrm>
            <a:off x="731520" y="4251960"/>
            <a:ext cx="265176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Syed Muhammad Abdur Rehman</a:t>
            </a:r>
            <a:endParaRPr lang="en-US" sz="1200" dirty="0"/>
          </a:p>
          <a:p>
            <a:pPr indent="0" marL="0">
              <a:buNone/>
            </a:pPr>
            <a:r>
              <a:rPr lang="en-US" sz="1200" dirty="0">
                <a:solidFill>
                  <a:srgbClr val="C9D3E6"/>
                </a:solidFill>
                <a:latin typeface="Calibri" pitchFamily="34" charset="0"/>
                <a:ea typeface="Calibri" pitchFamily="34" charset="-122"/>
                <a:cs typeface="Calibri" pitchFamily="34" charset="-120"/>
              </a:rPr>
              <a:t>467471</a:t>
            </a:r>
            <a:endParaRPr lang="en-US" sz="1200" dirty="0"/>
          </a:p>
        </p:txBody>
      </p:sp>
      <p:sp>
        <p:nvSpPr>
          <p:cNvPr id="11" name="Text 9"/>
          <p:cNvSpPr txBox="1"/>
          <p:nvPr/>
        </p:nvSpPr>
        <p:spPr>
          <a:xfrm>
            <a:off x="3474720" y="4251960"/>
            <a:ext cx="265176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Abdullah Salim Nizami</a:t>
            </a:r>
            <a:endParaRPr lang="en-US" sz="1200" dirty="0"/>
          </a:p>
          <a:p>
            <a:pPr indent="0" marL="0">
              <a:buNone/>
            </a:pPr>
            <a:r>
              <a:rPr lang="en-US" sz="1200" dirty="0">
                <a:solidFill>
                  <a:srgbClr val="C9D3E6"/>
                </a:solidFill>
                <a:latin typeface="Calibri" pitchFamily="34" charset="0"/>
                <a:ea typeface="Calibri" pitchFamily="34" charset="-122"/>
                <a:cs typeface="Calibri" pitchFamily="34" charset="-120"/>
              </a:rPr>
              <a:t>457223</a:t>
            </a:r>
            <a:endParaRPr lang="en-US" sz="1200" dirty="0"/>
          </a:p>
        </p:txBody>
      </p:sp>
      <p:sp>
        <p:nvSpPr>
          <p:cNvPr id="12" name="Text 10"/>
          <p:cNvSpPr txBox="1"/>
          <p:nvPr/>
        </p:nvSpPr>
        <p:spPr>
          <a:xfrm>
            <a:off x="6217920" y="4251960"/>
            <a:ext cx="265176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Abdul Hadi Sheikh</a:t>
            </a:r>
            <a:endParaRPr lang="en-US" sz="1200" dirty="0"/>
          </a:p>
          <a:p>
            <a:pPr indent="0" marL="0">
              <a:buNone/>
            </a:pPr>
            <a:r>
              <a:rPr lang="en-US" sz="1200" dirty="0">
                <a:solidFill>
                  <a:srgbClr val="C9D3E6"/>
                </a:solidFill>
                <a:latin typeface="Calibri" pitchFamily="34" charset="0"/>
                <a:ea typeface="Calibri" pitchFamily="34" charset="-122"/>
                <a:cs typeface="Calibri" pitchFamily="34" charset="-120"/>
              </a:rPr>
              <a:t>454448</a:t>
            </a:r>
            <a:endParaRPr lang="en-US" sz="1200" dirty="0"/>
          </a:p>
        </p:txBody>
      </p:sp>
      <p:sp>
        <p:nvSpPr>
          <p:cNvPr id="13" name="Text 11"/>
          <p:cNvSpPr txBox="1"/>
          <p:nvPr/>
        </p:nvSpPr>
        <p:spPr>
          <a:xfrm>
            <a:off x="731520" y="5166360"/>
            <a:ext cx="813816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Advisor: </a:t>
            </a:r>
            <a:pPr indent="0" marL="0">
              <a:buNone/>
            </a:pPr>
            <a:r>
              <a:rPr lang="en-US" sz="1300" dirty="0">
                <a:solidFill>
                  <a:srgbClr val="C9D3E6"/>
                </a:solidFill>
                <a:latin typeface="Calibri" pitchFamily="34" charset="0"/>
                <a:ea typeface="Calibri" pitchFamily="34" charset="-122"/>
                <a:cs typeface="Calibri" pitchFamily="34" charset="-120"/>
              </a:rPr>
              <a:t>Sir Khurram Shahzad</a:t>
            </a:r>
            <a:pPr indent="0" marL="0">
              <a:buNone/>
            </a:pPr>
            <a:r>
              <a:rPr lang="en-US" sz="1300" b="1" dirty="0">
                <a:solidFill>
                  <a:srgbClr val="FFFFFF"/>
                </a:solidFill>
                <a:latin typeface="Calibri" pitchFamily="34" charset="0"/>
                <a:ea typeface="Calibri" pitchFamily="34" charset="-122"/>
                <a:cs typeface="Calibri" pitchFamily="34" charset="-120"/>
              </a:rPr>
              <a:t>     Co-Advisor: </a:t>
            </a:r>
            <a:pPr indent="0" marL="0">
              <a:buNone/>
            </a:pPr>
            <a:r>
              <a:rPr lang="en-US" sz="1300" dirty="0">
                <a:solidFill>
                  <a:srgbClr val="C9D3E6"/>
                </a:solidFill>
                <a:latin typeface="Calibri" pitchFamily="34" charset="0"/>
                <a:ea typeface="Calibri" pitchFamily="34" charset="-122"/>
                <a:cs typeface="Calibri" pitchFamily="34" charset="-120"/>
              </a:rPr>
              <a:t>Maam Sana Qadir</a:t>
            </a:r>
            <a:endParaRPr lang="en-US" sz="1300" dirty="0"/>
          </a:p>
        </p:txBody>
      </p:sp>
      <p:sp>
        <p:nvSpPr>
          <p:cNvPr id="14" name="Text 12"/>
          <p:cNvSpPr txBox="1"/>
          <p:nvPr/>
        </p:nvSpPr>
        <p:spPr>
          <a:xfrm>
            <a:off x="731520" y="5669280"/>
            <a:ext cx="8138160" cy="274320"/>
          </a:xfrm>
          <a:prstGeom prst="rect">
            <a:avLst/>
          </a:prstGeom>
          <a:noFill/>
          <a:ln/>
        </p:spPr>
        <p:txBody>
          <a:bodyPr wrap="square" lIns="0" tIns="0" rIns="0" bIns="0" rtlCol="0" anchor="t"/>
          <a:lstStyle/>
          <a:p>
            <a:pPr indent="0" marL="0">
              <a:buNone/>
            </a:pPr>
            <a:r>
              <a:rPr lang="en-US" sz="1200" dirty="0">
                <a:solidFill>
                  <a:srgbClr val="C9D3E6"/>
                </a:solidFill>
                <a:latin typeface="Calibri" pitchFamily="34" charset="0"/>
                <a:ea typeface="Calibri" pitchFamily="34" charset="-122"/>
                <a:cs typeface="Calibri" pitchFamily="34" charset="-120"/>
              </a:rPr>
              <a:t>School of Electrical Engineering and Computer Science, NUST Islamabad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D62839"/>
          </a:solidFill>
          <a:ln w="12700">
            <a:solidFill>
              <a:srgbClr val="D62839"/>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INTRODUCTION</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Emergency Vehicles Lose Minutes at Pakistan's Signals</a:t>
            </a:r>
            <a:endParaRPr lang="en-US" sz="2600" dirty="0"/>
          </a:p>
        </p:txBody>
      </p:sp>
      <p:sp>
        <p:nvSpPr>
          <p:cNvPr id="5" name="Shape 3"/>
          <p:cNvSpPr/>
          <p:nvPr/>
        </p:nvSpPr>
        <p:spPr>
          <a:xfrm>
            <a:off x="548640" y="1645920"/>
            <a:ext cx="566928" cy="566928"/>
          </a:xfrm>
          <a:prstGeom prst="ellipse">
            <a:avLst/>
          </a:prstGeom>
          <a:solidFill>
            <a:srgbClr val="14213D"/>
          </a:solidFill>
          <a:ln w="12700">
            <a:solidFill>
              <a:srgbClr val="14213D"/>
            </a:solidFill>
            <a:prstDash val="solid"/>
          </a:ln>
        </p:spPr>
      </p:sp>
      <p:pic>
        <p:nvPicPr>
          <p:cNvPr id="6" name="Image 0" descr="preencoded.png">    </p:cNvPr>
          <p:cNvPicPr>
            <a:picLocks noChangeAspect="1"/>
          </p:cNvPicPr>
          <p:nvPr/>
        </p:nvPicPr>
        <p:blipFill>
          <a:blip r:embed="rId1"/>
          <a:stretch>
            <a:fillRect/>
          </a:stretch>
        </p:blipFill>
        <p:spPr>
          <a:xfrm>
            <a:off x="690372" y="1787652"/>
            <a:ext cx="283464" cy="283464"/>
          </a:xfrm>
          <a:prstGeom prst="rect">
            <a:avLst/>
          </a:prstGeom>
        </p:spPr>
      </p:pic>
      <p:sp>
        <p:nvSpPr>
          <p:cNvPr id="7" name="Text 4"/>
          <p:cNvSpPr txBox="1"/>
          <p:nvPr/>
        </p:nvSpPr>
        <p:spPr>
          <a:xfrm>
            <a:off x="1325880" y="1600200"/>
            <a:ext cx="5623560" cy="292608"/>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Signals ignore emergencies</a:t>
            </a:r>
            <a:endParaRPr lang="en-US" sz="1500" dirty="0"/>
          </a:p>
        </p:txBody>
      </p:sp>
      <p:sp>
        <p:nvSpPr>
          <p:cNvPr id="8" name="Text 5"/>
          <p:cNvSpPr txBox="1"/>
          <p:nvPr/>
        </p:nvSpPr>
        <p:spPr>
          <a:xfrm>
            <a:off x="1325880" y="1911096"/>
            <a:ext cx="5623560" cy="658368"/>
          </a:xfrm>
          <a:prstGeom prst="rect">
            <a:avLst/>
          </a:prstGeom>
          <a:noFill/>
          <a:ln/>
        </p:spPr>
        <p:txBody>
          <a:bodyPr wrap="square" lIns="0" tIns="0" rIns="0" bIns="0" rtlCol="0" anchor="t"/>
          <a:lstStyle/>
          <a:p>
            <a:pPr indent="0" marL="0">
              <a:buNone/>
            </a:pPr>
            <a:r>
              <a:rPr lang="en-US" sz="1250" dirty="0">
                <a:solidFill>
                  <a:srgbClr val="1B2437"/>
                </a:solidFill>
                <a:latin typeface="Calibri" pitchFamily="34" charset="0"/>
                <a:ea typeface="Calibri" pitchFamily="34" charset="-122"/>
                <a:cs typeface="Calibri" pitchFamily="34" charset="-120"/>
              </a:rPr>
              <a:t>Signals in Lahore, Karachi and Islamabad run fixed-time or locally adaptive cycles with no link to emergency services. Ambulances rely on siren, horn and driver nerve.</a:t>
            </a:r>
            <a:endParaRPr lang="en-US" sz="1250" dirty="0"/>
          </a:p>
        </p:txBody>
      </p:sp>
      <p:sp>
        <p:nvSpPr>
          <p:cNvPr id="9" name="Shape 6"/>
          <p:cNvSpPr/>
          <p:nvPr/>
        </p:nvSpPr>
        <p:spPr>
          <a:xfrm>
            <a:off x="548640" y="2743200"/>
            <a:ext cx="566928" cy="566928"/>
          </a:xfrm>
          <a:prstGeom prst="ellipse">
            <a:avLst/>
          </a:prstGeom>
          <a:solidFill>
            <a:srgbClr val="14213D"/>
          </a:solidFill>
          <a:ln w="12700">
            <a:solidFill>
              <a:srgbClr val="14213D"/>
            </a:solidFill>
            <a:prstDash val="solid"/>
          </a:ln>
        </p:spPr>
      </p:sp>
      <p:pic>
        <p:nvPicPr>
          <p:cNvPr id="10" name="Image 1" descr="preencoded.png">    </p:cNvPr>
          <p:cNvPicPr>
            <a:picLocks noChangeAspect="1"/>
          </p:cNvPicPr>
          <p:nvPr/>
        </p:nvPicPr>
        <p:blipFill>
          <a:blip r:embed="rId2"/>
          <a:stretch>
            <a:fillRect/>
          </a:stretch>
        </p:blipFill>
        <p:spPr>
          <a:xfrm>
            <a:off x="690372" y="2884932"/>
            <a:ext cx="283464" cy="283464"/>
          </a:xfrm>
          <a:prstGeom prst="rect">
            <a:avLst/>
          </a:prstGeom>
        </p:spPr>
      </p:pic>
      <p:sp>
        <p:nvSpPr>
          <p:cNvPr id="11" name="Text 7"/>
          <p:cNvSpPr txBox="1"/>
          <p:nvPr/>
        </p:nvSpPr>
        <p:spPr>
          <a:xfrm>
            <a:off x="1325880" y="2697480"/>
            <a:ext cx="5623560" cy="292608"/>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EVP is solved abroad, not here</a:t>
            </a:r>
            <a:endParaRPr lang="en-US" sz="1500" dirty="0"/>
          </a:p>
        </p:txBody>
      </p:sp>
      <p:sp>
        <p:nvSpPr>
          <p:cNvPr id="12" name="Text 8"/>
          <p:cNvSpPr txBox="1"/>
          <p:nvPr/>
        </p:nvSpPr>
        <p:spPr>
          <a:xfrm>
            <a:off x="1325880" y="3008376"/>
            <a:ext cx="5623560" cy="658368"/>
          </a:xfrm>
          <a:prstGeom prst="rect">
            <a:avLst/>
          </a:prstGeom>
          <a:noFill/>
          <a:ln/>
        </p:spPr>
        <p:txBody>
          <a:bodyPr wrap="square" lIns="0" tIns="0" rIns="0" bIns="0" rtlCol="0" anchor="t"/>
          <a:lstStyle/>
          <a:p>
            <a:pPr indent="0" marL="0">
              <a:buNone/>
            </a:pPr>
            <a:r>
              <a:rPr lang="en-US" sz="1250" dirty="0">
                <a:solidFill>
                  <a:srgbClr val="1B2437"/>
                </a:solidFill>
                <a:latin typeface="Calibri" pitchFamily="34" charset="0"/>
                <a:ea typeface="Calibri" pitchFamily="34" charset="-122"/>
                <a:cs typeface="Calibri" pitchFamily="34" charset="-120"/>
              </a:rPr>
              <a:t>Opticom and NTCIP 1211 priority control are installed in many countries [1]. We found no equivalent at a signalised intersection in Pakistan.</a:t>
            </a:r>
            <a:endParaRPr lang="en-US" sz="1250" dirty="0"/>
          </a:p>
        </p:txBody>
      </p:sp>
      <p:sp>
        <p:nvSpPr>
          <p:cNvPr id="13" name="Shape 9"/>
          <p:cNvSpPr/>
          <p:nvPr/>
        </p:nvSpPr>
        <p:spPr>
          <a:xfrm>
            <a:off x="548640" y="3840480"/>
            <a:ext cx="566928" cy="566928"/>
          </a:xfrm>
          <a:prstGeom prst="ellipse">
            <a:avLst/>
          </a:prstGeom>
          <a:solidFill>
            <a:srgbClr val="14213D"/>
          </a:solidFill>
          <a:ln w="12700">
            <a:solidFill>
              <a:srgbClr val="14213D"/>
            </a:solidFill>
            <a:prstDash val="solid"/>
          </a:ln>
        </p:spPr>
      </p:sp>
      <p:pic>
        <p:nvPicPr>
          <p:cNvPr id="14" name="Image 2" descr="preencoded.png">    </p:cNvPr>
          <p:cNvPicPr>
            <a:picLocks noChangeAspect="1"/>
          </p:cNvPicPr>
          <p:nvPr/>
        </p:nvPicPr>
        <p:blipFill>
          <a:blip r:embed="rId3"/>
          <a:stretch>
            <a:fillRect/>
          </a:stretch>
        </p:blipFill>
        <p:spPr>
          <a:xfrm>
            <a:off x="690372" y="3982212"/>
            <a:ext cx="283464" cy="283464"/>
          </a:xfrm>
          <a:prstGeom prst="rect">
            <a:avLst/>
          </a:prstGeom>
        </p:spPr>
      </p:pic>
      <p:sp>
        <p:nvSpPr>
          <p:cNvPr id="15" name="Text 10"/>
          <p:cNvSpPr txBox="1"/>
          <p:nvPr/>
        </p:nvSpPr>
        <p:spPr>
          <a:xfrm>
            <a:off x="1325880" y="3794760"/>
            <a:ext cx="5623560" cy="292608"/>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Every EVP product needs vehicle hardware</a:t>
            </a:r>
            <a:endParaRPr lang="en-US" sz="1500" dirty="0"/>
          </a:p>
        </p:txBody>
      </p:sp>
      <p:sp>
        <p:nvSpPr>
          <p:cNvPr id="16" name="Text 11"/>
          <p:cNvSpPr txBox="1"/>
          <p:nvPr/>
        </p:nvSpPr>
        <p:spPr>
          <a:xfrm>
            <a:off x="1325880" y="4105656"/>
            <a:ext cx="5623560" cy="658368"/>
          </a:xfrm>
          <a:prstGeom prst="rect">
            <a:avLst/>
          </a:prstGeom>
          <a:noFill/>
          <a:ln/>
        </p:spPr>
        <p:txBody>
          <a:bodyPr wrap="square" lIns="0" tIns="0" rIns="0" bIns="0" rtlCol="0" anchor="t"/>
          <a:lstStyle/>
          <a:p>
            <a:pPr indent="0" marL="0">
              <a:buNone/>
            </a:pPr>
            <a:r>
              <a:rPr lang="en-US" sz="1250" dirty="0">
                <a:solidFill>
                  <a:srgbClr val="1B2437"/>
                </a:solidFill>
                <a:latin typeface="Calibri" pitchFamily="34" charset="0"/>
                <a:ea typeface="Calibri" pitchFamily="34" charset="-122"/>
                <a:cs typeface="Calibri" pitchFamily="34" charset="-120"/>
              </a:rPr>
              <a:t>IR emitters, RF transponders and GPS/GSM trackers are hard to roll out across government, charity and private fleets.</a:t>
            </a:r>
            <a:endParaRPr lang="en-US" sz="1250" dirty="0"/>
          </a:p>
        </p:txBody>
      </p:sp>
      <p:sp>
        <p:nvSpPr>
          <p:cNvPr id="17" name="Shape 12"/>
          <p:cNvSpPr/>
          <p:nvPr/>
        </p:nvSpPr>
        <p:spPr>
          <a:xfrm>
            <a:off x="548640" y="4937760"/>
            <a:ext cx="6400800" cy="1280160"/>
          </a:xfrm>
          <a:prstGeom prst="roundRect">
            <a:avLst>
              <a:gd name="adj" fmla="val 5714"/>
            </a:avLst>
          </a:prstGeom>
          <a:solidFill>
            <a:srgbClr val="E3F3EA"/>
          </a:solidFill>
          <a:ln w="12700">
            <a:solidFill>
              <a:srgbClr val="E3F3EA"/>
            </a:solidFill>
            <a:prstDash val="solid"/>
          </a:ln>
        </p:spPr>
      </p:sp>
      <p:sp>
        <p:nvSpPr>
          <p:cNvPr id="18" name="Text 13"/>
          <p:cNvSpPr txBox="1"/>
          <p:nvPr/>
        </p:nvSpPr>
        <p:spPr>
          <a:xfrm>
            <a:off x="822960" y="5047488"/>
            <a:ext cx="2743200" cy="228600"/>
          </a:xfrm>
          <a:prstGeom prst="rect">
            <a:avLst/>
          </a:prstGeom>
          <a:noFill/>
          <a:ln/>
        </p:spPr>
        <p:txBody>
          <a:bodyPr wrap="square" lIns="0" tIns="0" rIns="0" bIns="0" rtlCol="0" anchor="t"/>
          <a:lstStyle/>
          <a:p>
            <a:pPr indent="0" marL="0">
              <a:buNone/>
            </a:pPr>
            <a:r>
              <a:rPr lang="en-US" sz="1050" b="1" spc="200" kern="0" dirty="0">
                <a:solidFill>
                  <a:srgbClr val="17875B"/>
                </a:solidFill>
                <a:latin typeface="Calibri" pitchFamily="34" charset="0"/>
                <a:ea typeface="Calibri" pitchFamily="34" charset="-122"/>
                <a:cs typeface="Calibri" pitchFamily="34" charset="-120"/>
              </a:rPr>
              <a:t>THE QUESTION</a:t>
            </a:r>
            <a:endParaRPr lang="en-US" sz="1050" dirty="0"/>
          </a:p>
        </p:txBody>
      </p:sp>
      <p:sp>
        <p:nvSpPr>
          <p:cNvPr id="19" name="Text 14"/>
          <p:cNvSpPr txBox="1"/>
          <p:nvPr/>
        </p:nvSpPr>
        <p:spPr>
          <a:xfrm>
            <a:off x="822960" y="5303520"/>
            <a:ext cx="5852160" cy="82296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Can an intersection-side, camera-only system detect an approaching ambulance or fire truck and grant it priority, at low cost and with nothing on the vehicle?</a:t>
            </a:r>
            <a:endParaRPr lang="en-US" sz="1500" dirty="0"/>
          </a:p>
        </p:txBody>
      </p:sp>
      <p:sp>
        <p:nvSpPr>
          <p:cNvPr id="20" name="Shape 15"/>
          <p:cNvSpPr/>
          <p:nvPr/>
        </p:nvSpPr>
        <p:spPr>
          <a:xfrm>
            <a:off x="7315200" y="1600200"/>
            <a:ext cx="4327855"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21" name="Text 16"/>
          <p:cNvSpPr txBox="1"/>
          <p:nvPr/>
        </p:nvSpPr>
        <p:spPr>
          <a:xfrm>
            <a:off x="7543800" y="1709928"/>
            <a:ext cx="3870655" cy="548640"/>
          </a:xfrm>
          <a:prstGeom prst="rect">
            <a:avLst/>
          </a:prstGeom>
          <a:noFill/>
          <a:ln/>
        </p:spPr>
        <p:txBody>
          <a:bodyPr wrap="square" lIns="0" tIns="0" rIns="0" bIns="0" rtlCol="0" anchor="ctr"/>
          <a:lstStyle/>
          <a:p>
            <a:pPr indent="0" marL="0">
              <a:buNone/>
            </a:pPr>
            <a:r>
              <a:rPr lang="en-US" sz="3200" b="1" dirty="0">
                <a:solidFill>
                  <a:srgbClr val="D62839"/>
                </a:solidFill>
                <a:latin typeface="Cambria" pitchFamily="34" charset="0"/>
                <a:ea typeface="Cambria" pitchFamily="34" charset="-122"/>
                <a:cs typeface="Cambria" pitchFamily="34" charset="-120"/>
              </a:rPr>
              <a:t>+5%</a:t>
            </a:r>
            <a:endParaRPr lang="en-US" sz="3200" dirty="0"/>
          </a:p>
        </p:txBody>
      </p:sp>
      <p:sp>
        <p:nvSpPr>
          <p:cNvPr id="22" name="Text 17"/>
          <p:cNvSpPr txBox="1"/>
          <p:nvPr/>
        </p:nvSpPr>
        <p:spPr>
          <a:xfrm>
            <a:off x="7543800" y="2276856"/>
            <a:ext cx="3870655"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higher odds of on-scene death per extra minute of EMS response (elderly road-injury patients, Punjab Rescue 1122; AOR 1.05) [3]</a:t>
            </a:r>
            <a:endParaRPr lang="en-US" sz="1150" dirty="0"/>
          </a:p>
        </p:txBody>
      </p:sp>
      <p:sp>
        <p:nvSpPr>
          <p:cNvPr id="23" name="Shape 18"/>
          <p:cNvSpPr/>
          <p:nvPr/>
        </p:nvSpPr>
        <p:spPr>
          <a:xfrm>
            <a:off x="7315200" y="3154680"/>
            <a:ext cx="4327855"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24" name="Text 19"/>
          <p:cNvSpPr txBox="1"/>
          <p:nvPr/>
        </p:nvSpPr>
        <p:spPr>
          <a:xfrm>
            <a:off x="7543800" y="3264408"/>
            <a:ext cx="3870655" cy="548640"/>
          </a:xfrm>
          <a:prstGeom prst="rect">
            <a:avLst/>
          </a:prstGeom>
          <a:noFill/>
          <a:ln/>
        </p:spPr>
        <p:txBody>
          <a:bodyPr wrap="square" lIns="0" tIns="0" rIns="0" bIns="0" rtlCol="0" anchor="ctr"/>
          <a:lstStyle/>
          <a:p>
            <a:pPr indent="0" marL="0">
              <a:buNone/>
            </a:pPr>
            <a:r>
              <a:rPr lang="en-US" sz="3200" b="1" dirty="0">
                <a:solidFill>
                  <a:srgbClr val="D62839"/>
                </a:solidFill>
                <a:latin typeface="Cambria" pitchFamily="34" charset="0"/>
                <a:ea typeface="Cambria" pitchFamily="34" charset="-122"/>
                <a:cs typeface="Cambria" pitchFamily="34" charset="-120"/>
              </a:rPr>
              <a:t>~20%</a:t>
            </a:r>
            <a:endParaRPr lang="en-US" sz="3200" dirty="0"/>
          </a:p>
        </p:txBody>
      </p:sp>
      <p:sp>
        <p:nvSpPr>
          <p:cNvPr id="25" name="Text 20"/>
          <p:cNvSpPr txBox="1"/>
          <p:nvPr/>
        </p:nvSpPr>
        <p:spPr>
          <a:xfrm>
            <a:off x="7543800" y="3831336"/>
            <a:ext cx="3870655"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of the Lahore study area that fire-brigade vehicles can reach within a 7-minute window [8]</a:t>
            </a:r>
            <a:endParaRPr lang="en-US" sz="1150" dirty="0"/>
          </a:p>
        </p:txBody>
      </p:sp>
      <p:sp>
        <p:nvSpPr>
          <p:cNvPr id="26" name="Shape 21"/>
          <p:cNvSpPr/>
          <p:nvPr/>
        </p:nvSpPr>
        <p:spPr>
          <a:xfrm>
            <a:off x="7315200" y="4709160"/>
            <a:ext cx="4327855" cy="1371600"/>
          </a:xfrm>
          <a:prstGeom prst="roundRect">
            <a:avLst>
              <a:gd name="adj" fmla="val 5333"/>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27" name="Text 22"/>
          <p:cNvSpPr txBox="1"/>
          <p:nvPr/>
        </p:nvSpPr>
        <p:spPr>
          <a:xfrm>
            <a:off x="7543800" y="4818888"/>
            <a:ext cx="3870655" cy="548640"/>
          </a:xfrm>
          <a:prstGeom prst="rect">
            <a:avLst/>
          </a:prstGeom>
          <a:noFill/>
          <a:ln/>
        </p:spPr>
        <p:txBody>
          <a:bodyPr wrap="square" lIns="0" tIns="0" rIns="0" bIns="0" rtlCol="0" anchor="ctr"/>
          <a:lstStyle/>
          <a:p>
            <a:pPr indent="0" marL="0">
              <a:buNone/>
            </a:pPr>
            <a:r>
              <a:rPr lang="en-US" sz="3200" b="1" dirty="0">
                <a:solidFill>
                  <a:srgbClr val="D62839"/>
                </a:solidFill>
                <a:latin typeface="Cambria" pitchFamily="34" charset="0"/>
                <a:ea typeface="Cambria" pitchFamily="34" charset="-122"/>
                <a:cs typeface="Cambria" pitchFamily="34" charset="-120"/>
              </a:rPr>
              <a:t>~7 min</a:t>
            </a:r>
            <a:endParaRPr lang="en-US" sz="3200" dirty="0"/>
          </a:p>
        </p:txBody>
      </p:sp>
      <p:sp>
        <p:nvSpPr>
          <p:cNvPr id="28" name="Text 23"/>
          <p:cNvSpPr txBox="1"/>
          <p:nvPr/>
        </p:nvSpPr>
        <p:spPr>
          <a:xfrm>
            <a:off x="7543800" y="5385816"/>
            <a:ext cx="3870655" cy="640080"/>
          </a:xfrm>
          <a:prstGeom prst="rect">
            <a:avLst/>
          </a:prstGeom>
          <a:noFill/>
          <a:ln/>
        </p:spPr>
        <p:txBody>
          <a:bodyPr wrap="square" lIns="0" tIns="0" rIns="0" bIns="0" rtlCol="0" anchor="t"/>
          <a:lstStyle/>
          <a:p>
            <a:pPr indent="0" marL="0">
              <a:buNone/>
            </a:pPr>
            <a:r>
              <a:rPr lang="en-US" sz="1150" dirty="0">
                <a:solidFill>
                  <a:srgbClr val="5B6B82"/>
                </a:solidFill>
                <a:latin typeface="Calibri" pitchFamily="34" charset="0"/>
                <a:ea typeface="Calibri" pitchFamily="34" charset="-122"/>
                <a:cs typeface="Calibri" pitchFamily="34" charset="-120"/>
              </a:rPr>
              <a:t>average Rescue 1122 response time, across about 2.5 million emergencies attended in 2025 [6], [7]</a:t>
            </a:r>
            <a:endParaRPr lang="en-US" sz="1150" dirty="0"/>
          </a:p>
        </p:txBody>
      </p:sp>
      <p:sp>
        <p:nvSpPr>
          <p:cNvPr id="29" name="Text 24"/>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Sources: [1], [3], [6], [7], [8]</a:t>
            </a:r>
            <a:endParaRPr lang="en-US" sz="950" dirty="0"/>
          </a:p>
        </p:txBody>
      </p:sp>
      <p:sp>
        <p:nvSpPr>
          <p:cNvPr id="30" name="Text 25"/>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2 / 14</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F2A300"/>
          </a:solidFill>
          <a:ln w="12700">
            <a:solidFill>
              <a:srgbClr val="F2A300"/>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LITERATURE REVIEW  |  SUMMARY</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Base Papers at a Glance: Title, Year and Dataset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4415" cy="914400"/>
        </p:xfrm>
        <a:graphic>
          <a:graphicData uri="http://schemas.openxmlformats.org/drawingml/2006/table">
            <a:tbl>
              <a:tblPr/>
              <a:tblGrid>
                <a:gridCol w="594360"/>
                <a:gridCol w="4069080"/>
                <a:gridCol w="685800"/>
                <a:gridCol w="2880360"/>
                <a:gridCol w="2862072"/>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Ref</a:t>
                      </a:r>
                      <a:endParaRPr lang="en-US" sz="11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Title</a:t>
                      </a:r>
                      <a:endParaRPr lang="en-US" sz="11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 and headline result</a:t>
                      </a:r>
                      <a:endParaRPr lang="en-US" sz="11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4213D"/>
                    </a:solidFill>
                  </a:tcPr>
                </a:tc>
              </a:tr>
              <a:tr h="658368">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DCE4F5"/>
                    </a:solidFill>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IoT Based Emergency Vehicle Detection using YOLOv8</a:t>
                      </a:r>
                      <a:endParaRPr lang="en-US" sz="1200" dirty="0">
                        <a:latin typeface="Calibri" charset="0"/>
                        <a:ea typeface="Calibri" charset="0"/>
                        <a:cs typeface="Calibri" charset="0"/>
                      </a:endParaRPr>
                    </a:p>
                    <a:p>
                      <a:pPr indent="0" marL="0">
                        <a:buNone/>
                      </a:pPr>
                      <a:r>
                        <a:rPr lang="en-US" sz="1000" dirty="0">
                          <a:solidFill>
                            <a:srgbClr val="5B6B82"/>
                          </a:solidFill>
                          <a:latin typeface="Calibri" pitchFamily="34" charset="0"/>
                          <a:ea typeface="Calibri" pitchFamily="34" charset="-122"/>
                          <a:cs typeface="Calibri" pitchFamily="34" charset="-120"/>
                        </a:rPr>
                        <a:t>Suhana et al.  |  JAMRIS</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Camera feed from a busy road (name and size not stated)</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YOLOv8 on Raspberry Pi; 31 FPS, 95% accuracy</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r>
              <a:tr h="713232">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DCE4F5"/>
                    </a:solidFill>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Intelligent Traffic Light Control System for Emergency Vehicles Using Deep Learning and Signal Synchronization</a:t>
                      </a:r>
                      <a:endParaRPr lang="en-US" sz="1200" dirty="0">
                        <a:latin typeface="Calibri" charset="0"/>
                        <a:ea typeface="Calibri" charset="0"/>
                        <a:cs typeface="Calibri" charset="0"/>
                      </a:endParaRPr>
                    </a:p>
                    <a:p>
                      <a:pPr indent="0" marL="0">
                        <a:buNone/>
                      </a:pPr>
                      <a:r>
                        <a:rPr lang="en-US" sz="1000" dirty="0">
                          <a:solidFill>
                            <a:srgbClr val="5B6B82"/>
                          </a:solidFill>
                          <a:latin typeface="Calibri" pitchFamily="34" charset="0"/>
                          <a:ea typeface="Calibri" pitchFamily="34" charset="-122"/>
                          <a:cs typeface="Calibri" pitchFamily="34" charset="-120"/>
                        </a:rPr>
                        <a:t>ResearchGate publication</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"Curated dataset" (not named in the abstract)</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CNN detector (97.0% accuracy) + multi-intersection signal synchronisation</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r>
              <a:tr h="658368">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E3F3EA"/>
                    </a:solidFill>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Object Detection for Vehicles with YOLO</a:t>
                      </a:r>
                      <a:endParaRPr lang="en-US" sz="1200" dirty="0">
                        <a:latin typeface="Calibri" charset="0"/>
                        <a:ea typeface="Calibri" charset="0"/>
                        <a:cs typeface="Calibri" charset="0"/>
                      </a:endParaRPr>
                    </a:p>
                    <a:p>
                      <a:pPr indent="0" marL="0">
                        <a:buNone/>
                      </a:pPr>
                      <a:r>
                        <a:rPr lang="en-US" sz="1000" dirty="0">
                          <a:solidFill>
                            <a:srgbClr val="5B6B82"/>
                          </a:solidFill>
                          <a:latin typeface="Calibri" pitchFamily="34" charset="0"/>
                          <a:ea typeface="Calibri" pitchFamily="34" charset="-122"/>
                          <a:cs typeface="Calibri" pitchFamily="34" charset="-120"/>
                        </a:rPr>
                        <a:t>Maleki et al.  |  IEEE SAMI</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Vehicle Dataset: 29,759 images, 7 classes incl. ambulance and fire truck</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YOLOv5/6/7 benchmark; best YOLOv7 at 85% mAP@0.5</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r>
              <a:tr h="713232">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E3F3EA"/>
                    </a:solidFill>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Performance Analysis of YOLO-based Architectures for Vehicle Detection from Traffic Images in Bangladesh</a:t>
                      </a:r>
                      <a:endParaRPr lang="en-US" sz="1200" dirty="0">
                        <a:latin typeface="Calibri" charset="0"/>
                        <a:ea typeface="Calibri" charset="0"/>
                        <a:cs typeface="Calibri" charset="0"/>
                      </a:endParaRPr>
                    </a:p>
                    <a:p>
                      <a:pPr indent="0" marL="0">
                        <a:buNone/>
                      </a:pPr>
                      <a:r>
                        <a:rPr lang="en-US" sz="1000" dirty="0">
                          <a:solidFill>
                            <a:srgbClr val="5B6B82"/>
                          </a:solidFill>
                          <a:latin typeface="Calibri" pitchFamily="34" charset="0"/>
                          <a:ea typeface="Calibri" pitchFamily="34" charset="-122"/>
                          <a:cs typeface="Calibri" pitchFamily="34" charset="-120"/>
                        </a:rPr>
                        <a:t>Alamgir et al.  |  ICCIT</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7,390 images, 21 vehicle types (DhakaAI + Poribohon-BD + self-collected)</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YOLOv3 vs v5s vs v5x; best YOLOv5x</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r>
              <a:tr h="658368">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3D6"/>
                    </a:solidFill>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Acoustic-Based Emergency Vehicle Detection Using Convolutional Neural Networks</a:t>
                      </a:r>
                      <a:endParaRPr lang="en-US" sz="1200" dirty="0">
                        <a:latin typeface="Calibri" charset="0"/>
                        <a:ea typeface="Calibri" charset="0"/>
                        <a:cs typeface="Calibri" charset="0"/>
                      </a:endParaRPr>
                    </a:p>
                    <a:p>
                      <a:pPr indent="0" marL="0">
                        <a:buNone/>
                      </a:pPr>
                      <a:r>
                        <a:rPr lang="en-US" sz="1000" dirty="0">
                          <a:solidFill>
                            <a:srgbClr val="5B6B82"/>
                          </a:solidFill>
                          <a:latin typeface="Calibri" pitchFamily="34" charset="0"/>
                          <a:ea typeface="Calibri" pitchFamily="34" charset="-122"/>
                          <a:cs typeface="Calibri" pitchFamily="34" charset="-120"/>
                        </a:rPr>
                        <a:t>Tran and Tsai  |  IEEE Access</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Authors' siren / horn / noise dataset (size not in abstract)</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SirenNet (raw waveform + MFCC / log-mel); 98.24% accuracy</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FFF"/>
                    </a:solidFill>
                  </a:tcPr>
                </a:tc>
              </a:tr>
              <a:tr h="713232">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FF3D6"/>
                    </a:solidFill>
                  </a:tcPr>
                </a:tc>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From Large-scale Audio Tagging to Real-Time Explainable Emergency Vehicle Sirens Detection</a:t>
                      </a:r>
                      <a:endParaRPr lang="en-US" sz="1200" dirty="0">
                        <a:latin typeface="Calibri" charset="0"/>
                        <a:ea typeface="Calibri" charset="0"/>
                        <a:cs typeface="Calibri" charset="0"/>
                      </a:endParaRPr>
                    </a:p>
                    <a:p>
                      <a:pPr indent="0" marL="0">
                        <a:buNone/>
                      </a:pPr>
                      <a:r>
                        <a:rPr lang="en-US" sz="1000" dirty="0">
                          <a:solidFill>
                            <a:srgbClr val="5B6B82"/>
                          </a:solidFill>
                          <a:latin typeface="Calibri" pitchFamily="34" charset="0"/>
                          <a:ea typeface="Calibri" pitchFamily="34" charset="-122"/>
                          <a:cs typeface="Calibri" pitchFamily="34" charset="-120"/>
                        </a:rPr>
                        <a:t>Giacomelli et al.  |  arXiv</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algn="ctr" indent="0" marL="0">
                        <a:buNone/>
                      </a:pPr>
                      <a:r>
                        <a:rPr lang="en-US" sz="1200" b="1" dirty="0">
                          <a:solidFill>
                            <a:srgbClr val="14213D"/>
                          </a:solidFill>
                          <a:latin typeface="Calibri" pitchFamily="34" charset="0"/>
                          <a:ea typeface="Calibri" pitchFamily="34" charset="-122"/>
                          <a:cs typeface="Calibri" pitchFamily="34" charset="-120"/>
                        </a:rPr>
                        <a:t>2025</a:t>
                      </a:r>
                      <a:endParaRPr lang="en-US" sz="12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AudioSet EV subset (author-built) + reference datasets</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c>
                  <a:txBody>
                    <a:bodyPr/>
                    <a:lstStyle/>
                    <a:p>
                      <a:pPr indent="0" marL="0">
                        <a:buNone/>
                      </a:pPr>
                      <a:r>
                        <a:rPr lang="en-US" sz="1050" dirty="0">
                          <a:solidFill>
                            <a:srgbClr val="1B2437"/>
                          </a:solidFill>
                          <a:latin typeface="Calibri" pitchFamily="34" charset="0"/>
                          <a:ea typeface="Calibri" pitchFamily="34" charset="-122"/>
                          <a:cs typeface="Calibri" pitchFamily="34" charset="-120"/>
                        </a:rPr>
                        <a:t>E2PANNs lightweight CNN; real-time on edge, explainable</a:t>
                      </a:r>
                      <a:endParaRPr lang="en-US" sz="105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9525" cap="flat" cmpd="sng" algn="ctr">
                      <a:solidFill>
                        <a:srgbClr val="D9DFEA"/>
                      </a:solidFill>
                      <a:prstDash val="solid"/>
                      <a:round/>
                      <a:headEnd type="none" w="med" len="med"/>
                      <a:tailEnd type="none" w="med" len="med"/>
                    </a:lnB>
                    <a:solidFill>
                      <a:srgbClr val="F8FAFD"/>
                    </a:solidFill>
                  </a:tcPr>
                </a:tc>
              </a:tr>
            </a:tbl>
          </a:graphicData>
        </a:graphic>
      </p:graphicFrame>
      <p:sp>
        <p:nvSpPr>
          <p:cNvPr id="6" name="Shape 3"/>
          <p:cNvSpPr/>
          <p:nvPr/>
        </p:nvSpPr>
        <p:spPr>
          <a:xfrm>
            <a:off x="548640" y="6144768"/>
            <a:ext cx="274320" cy="182880"/>
          </a:xfrm>
          <a:prstGeom prst="roundRect">
            <a:avLst>
              <a:gd name="adj" fmla="val 20000"/>
            </a:avLst>
          </a:prstGeom>
          <a:solidFill>
            <a:srgbClr val="DCE4F5"/>
          </a:solidFill>
          <a:ln w="9525">
            <a:solidFill>
              <a:srgbClr val="D9DFEA"/>
            </a:solidFill>
            <a:prstDash val="solid"/>
          </a:ln>
        </p:spPr>
      </p:sp>
      <p:sp>
        <p:nvSpPr>
          <p:cNvPr id="7" name="Text 4"/>
          <p:cNvSpPr txBox="1"/>
          <p:nvPr/>
        </p:nvSpPr>
        <p:spPr>
          <a:xfrm>
            <a:off x="914400" y="6108192"/>
            <a:ext cx="2834640" cy="256032"/>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Camera-based EVP prototypes</a:t>
            </a:r>
            <a:endParaRPr lang="en-US" sz="1100" dirty="0"/>
          </a:p>
        </p:txBody>
      </p:sp>
      <p:sp>
        <p:nvSpPr>
          <p:cNvPr id="8" name="Shape 5"/>
          <p:cNvSpPr/>
          <p:nvPr/>
        </p:nvSpPr>
        <p:spPr>
          <a:xfrm>
            <a:off x="3840480" y="6144768"/>
            <a:ext cx="274320" cy="182880"/>
          </a:xfrm>
          <a:prstGeom prst="roundRect">
            <a:avLst>
              <a:gd name="adj" fmla="val 20000"/>
            </a:avLst>
          </a:prstGeom>
          <a:solidFill>
            <a:srgbClr val="E3F3EA"/>
          </a:solidFill>
          <a:ln w="9525">
            <a:solidFill>
              <a:srgbClr val="D9DFEA"/>
            </a:solidFill>
            <a:prstDash val="solid"/>
          </a:ln>
        </p:spPr>
      </p:sp>
      <p:sp>
        <p:nvSpPr>
          <p:cNvPr id="9" name="Text 6"/>
          <p:cNvSpPr txBox="1"/>
          <p:nvPr/>
        </p:nvSpPr>
        <p:spPr>
          <a:xfrm>
            <a:off x="4206240" y="6108192"/>
            <a:ext cx="2834640" cy="256032"/>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Detector benchmarks and datasets</a:t>
            </a:r>
            <a:endParaRPr lang="en-US" sz="1100" dirty="0"/>
          </a:p>
        </p:txBody>
      </p:sp>
      <p:sp>
        <p:nvSpPr>
          <p:cNvPr id="10" name="Shape 7"/>
          <p:cNvSpPr/>
          <p:nvPr/>
        </p:nvSpPr>
        <p:spPr>
          <a:xfrm>
            <a:off x="7132320" y="6144768"/>
            <a:ext cx="274320" cy="182880"/>
          </a:xfrm>
          <a:prstGeom prst="roundRect">
            <a:avLst>
              <a:gd name="adj" fmla="val 20000"/>
            </a:avLst>
          </a:prstGeom>
          <a:solidFill>
            <a:srgbClr val="FFF3D6"/>
          </a:solidFill>
          <a:ln w="9525">
            <a:solidFill>
              <a:srgbClr val="D9DFEA"/>
            </a:solidFill>
            <a:prstDash val="solid"/>
          </a:ln>
        </p:spPr>
      </p:sp>
      <p:sp>
        <p:nvSpPr>
          <p:cNvPr id="11" name="Text 8"/>
          <p:cNvSpPr txBox="1"/>
          <p:nvPr/>
        </p:nvSpPr>
        <p:spPr>
          <a:xfrm>
            <a:off x="7498080" y="6108192"/>
            <a:ext cx="2834640" cy="256032"/>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Acoustic siren detection</a:t>
            </a:r>
            <a:endParaRPr lang="en-US" sz="1100" dirty="0"/>
          </a:p>
        </p:txBody>
      </p:sp>
      <p:sp>
        <p:nvSpPr>
          <p:cNvPr id="12" name="Text 9"/>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Refs numbered as in the proposal: [11], [12], [13], [14], [15], [19]</a:t>
            </a:r>
            <a:endParaRPr lang="en-US" sz="950" dirty="0"/>
          </a:p>
        </p:txBody>
      </p:sp>
      <p:sp>
        <p:nvSpPr>
          <p:cNvPr id="13" name="Text 10"/>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3 / 14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F2A300"/>
          </a:solidFill>
          <a:ln w="12700">
            <a:solidFill>
              <a:srgbClr val="F2A300"/>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LITERATURE REVIEW  |  BASE PAPER 1 OF 6</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IoT Based Emergency Vehicle Detection using YOLOv8</a:t>
            </a:r>
            <a:endParaRPr lang="en-US" sz="2600" dirty="0"/>
          </a:p>
        </p:txBody>
      </p:sp>
      <p:sp>
        <p:nvSpPr>
          <p:cNvPr id="5" name="Shape 3"/>
          <p:cNvSpPr/>
          <p:nvPr/>
        </p:nvSpPr>
        <p:spPr>
          <a:xfrm>
            <a:off x="548640" y="1609344"/>
            <a:ext cx="11094415" cy="822960"/>
          </a:xfrm>
          <a:prstGeom prst="roundRect">
            <a:avLst>
              <a:gd name="adj" fmla="val 8889"/>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Text 4"/>
          <p:cNvSpPr txBox="1"/>
          <p:nvPr/>
        </p:nvSpPr>
        <p:spPr>
          <a:xfrm>
            <a:off x="777240" y="1682496"/>
            <a:ext cx="6309360" cy="676656"/>
          </a:xfrm>
          <a:prstGeom prst="rect">
            <a:avLst/>
          </a:prstGeom>
          <a:noFill/>
          <a:ln/>
        </p:spPr>
        <p:txBody>
          <a:bodyPr wrap="square" lIns="0" tIns="0" rIns="0" bIns="0" rtlCol="0" anchor="ctr"/>
          <a:lstStyle/>
          <a:p>
            <a:pPr indent="0" marL="0">
              <a:buNone/>
            </a:pPr>
            <a:r>
              <a:rPr lang="en-US" sz="1100" b="1" dirty="0">
                <a:solidFill>
                  <a:srgbClr val="1B2437"/>
                </a:solidFill>
                <a:latin typeface="Calibri" pitchFamily="34" charset="0"/>
                <a:ea typeface="Calibri" pitchFamily="34" charset="-122"/>
                <a:cs typeface="Calibri" pitchFamily="34" charset="-120"/>
              </a:rPr>
              <a:t>S. Suhana, B. P. Rudra, K. Narang, I. Anto</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J. Automation, Mobile Robotics and Intelligent Systems (JAMRIS) 19(2), pp. 79-88, 2025</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doi:10.14313/jamris-2025-018   [11]</a:t>
            </a:r>
            <a:endParaRPr lang="en-US" sz="1100" dirty="0"/>
          </a:p>
        </p:txBody>
      </p:sp>
      <p:sp>
        <p:nvSpPr>
          <p:cNvPr id="7" name="Shape 5"/>
          <p:cNvSpPr/>
          <p:nvPr/>
        </p:nvSpPr>
        <p:spPr>
          <a:xfrm>
            <a:off x="7299655" y="1682496"/>
            <a:ext cx="2011680" cy="676656"/>
          </a:xfrm>
          <a:prstGeom prst="roundRect">
            <a:avLst>
              <a:gd name="adj" fmla="val 10811"/>
            </a:avLst>
          </a:prstGeom>
          <a:solidFill>
            <a:srgbClr val="EAEFF7"/>
          </a:solidFill>
          <a:ln w="12700">
            <a:solidFill>
              <a:srgbClr val="EAEFF7"/>
            </a:solidFill>
            <a:prstDash val="solid"/>
          </a:ln>
        </p:spPr>
      </p:sp>
      <p:sp>
        <p:nvSpPr>
          <p:cNvPr id="8" name="Text 6"/>
          <p:cNvSpPr txBox="1"/>
          <p:nvPr/>
        </p:nvSpPr>
        <p:spPr>
          <a:xfrm>
            <a:off x="740938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31 FPS</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real-time detection</a:t>
            </a:r>
            <a:endParaRPr lang="en-US" sz="1200" dirty="0"/>
          </a:p>
        </p:txBody>
      </p:sp>
      <p:sp>
        <p:nvSpPr>
          <p:cNvPr id="9" name="Shape 7"/>
          <p:cNvSpPr/>
          <p:nvPr/>
        </p:nvSpPr>
        <p:spPr>
          <a:xfrm>
            <a:off x="9448495" y="1682496"/>
            <a:ext cx="2011680" cy="676656"/>
          </a:xfrm>
          <a:prstGeom prst="roundRect">
            <a:avLst>
              <a:gd name="adj" fmla="val 10811"/>
            </a:avLst>
          </a:prstGeom>
          <a:solidFill>
            <a:srgbClr val="EAEFF7"/>
          </a:solidFill>
          <a:ln w="12700">
            <a:solidFill>
              <a:srgbClr val="EAEFF7"/>
            </a:solidFill>
            <a:prstDash val="solid"/>
          </a:ln>
        </p:spPr>
      </p:sp>
      <p:sp>
        <p:nvSpPr>
          <p:cNvPr id="10" name="Text 8"/>
          <p:cNvSpPr txBox="1"/>
          <p:nvPr/>
        </p:nvSpPr>
        <p:spPr>
          <a:xfrm>
            <a:off x="955822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95%</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reported accuracy</a:t>
            </a:r>
            <a:endParaRPr lang="en-US" sz="1200" dirty="0"/>
          </a:p>
        </p:txBody>
      </p:sp>
      <p:sp>
        <p:nvSpPr>
          <p:cNvPr id="11" name="Shape 9"/>
          <p:cNvSpPr/>
          <p:nvPr/>
        </p:nvSpPr>
        <p:spPr>
          <a:xfrm>
            <a:off x="548640"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2" name="Shape 10"/>
          <p:cNvSpPr/>
          <p:nvPr/>
        </p:nvSpPr>
        <p:spPr>
          <a:xfrm>
            <a:off x="731520" y="2734056"/>
            <a:ext cx="365760" cy="365760"/>
          </a:xfrm>
          <a:prstGeom prst="ellipse">
            <a:avLst/>
          </a:prstGeom>
          <a:solidFill>
            <a:srgbClr val="14213D"/>
          </a:solidFill>
          <a:ln w="12700">
            <a:solidFill>
              <a:srgbClr val="14213D"/>
            </a:solidFill>
            <a:prstDash val="solid"/>
          </a:ln>
        </p:spPr>
      </p:sp>
      <p:pic>
        <p:nvPicPr>
          <p:cNvPr id="13" name="Image 0" descr="preencoded.png">    </p:cNvPr>
          <p:cNvPicPr>
            <a:picLocks noChangeAspect="1"/>
          </p:cNvPicPr>
          <p:nvPr/>
        </p:nvPicPr>
        <p:blipFill>
          <a:blip r:embed="rId1"/>
          <a:stretch>
            <a:fillRect/>
          </a:stretch>
        </p:blipFill>
        <p:spPr>
          <a:xfrm>
            <a:off x="822960" y="2825496"/>
            <a:ext cx="182880" cy="182880"/>
          </a:xfrm>
          <a:prstGeom prst="rect">
            <a:avLst/>
          </a:prstGeom>
        </p:spPr>
      </p:pic>
      <p:sp>
        <p:nvSpPr>
          <p:cNvPr id="14" name="Text 11"/>
          <p:cNvSpPr txBox="1"/>
          <p:nvPr/>
        </p:nvSpPr>
        <p:spPr>
          <a:xfrm>
            <a:off x="1207008" y="2734056"/>
            <a:ext cx="4641952" cy="36576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Setup and dataset</a:t>
            </a:r>
            <a:endParaRPr lang="en-US" sz="1350" dirty="0"/>
          </a:p>
        </p:txBody>
      </p:sp>
      <p:sp>
        <p:nvSpPr>
          <p:cNvPr id="15" name="Text 12"/>
          <p:cNvSpPr txBox="1"/>
          <p:nvPr/>
        </p:nvSpPr>
        <p:spPr>
          <a:xfrm>
            <a:off x="777240"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YOLOv8 on a Raspberry Pi with a Pi Camera, processing a live IoT video stream</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Dataset taken from a camera on a busy road; name, size and classes are not stated</a:t>
            </a:r>
            <a:endParaRPr lang="en-US" sz="1200" dirty="0"/>
          </a:p>
        </p:txBody>
      </p:sp>
      <p:sp>
        <p:nvSpPr>
          <p:cNvPr id="16" name="Shape 13"/>
          <p:cNvSpPr/>
          <p:nvPr/>
        </p:nvSpPr>
        <p:spPr>
          <a:xfrm>
            <a:off x="6178144"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7" name="Shape 14"/>
          <p:cNvSpPr/>
          <p:nvPr/>
        </p:nvSpPr>
        <p:spPr>
          <a:xfrm>
            <a:off x="6361024" y="2734056"/>
            <a:ext cx="365760" cy="365760"/>
          </a:xfrm>
          <a:prstGeom prst="ellipse">
            <a:avLst/>
          </a:prstGeom>
          <a:solidFill>
            <a:srgbClr val="17875B"/>
          </a:solidFill>
          <a:ln w="12700">
            <a:solidFill>
              <a:srgbClr val="17875B"/>
            </a:solidFill>
            <a:prstDash val="solid"/>
          </a:ln>
        </p:spPr>
      </p:sp>
      <p:pic>
        <p:nvPicPr>
          <p:cNvPr id="18" name="Image 1" descr="preencoded.png">    </p:cNvPr>
          <p:cNvPicPr>
            <a:picLocks noChangeAspect="1"/>
          </p:cNvPicPr>
          <p:nvPr/>
        </p:nvPicPr>
        <p:blipFill>
          <a:blip r:embed="rId2"/>
          <a:stretch>
            <a:fillRect/>
          </a:stretch>
        </p:blipFill>
        <p:spPr>
          <a:xfrm>
            <a:off x="6452464" y="2825496"/>
            <a:ext cx="182880" cy="182880"/>
          </a:xfrm>
          <a:prstGeom prst="rect">
            <a:avLst/>
          </a:prstGeom>
        </p:spPr>
      </p:pic>
      <p:sp>
        <p:nvSpPr>
          <p:cNvPr id="19" name="Text 15"/>
          <p:cNvSpPr txBox="1"/>
          <p:nvPr/>
        </p:nvSpPr>
        <p:spPr>
          <a:xfrm>
            <a:off x="6836512" y="2734056"/>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Key contributions</a:t>
            </a:r>
            <a:endParaRPr lang="en-US" sz="1350" dirty="0"/>
          </a:p>
        </p:txBody>
      </p:sp>
      <p:sp>
        <p:nvSpPr>
          <p:cNvPr id="20" name="Text 16"/>
          <p:cNvSpPr txBox="1"/>
          <p:nvPr/>
        </p:nvSpPr>
        <p:spPr>
          <a:xfrm>
            <a:off x="6406744"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Real-time emergency-vehicle detection at 31 FPS with 95% accuracy on low-cost hardware</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Pushes alerts to emergency services; cost-effective and adaptable to existing infrastructure</a:t>
            </a:r>
            <a:endParaRPr lang="en-US" sz="1200" dirty="0"/>
          </a:p>
        </p:txBody>
      </p:sp>
      <p:sp>
        <p:nvSpPr>
          <p:cNvPr id="21" name="Shape 17"/>
          <p:cNvSpPr/>
          <p:nvPr/>
        </p:nvSpPr>
        <p:spPr>
          <a:xfrm>
            <a:off x="548640" y="4526280"/>
            <a:ext cx="5464912" cy="1764792"/>
          </a:xfrm>
          <a:prstGeom prst="roundRect">
            <a:avLst>
              <a:gd name="adj" fmla="val 4145"/>
            </a:avLst>
          </a:prstGeom>
          <a:solidFill>
            <a:srgbClr val="FBE9EC"/>
          </a:solidFill>
          <a:ln w="12700">
            <a:solidFill>
              <a:srgbClr val="FBE9EC"/>
            </a:solidFill>
            <a:prstDash val="solid"/>
          </a:ln>
        </p:spPr>
      </p:sp>
      <p:sp>
        <p:nvSpPr>
          <p:cNvPr id="22" name="Shape 18"/>
          <p:cNvSpPr/>
          <p:nvPr/>
        </p:nvSpPr>
        <p:spPr>
          <a:xfrm>
            <a:off x="731520" y="4663440"/>
            <a:ext cx="365760" cy="365760"/>
          </a:xfrm>
          <a:prstGeom prst="ellipse">
            <a:avLst/>
          </a:prstGeom>
          <a:solidFill>
            <a:srgbClr val="D62839"/>
          </a:solidFill>
          <a:ln w="12700">
            <a:solidFill>
              <a:srgbClr val="D62839"/>
            </a:solidFill>
            <a:prstDash val="solid"/>
          </a:ln>
        </p:spPr>
      </p:sp>
      <p:pic>
        <p:nvPicPr>
          <p:cNvPr id="23" name="Image 2" descr="preencoded.png">    </p:cNvPr>
          <p:cNvPicPr>
            <a:picLocks noChangeAspect="1"/>
          </p:cNvPicPr>
          <p:nvPr/>
        </p:nvPicPr>
        <p:blipFill>
          <a:blip r:embed="rId3"/>
          <a:stretch>
            <a:fillRect/>
          </a:stretch>
        </p:blipFill>
        <p:spPr>
          <a:xfrm>
            <a:off x="822960" y="4754880"/>
            <a:ext cx="182880" cy="182880"/>
          </a:xfrm>
          <a:prstGeom prst="rect">
            <a:avLst/>
          </a:prstGeom>
        </p:spPr>
      </p:pic>
      <p:sp>
        <p:nvSpPr>
          <p:cNvPr id="24" name="Text 19"/>
          <p:cNvSpPr txBox="1"/>
          <p:nvPr/>
        </p:nvSpPr>
        <p:spPr>
          <a:xfrm>
            <a:off x="1207008" y="4663440"/>
            <a:ext cx="4641952" cy="365760"/>
          </a:xfrm>
          <a:prstGeom prst="rect">
            <a:avLst/>
          </a:prstGeom>
          <a:noFill/>
          <a:ln/>
        </p:spPr>
        <p:txBody>
          <a:bodyPr wrap="square" lIns="0" tIns="0" rIns="0" bIns="0" rtlCol="0" anchor="ctr"/>
          <a:lstStyle/>
          <a:p>
            <a:pPr indent="0" marL="0">
              <a:buNone/>
            </a:pPr>
            <a:r>
              <a:rPr lang="en-US" sz="1350" b="1" dirty="0">
                <a:solidFill>
                  <a:srgbClr val="D62839"/>
                </a:solidFill>
                <a:latin typeface="Calibri" pitchFamily="34" charset="0"/>
                <a:ea typeface="Calibri" pitchFamily="34" charset="-122"/>
                <a:cs typeface="Calibri" pitchFamily="34" charset="-120"/>
              </a:rPr>
              <a:t>Limitations and gaps</a:t>
            </a:r>
            <a:endParaRPr lang="en-US" sz="1350" dirty="0"/>
          </a:p>
        </p:txBody>
      </p:sp>
      <p:sp>
        <p:nvSpPr>
          <p:cNvPr id="25" name="Text 20"/>
          <p:cNvSpPr txBox="1"/>
          <p:nvPr/>
        </p:nvSpPr>
        <p:spPr>
          <a:xfrm>
            <a:off x="777240"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Only accuracy reported: no mAP, precision or recall; dataset unnamed</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Abstract covers detection and alerting only: no signal actuation, camera lead time, false-trigger handling or fail-safe</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Not adapted to Pakistani vehicle liveries</a:t>
            </a:r>
            <a:endParaRPr lang="en-US" sz="1200" dirty="0"/>
          </a:p>
        </p:txBody>
      </p:sp>
      <p:sp>
        <p:nvSpPr>
          <p:cNvPr id="26" name="Shape 21"/>
          <p:cNvSpPr/>
          <p:nvPr/>
        </p:nvSpPr>
        <p:spPr>
          <a:xfrm>
            <a:off x="6178144" y="4526280"/>
            <a:ext cx="5464912" cy="1764792"/>
          </a:xfrm>
          <a:prstGeom prst="roundRect">
            <a:avLst>
              <a:gd name="adj" fmla="val 4145"/>
            </a:avLst>
          </a:prstGeom>
          <a:solidFill>
            <a:srgbClr val="E3F3EA"/>
          </a:solidFill>
          <a:ln w="12700">
            <a:solidFill>
              <a:srgbClr val="E3F3EA"/>
            </a:solidFill>
            <a:prstDash val="solid"/>
          </a:ln>
        </p:spPr>
      </p:sp>
      <p:sp>
        <p:nvSpPr>
          <p:cNvPr id="27" name="Shape 22"/>
          <p:cNvSpPr/>
          <p:nvPr/>
        </p:nvSpPr>
        <p:spPr>
          <a:xfrm>
            <a:off x="6361024" y="4663440"/>
            <a:ext cx="365760" cy="365760"/>
          </a:xfrm>
          <a:prstGeom prst="ellipse">
            <a:avLst/>
          </a:prstGeom>
          <a:solidFill>
            <a:srgbClr val="9A6700"/>
          </a:solidFill>
          <a:ln w="12700">
            <a:solidFill>
              <a:srgbClr val="9A6700"/>
            </a:solidFill>
            <a:prstDash val="solid"/>
          </a:ln>
        </p:spPr>
      </p:sp>
      <p:pic>
        <p:nvPicPr>
          <p:cNvPr id="28" name="Image 3" descr="preencoded.png">    </p:cNvPr>
          <p:cNvPicPr>
            <a:picLocks noChangeAspect="1"/>
          </p:cNvPicPr>
          <p:nvPr/>
        </p:nvPicPr>
        <p:blipFill>
          <a:blip r:embed="rId4"/>
          <a:stretch>
            <a:fillRect/>
          </a:stretch>
        </p:blipFill>
        <p:spPr>
          <a:xfrm>
            <a:off x="6452464" y="4754880"/>
            <a:ext cx="182880" cy="182880"/>
          </a:xfrm>
          <a:prstGeom prst="rect">
            <a:avLst/>
          </a:prstGeom>
        </p:spPr>
      </p:pic>
      <p:sp>
        <p:nvSpPr>
          <p:cNvPr id="29" name="Text 23"/>
          <p:cNvSpPr txBox="1"/>
          <p:nvPr/>
        </p:nvSpPr>
        <p:spPr>
          <a:xfrm>
            <a:off x="6836512" y="4663440"/>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Future path and our takeaway</a:t>
            </a:r>
            <a:endParaRPr lang="en-US" sz="1350" dirty="0"/>
          </a:p>
        </p:txBody>
      </p:sp>
      <p:sp>
        <p:nvSpPr>
          <p:cNvPr id="30" name="Text 24"/>
          <p:cNvSpPr txBox="1"/>
          <p:nvPr/>
        </p:nvSpPr>
        <p:spPr>
          <a:xfrm>
            <a:off x="6406744"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Authors: more advanced ML algorithms and additional sensors to cover other emergency vehicles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Our takeaway: YOLOv8 on a Pi is feasible. We add placement, gating, preemption and fail-safe logic</a:t>
            </a:r>
            <a:endParaRPr lang="en-US" sz="1200" dirty="0"/>
          </a:p>
        </p:txBody>
      </p:sp>
      <p:sp>
        <p:nvSpPr>
          <p:cNvPr id="31" name="Text 25"/>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 [11] JAMRIS 2025, doi:10.14313/jamris-2025-018</a:t>
            </a:r>
            <a:endParaRPr lang="en-US" sz="950" dirty="0"/>
          </a:p>
        </p:txBody>
      </p:sp>
      <p:sp>
        <p:nvSpPr>
          <p:cNvPr id="32" name="Text 26"/>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4 / 14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F2A300"/>
          </a:solidFill>
          <a:ln w="12700">
            <a:solidFill>
              <a:srgbClr val="F2A300"/>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LITERATURE REVIEW  |  BASE PAPER 2 OF 6</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300" b="1" dirty="0">
                <a:solidFill>
                  <a:srgbClr val="14213D"/>
                </a:solidFill>
                <a:latin typeface="Cambria" pitchFamily="34" charset="0"/>
                <a:ea typeface="Cambria" pitchFamily="34" charset="-122"/>
                <a:cs typeface="Cambria" pitchFamily="34" charset="-120"/>
              </a:rPr>
              <a:t>Intelligent Traffic Light Control System for Emergency Vehicles Using Deep Learning and Signal Synchronization</a:t>
            </a:r>
            <a:endParaRPr lang="en-US" sz="2300" dirty="0"/>
          </a:p>
        </p:txBody>
      </p:sp>
      <p:sp>
        <p:nvSpPr>
          <p:cNvPr id="5" name="Shape 3"/>
          <p:cNvSpPr/>
          <p:nvPr/>
        </p:nvSpPr>
        <p:spPr>
          <a:xfrm>
            <a:off x="548640" y="1609344"/>
            <a:ext cx="11094415" cy="822960"/>
          </a:xfrm>
          <a:prstGeom prst="roundRect">
            <a:avLst>
              <a:gd name="adj" fmla="val 8889"/>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Text 4"/>
          <p:cNvSpPr txBox="1"/>
          <p:nvPr/>
        </p:nvSpPr>
        <p:spPr>
          <a:xfrm>
            <a:off x="777240" y="1682496"/>
            <a:ext cx="6309360" cy="676656"/>
          </a:xfrm>
          <a:prstGeom prst="rect">
            <a:avLst/>
          </a:prstGeom>
          <a:noFill/>
          <a:ln/>
        </p:spPr>
        <p:txBody>
          <a:bodyPr wrap="square" lIns="0" tIns="0" rIns="0" bIns="0" rtlCol="0" anchor="ctr"/>
          <a:lstStyle/>
          <a:p>
            <a:pPr indent="0" marL="0">
              <a:buNone/>
            </a:pPr>
            <a:r>
              <a:rPr lang="en-US" sz="1100" b="1" dirty="0">
                <a:solidFill>
                  <a:srgbClr val="1B2437"/>
                </a:solidFill>
                <a:latin typeface="Calibri" pitchFamily="34" charset="0"/>
                <a:ea typeface="Calibri" pitchFamily="34" charset="-122"/>
                <a:cs typeface="Calibri" pitchFamily="34" charset="-120"/>
              </a:rPr>
              <a:t>ResearchGate publication, 15 December 2025</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Deep-learning detection plus traffic-signal synchronisation across intersections</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[12]</a:t>
            </a:r>
            <a:endParaRPr lang="en-US" sz="1100" dirty="0"/>
          </a:p>
        </p:txBody>
      </p:sp>
      <p:sp>
        <p:nvSpPr>
          <p:cNvPr id="7" name="Shape 5"/>
          <p:cNvSpPr/>
          <p:nvPr/>
        </p:nvSpPr>
        <p:spPr>
          <a:xfrm>
            <a:off x="7299655" y="1682496"/>
            <a:ext cx="2011680" cy="676656"/>
          </a:xfrm>
          <a:prstGeom prst="roundRect">
            <a:avLst>
              <a:gd name="adj" fmla="val 10811"/>
            </a:avLst>
          </a:prstGeom>
          <a:solidFill>
            <a:srgbClr val="EAEFF7"/>
          </a:solidFill>
          <a:ln w="12700">
            <a:solidFill>
              <a:srgbClr val="EAEFF7"/>
            </a:solidFill>
            <a:prstDash val="solid"/>
          </a:ln>
        </p:spPr>
      </p:sp>
      <p:sp>
        <p:nvSpPr>
          <p:cNvPr id="8" name="Text 6"/>
          <p:cNvSpPr txBox="1"/>
          <p:nvPr/>
        </p:nvSpPr>
        <p:spPr>
          <a:xfrm>
            <a:off x="740938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97.0%</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detection accuracy</a:t>
            </a:r>
            <a:endParaRPr lang="en-US" sz="1200" dirty="0"/>
          </a:p>
        </p:txBody>
      </p:sp>
      <p:sp>
        <p:nvSpPr>
          <p:cNvPr id="9" name="Shape 7"/>
          <p:cNvSpPr/>
          <p:nvPr/>
        </p:nvSpPr>
        <p:spPr>
          <a:xfrm>
            <a:off x="9448495" y="1682496"/>
            <a:ext cx="2011680" cy="676656"/>
          </a:xfrm>
          <a:prstGeom prst="roundRect">
            <a:avLst>
              <a:gd name="adj" fmla="val 10811"/>
            </a:avLst>
          </a:prstGeom>
          <a:solidFill>
            <a:srgbClr val="EAEFF7"/>
          </a:solidFill>
          <a:ln w="12700">
            <a:solidFill>
              <a:srgbClr val="EAEFF7"/>
            </a:solidFill>
            <a:prstDash val="solid"/>
          </a:ln>
        </p:spPr>
      </p:sp>
      <p:sp>
        <p:nvSpPr>
          <p:cNvPr id="10" name="Text 8"/>
          <p:cNvSpPr txBox="1"/>
          <p:nvPr/>
        </p:nvSpPr>
        <p:spPr>
          <a:xfrm>
            <a:off x="955822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2 modules</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detect + synchronise</a:t>
            </a:r>
            <a:endParaRPr lang="en-US" sz="1200" dirty="0"/>
          </a:p>
        </p:txBody>
      </p:sp>
      <p:sp>
        <p:nvSpPr>
          <p:cNvPr id="11" name="Shape 9"/>
          <p:cNvSpPr/>
          <p:nvPr/>
        </p:nvSpPr>
        <p:spPr>
          <a:xfrm>
            <a:off x="548640"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2" name="Shape 10"/>
          <p:cNvSpPr/>
          <p:nvPr/>
        </p:nvSpPr>
        <p:spPr>
          <a:xfrm>
            <a:off x="731520" y="2734056"/>
            <a:ext cx="365760" cy="365760"/>
          </a:xfrm>
          <a:prstGeom prst="ellipse">
            <a:avLst/>
          </a:prstGeom>
          <a:solidFill>
            <a:srgbClr val="14213D"/>
          </a:solidFill>
          <a:ln w="12700">
            <a:solidFill>
              <a:srgbClr val="14213D"/>
            </a:solidFill>
            <a:prstDash val="solid"/>
          </a:ln>
        </p:spPr>
      </p:sp>
      <p:pic>
        <p:nvPicPr>
          <p:cNvPr id="13" name="Image 0" descr="preencoded.png">    </p:cNvPr>
          <p:cNvPicPr>
            <a:picLocks noChangeAspect="1"/>
          </p:cNvPicPr>
          <p:nvPr/>
        </p:nvPicPr>
        <p:blipFill>
          <a:blip r:embed="rId1"/>
          <a:stretch>
            <a:fillRect/>
          </a:stretch>
        </p:blipFill>
        <p:spPr>
          <a:xfrm>
            <a:off x="822960" y="2825496"/>
            <a:ext cx="182880" cy="182880"/>
          </a:xfrm>
          <a:prstGeom prst="rect">
            <a:avLst/>
          </a:prstGeom>
        </p:spPr>
      </p:pic>
      <p:sp>
        <p:nvSpPr>
          <p:cNvPr id="14" name="Text 11"/>
          <p:cNvSpPr txBox="1"/>
          <p:nvPr/>
        </p:nvSpPr>
        <p:spPr>
          <a:xfrm>
            <a:off x="1207008" y="2734056"/>
            <a:ext cx="4641952" cy="36576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Setup and dataset</a:t>
            </a:r>
            <a:endParaRPr lang="en-US" sz="1350" dirty="0"/>
          </a:p>
        </p:txBody>
      </p:sp>
      <p:sp>
        <p:nvSpPr>
          <p:cNvPr id="15" name="Text 12"/>
          <p:cNvSpPr txBox="1"/>
          <p:nvPr/>
        </p:nvSpPr>
        <p:spPr>
          <a:xfrm>
            <a:off x="777240"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Module 1: CNN-based emergency-vehicle detector trained on a "curated dataset" (not named); YOLO on a Raspberry Pi 5 per our reading</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Module 2: signal timing adjusted from detection, speed limits and traffic density</a:t>
            </a:r>
            <a:endParaRPr lang="en-US" sz="1200" dirty="0"/>
          </a:p>
        </p:txBody>
      </p:sp>
      <p:sp>
        <p:nvSpPr>
          <p:cNvPr id="16" name="Shape 13"/>
          <p:cNvSpPr/>
          <p:nvPr/>
        </p:nvSpPr>
        <p:spPr>
          <a:xfrm>
            <a:off x="6178144"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7" name="Shape 14"/>
          <p:cNvSpPr/>
          <p:nvPr/>
        </p:nvSpPr>
        <p:spPr>
          <a:xfrm>
            <a:off x="6361024" y="2734056"/>
            <a:ext cx="365760" cy="365760"/>
          </a:xfrm>
          <a:prstGeom prst="ellipse">
            <a:avLst/>
          </a:prstGeom>
          <a:solidFill>
            <a:srgbClr val="17875B"/>
          </a:solidFill>
          <a:ln w="12700">
            <a:solidFill>
              <a:srgbClr val="17875B"/>
            </a:solidFill>
            <a:prstDash val="solid"/>
          </a:ln>
        </p:spPr>
      </p:sp>
      <p:pic>
        <p:nvPicPr>
          <p:cNvPr id="18" name="Image 1" descr="preencoded.png">    </p:cNvPr>
          <p:cNvPicPr>
            <a:picLocks noChangeAspect="1"/>
          </p:cNvPicPr>
          <p:nvPr/>
        </p:nvPicPr>
        <p:blipFill>
          <a:blip r:embed="rId2"/>
          <a:stretch>
            <a:fillRect/>
          </a:stretch>
        </p:blipFill>
        <p:spPr>
          <a:xfrm>
            <a:off x="6452464" y="2825496"/>
            <a:ext cx="182880" cy="182880"/>
          </a:xfrm>
          <a:prstGeom prst="rect">
            <a:avLst/>
          </a:prstGeom>
        </p:spPr>
      </p:pic>
      <p:sp>
        <p:nvSpPr>
          <p:cNvPr id="19" name="Text 15"/>
          <p:cNvSpPr txBox="1"/>
          <p:nvPr/>
        </p:nvSpPr>
        <p:spPr>
          <a:xfrm>
            <a:off x="6836512" y="2734056"/>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Key contributions</a:t>
            </a:r>
            <a:endParaRPr lang="en-US" sz="1350" dirty="0"/>
          </a:p>
        </p:txBody>
      </p:sp>
      <p:sp>
        <p:nvSpPr>
          <p:cNvPr id="20" name="Text 16"/>
          <p:cNvSpPr txBox="1"/>
          <p:nvPr/>
        </p:nvSpPr>
        <p:spPr>
          <a:xfrm>
            <a:off x="6406744"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97.0% detection accuracy; better traffic-flow efficiency and emergency-vehicle clearance than conventional signals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Switches the matching approach to green automatically and synchronises signals across intersections</a:t>
            </a:r>
            <a:endParaRPr lang="en-US" sz="1200" dirty="0"/>
          </a:p>
        </p:txBody>
      </p:sp>
      <p:sp>
        <p:nvSpPr>
          <p:cNvPr id="21" name="Shape 17"/>
          <p:cNvSpPr/>
          <p:nvPr/>
        </p:nvSpPr>
        <p:spPr>
          <a:xfrm>
            <a:off x="548640" y="4526280"/>
            <a:ext cx="5464912" cy="1764792"/>
          </a:xfrm>
          <a:prstGeom prst="roundRect">
            <a:avLst>
              <a:gd name="adj" fmla="val 4145"/>
            </a:avLst>
          </a:prstGeom>
          <a:solidFill>
            <a:srgbClr val="FBE9EC"/>
          </a:solidFill>
          <a:ln w="12700">
            <a:solidFill>
              <a:srgbClr val="FBE9EC"/>
            </a:solidFill>
            <a:prstDash val="solid"/>
          </a:ln>
        </p:spPr>
      </p:sp>
      <p:sp>
        <p:nvSpPr>
          <p:cNvPr id="22" name="Shape 18"/>
          <p:cNvSpPr/>
          <p:nvPr/>
        </p:nvSpPr>
        <p:spPr>
          <a:xfrm>
            <a:off x="731520" y="4663440"/>
            <a:ext cx="365760" cy="365760"/>
          </a:xfrm>
          <a:prstGeom prst="ellipse">
            <a:avLst/>
          </a:prstGeom>
          <a:solidFill>
            <a:srgbClr val="D62839"/>
          </a:solidFill>
          <a:ln w="12700">
            <a:solidFill>
              <a:srgbClr val="D62839"/>
            </a:solidFill>
            <a:prstDash val="solid"/>
          </a:ln>
        </p:spPr>
      </p:sp>
      <p:pic>
        <p:nvPicPr>
          <p:cNvPr id="23" name="Image 2" descr="preencoded.png">    </p:cNvPr>
          <p:cNvPicPr>
            <a:picLocks noChangeAspect="1"/>
          </p:cNvPicPr>
          <p:nvPr/>
        </p:nvPicPr>
        <p:blipFill>
          <a:blip r:embed="rId3"/>
          <a:stretch>
            <a:fillRect/>
          </a:stretch>
        </p:blipFill>
        <p:spPr>
          <a:xfrm>
            <a:off x="822960" y="4754880"/>
            <a:ext cx="182880" cy="182880"/>
          </a:xfrm>
          <a:prstGeom prst="rect">
            <a:avLst/>
          </a:prstGeom>
        </p:spPr>
      </p:pic>
      <p:sp>
        <p:nvSpPr>
          <p:cNvPr id="24" name="Text 19"/>
          <p:cNvSpPr txBox="1"/>
          <p:nvPr/>
        </p:nvSpPr>
        <p:spPr>
          <a:xfrm>
            <a:off x="1207008" y="4663440"/>
            <a:ext cx="4641952" cy="365760"/>
          </a:xfrm>
          <a:prstGeom prst="rect">
            <a:avLst/>
          </a:prstGeom>
          <a:noFill/>
          <a:ln/>
        </p:spPr>
        <p:txBody>
          <a:bodyPr wrap="square" lIns="0" tIns="0" rIns="0" bIns="0" rtlCol="0" anchor="ctr"/>
          <a:lstStyle/>
          <a:p>
            <a:pPr indent="0" marL="0">
              <a:buNone/>
            </a:pPr>
            <a:r>
              <a:rPr lang="en-US" sz="1350" b="1" dirty="0">
                <a:solidFill>
                  <a:srgbClr val="D62839"/>
                </a:solidFill>
                <a:latin typeface="Calibri" pitchFamily="34" charset="0"/>
                <a:ea typeface="Calibri" pitchFamily="34" charset="-122"/>
                <a:cs typeface="Calibri" pitchFamily="34" charset="-120"/>
              </a:rPr>
              <a:t>Limitations and gaps</a:t>
            </a:r>
            <a:endParaRPr lang="en-US" sz="1350" dirty="0"/>
          </a:p>
        </p:txBody>
      </p:sp>
      <p:sp>
        <p:nvSpPr>
          <p:cNvPr id="25" name="Text 20"/>
          <p:cNvSpPr txBox="1"/>
          <p:nvPr/>
        </p:nvSpPr>
        <p:spPr>
          <a:xfrm>
            <a:off x="777240"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Dataset not named; no adaptation to Pakistani liveries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Abstract is silent on camera lead time, false triggers and fail-safe reversion</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Cross-intersection synchronisation implies links between junctions; failure behaviour is not described</a:t>
            </a:r>
            <a:endParaRPr lang="en-US" sz="1200" dirty="0"/>
          </a:p>
        </p:txBody>
      </p:sp>
      <p:sp>
        <p:nvSpPr>
          <p:cNvPr id="26" name="Shape 21"/>
          <p:cNvSpPr/>
          <p:nvPr/>
        </p:nvSpPr>
        <p:spPr>
          <a:xfrm>
            <a:off x="6178144" y="4526280"/>
            <a:ext cx="5464912" cy="1764792"/>
          </a:xfrm>
          <a:prstGeom prst="roundRect">
            <a:avLst>
              <a:gd name="adj" fmla="val 4145"/>
            </a:avLst>
          </a:prstGeom>
          <a:solidFill>
            <a:srgbClr val="E3F3EA"/>
          </a:solidFill>
          <a:ln w="12700">
            <a:solidFill>
              <a:srgbClr val="E3F3EA"/>
            </a:solidFill>
            <a:prstDash val="solid"/>
          </a:ln>
        </p:spPr>
      </p:sp>
      <p:sp>
        <p:nvSpPr>
          <p:cNvPr id="27" name="Shape 22"/>
          <p:cNvSpPr/>
          <p:nvPr/>
        </p:nvSpPr>
        <p:spPr>
          <a:xfrm>
            <a:off x="6361024" y="4663440"/>
            <a:ext cx="365760" cy="365760"/>
          </a:xfrm>
          <a:prstGeom prst="ellipse">
            <a:avLst/>
          </a:prstGeom>
          <a:solidFill>
            <a:srgbClr val="9A6700"/>
          </a:solidFill>
          <a:ln w="12700">
            <a:solidFill>
              <a:srgbClr val="9A6700"/>
            </a:solidFill>
            <a:prstDash val="solid"/>
          </a:ln>
        </p:spPr>
      </p:sp>
      <p:pic>
        <p:nvPicPr>
          <p:cNvPr id="28" name="Image 3" descr="preencoded.png">    </p:cNvPr>
          <p:cNvPicPr>
            <a:picLocks noChangeAspect="1"/>
          </p:cNvPicPr>
          <p:nvPr/>
        </p:nvPicPr>
        <p:blipFill>
          <a:blip r:embed="rId4"/>
          <a:stretch>
            <a:fillRect/>
          </a:stretch>
        </p:blipFill>
        <p:spPr>
          <a:xfrm>
            <a:off x="6452464" y="4754880"/>
            <a:ext cx="182880" cy="182880"/>
          </a:xfrm>
          <a:prstGeom prst="rect">
            <a:avLst/>
          </a:prstGeom>
        </p:spPr>
      </p:pic>
      <p:sp>
        <p:nvSpPr>
          <p:cNvPr id="29" name="Text 23"/>
          <p:cNvSpPr txBox="1"/>
          <p:nvPr/>
        </p:nvSpPr>
        <p:spPr>
          <a:xfrm>
            <a:off x="6836512" y="4663440"/>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Future path and our takeaway</a:t>
            </a:r>
            <a:endParaRPr lang="en-US" sz="1350" dirty="0"/>
          </a:p>
        </p:txBody>
      </p:sp>
      <p:sp>
        <p:nvSpPr>
          <p:cNvPr id="30" name="Text 24"/>
          <p:cNvSpPr txBox="1"/>
          <p:nvPr/>
        </p:nvSpPr>
        <p:spPr>
          <a:xfrm>
            <a:off x="6406744"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Authors' future work: not stated in the abstract we could access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Our takeaway: camera-triggered green works. We keep every intersection independent and add fail-safe and latency-budget analysis</a:t>
            </a:r>
            <a:endParaRPr lang="en-US" sz="1200" dirty="0"/>
          </a:p>
        </p:txBody>
      </p:sp>
      <p:sp>
        <p:nvSpPr>
          <p:cNvPr id="31" name="Text 25"/>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 [12] ResearchGate, 15 Dec 2025 (abstract-level)</a:t>
            </a:r>
            <a:endParaRPr lang="en-US" sz="950" dirty="0"/>
          </a:p>
        </p:txBody>
      </p:sp>
      <p:sp>
        <p:nvSpPr>
          <p:cNvPr id="32" name="Text 26"/>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5 / 14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F2A300"/>
          </a:solidFill>
          <a:ln w="12700">
            <a:solidFill>
              <a:srgbClr val="F2A300"/>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LITERATURE REVIEW  |  BASE PAPER 3 OF 6</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Object Detection for Vehicles with YOLO</a:t>
            </a:r>
            <a:endParaRPr lang="en-US" sz="2600" dirty="0"/>
          </a:p>
        </p:txBody>
      </p:sp>
      <p:sp>
        <p:nvSpPr>
          <p:cNvPr id="5" name="Shape 3"/>
          <p:cNvSpPr/>
          <p:nvPr/>
        </p:nvSpPr>
        <p:spPr>
          <a:xfrm>
            <a:off x="548640" y="1609344"/>
            <a:ext cx="11094415" cy="822960"/>
          </a:xfrm>
          <a:prstGeom prst="roundRect">
            <a:avLst>
              <a:gd name="adj" fmla="val 8889"/>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Text 4"/>
          <p:cNvSpPr txBox="1"/>
          <p:nvPr/>
        </p:nvSpPr>
        <p:spPr>
          <a:xfrm>
            <a:off x="777240" y="1682496"/>
            <a:ext cx="6309360" cy="676656"/>
          </a:xfrm>
          <a:prstGeom prst="rect">
            <a:avLst/>
          </a:prstGeom>
          <a:noFill/>
          <a:ln/>
        </p:spPr>
        <p:txBody>
          <a:bodyPr wrap="square" lIns="0" tIns="0" rIns="0" bIns="0" rtlCol="0" anchor="ctr"/>
          <a:lstStyle/>
          <a:p>
            <a:pPr indent="0" marL="0">
              <a:buNone/>
            </a:pPr>
            <a:r>
              <a:rPr lang="en-US" sz="1100" b="1" dirty="0">
                <a:solidFill>
                  <a:srgbClr val="1B2437"/>
                </a:solidFill>
                <a:latin typeface="Calibri" pitchFamily="34" charset="0"/>
                <a:ea typeface="Calibri" pitchFamily="34" charset="-122"/>
                <a:cs typeface="Calibri" pitchFamily="34" charset="-120"/>
              </a:rPr>
              <a:t>P. Maleki, A. Ramazani, H. Khotanlou, S. Ojaghi, M. Mousavi, A. Kalinin, A. Mosavi</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22nd IEEE World Symposium on Applied Machine Intelligence and Informatics (SAMI), 2024</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doi:10.1109/SAMI60510.2024.10432884   [13]</a:t>
            </a:r>
            <a:endParaRPr lang="en-US" sz="1100" dirty="0"/>
          </a:p>
        </p:txBody>
      </p:sp>
      <p:sp>
        <p:nvSpPr>
          <p:cNvPr id="7" name="Shape 5"/>
          <p:cNvSpPr/>
          <p:nvPr/>
        </p:nvSpPr>
        <p:spPr>
          <a:xfrm>
            <a:off x="7299655" y="1682496"/>
            <a:ext cx="2011680" cy="676656"/>
          </a:xfrm>
          <a:prstGeom prst="roundRect">
            <a:avLst>
              <a:gd name="adj" fmla="val 10811"/>
            </a:avLst>
          </a:prstGeom>
          <a:solidFill>
            <a:srgbClr val="EAEFF7"/>
          </a:solidFill>
          <a:ln w="12700">
            <a:solidFill>
              <a:srgbClr val="EAEFF7"/>
            </a:solidFill>
            <a:prstDash val="solid"/>
          </a:ln>
        </p:spPr>
      </p:sp>
      <p:sp>
        <p:nvSpPr>
          <p:cNvPr id="8" name="Text 6"/>
          <p:cNvSpPr txBox="1"/>
          <p:nvPr/>
        </p:nvSpPr>
        <p:spPr>
          <a:xfrm>
            <a:off x="740938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29,759</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labelled images, 7 classes</a:t>
            </a:r>
            <a:endParaRPr lang="en-US" sz="1200" dirty="0"/>
          </a:p>
        </p:txBody>
      </p:sp>
      <p:sp>
        <p:nvSpPr>
          <p:cNvPr id="9" name="Shape 7"/>
          <p:cNvSpPr/>
          <p:nvPr/>
        </p:nvSpPr>
        <p:spPr>
          <a:xfrm>
            <a:off x="9448495" y="1682496"/>
            <a:ext cx="2011680" cy="676656"/>
          </a:xfrm>
          <a:prstGeom prst="roundRect">
            <a:avLst>
              <a:gd name="adj" fmla="val 10811"/>
            </a:avLst>
          </a:prstGeom>
          <a:solidFill>
            <a:srgbClr val="EAEFF7"/>
          </a:solidFill>
          <a:ln w="12700">
            <a:solidFill>
              <a:srgbClr val="EAEFF7"/>
            </a:solidFill>
            <a:prstDash val="solid"/>
          </a:ln>
        </p:spPr>
      </p:sp>
      <p:sp>
        <p:nvSpPr>
          <p:cNvPr id="10" name="Text 8"/>
          <p:cNvSpPr txBox="1"/>
          <p:nvPr/>
        </p:nvSpPr>
        <p:spPr>
          <a:xfrm>
            <a:off x="955822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85%</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mAP@0.5 (YOLOv7)</a:t>
            </a:r>
            <a:endParaRPr lang="en-US" sz="1200" dirty="0"/>
          </a:p>
        </p:txBody>
      </p:sp>
      <p:sp>
        <p:nvSpPr>
          <p:cNvPr id="11" name="Shape 9"/>
          <p:cNvSpPr/>
          <p:nvPr/>
        </p:nvSpPr>
        <p:spPr>
          <a:xfrm>
            <a:off x="548640"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2" name="Shape 10"/>
          <p:cNvSpPr/>
          <p:nvPr/>
        </p:nvSpPr>
        <p:spPr>
          <a:xfrm>
            <a:off x="731520" y="2734056"/>
            <a:ext cx="365760" cy="365760"/>
          </a:xfrm>
          <a:prstGeom prst="ellipse">
            <a:avLst/>
          </a:prstGeom>
          <a:solidFill>
            <a:srgbClr val="14213D"/>
          </a:solidFill>
          <a:ln w="12700">
            <a:solidFill>
              <a:srgbClr val="14213D"/>
            </a:solidFill>
            <a:prstDash val="solid"/>
          </a:ln>
        </p:spPr>
      </p:sp>
      <p:pic>
        <p:nvPicPr>
          <p:cNvPr id="13" name="Image 0" descr="preencoded.png">    </p:cNvPr>
          <p:cNvPicPr>
            <a:picLocks noChangeAspect="1"/>
          </p:cNvPicPr>
          <p:nvPr/>
        </p:nvPicPr>
        <p:blipFill>
          <a:blip r:embed="rId1"/>
          <a:stretch>
            <a:fillRect/>
          </a:stretch>
        </p:blipFill>
        <p:spPr>
          <a:xfrm>
            <a:off x="822960" y="2825496"/>
            <a:ext cx="182880" cy="182880"/>
          </a:xfrm>
          <a:prstGeom prst="rect">
            <a:avLst/>
          </a:prstGeom>
        </p:spPr>
      </p:pic>
      <p:sp>
        <p:nvSpPr>
          <p:cNvPr id="14" name="Text 11"/>
          <p:cNvSpPr txBox="1"/>
          <p:nvPr/>
        </p:nvSpPr>
        <p:spPr>
          <a:xfrm>
            <a:off x="1207008" y="2734056"/>
            <a:ext cx="4641952" cy="36576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Setup and dataset</a:t>
            </a:r>
            <a:endParaRPr lang="en-US" sz="1350" dirty="0"/>
          </a:p>
        </p:txBody>
      </p:sp>
      <p:sp>
        <p:nvSpPr>
          <p:cNvPr id="15" name="Text 12"/>
          <p:cNvSpPr txBox="1"/>
          <p:nvPr/>
        </p:nvSpPr>
        <p:spPr>
          <a:xfrm>
            <a:off x="777240"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"Vehicle Dataset": 29,759 images from free online sources; 7 classes incl. ambulance and fire truck</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Split 25,369 train / 2,896 validation / 1,494 test; YOLOv5, YOLOv6 and YOLOv7 compared</a:t>
            </a:r>
            <a:endParaRPr lang="en-US" sz="1200" dirty="0"/>
          </a:p>
        </p:txBody>
      </p:sp>
      <p:sp>
        <p:nvSpPr>
          <p:cNvPr id="16" name="Shape 13"/>
          <p:cNvSpPr/>
          <p:nvPr/>
        </p:nvSpPr>
        <p:spPr>
          <a:xfrm>
            <a:off x="6178144"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7" name="Shape 14"/>
          <p:cNvSpPr/>
          <p:nvPr/>
        </p:nvSpPr>
        <p:spPr>
          <a:xfrm>
            <a:off x="6361024" y="2734056"/>
            <a:ext cx="365760" cy="365760"/>
          </a:xfrm>
          <a:prstGeom prst="ellipse">
            <a:avLst/>
          </a:prstGeom>
          <a:solidFill>
            <a:srgbClr val="17875B"/>
          </a:solidFill>
          <a:ln w="12700">
            <a:solidFill>
              <a:srgbClr val="17875B"/>
            </a:solidFill>
            <a:prstDash val="solid"/>
          </a:ln>
        </p:spPr>
      </p:sp>
      <p:pic>
        <p:nvPicPr>
          <p:cNvPr id="18" name="Image 1" descr="preencoded.png">    </p:cNvPr>
          <p:cNvPicPr>
            <a:picLocks noChangeAspect="1"/>
          </p:cNvPicPr>
          <p:nvPr/>
        </p:nvPicPr>
        <p:blipFill>
          <a:blip r:embed="rId2"/>
          <a:stretch>
            <a:fillRect/>
          </a:stretch>
        </p:blipFill>
        <p:spPr>
          <a:xfrm>
            <a:off x="6452464" y="2825496"/>
            <a:ext cx="182880" cy="182880"/>
          </a:xfrm>
          <a:prstGeom prst="rect">
            <a:avLst/>
          </a:prstGeom>
        </p:spPr>
      </p:pic>
      <p:sp>
        <p:nvSpPr>
          <p:cNvPr id="19" name="Text 15"/>
          <p:cNvSpPr txBox="1"/>
          <p:nvPr/>
        </p:nvSpPr>
        <p:spPr>
          <a:xfrm>
            <a:off x="6836512" y="2734056"/>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Key contributions</a:t>
            </a:r>
            <a:endParaRPr lang="en-US" sz="1350" dirty="0"/>
          </a:p>
        </p:txBody>
      </p:sp>
      <p:sp>
        <p:nvSpPr>
          <p:cNvPr id="20" name="Text 16"/>
          <p:cNvSpPr txBox="1"/>
          <p:nvPr/>
        </p:nvSpPr>
        <p:spPr>
          <a:xfrm>
            <a:off x="6406744"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Public benchmark with explicit emergency-vehicle classes, aimed at urban traffic management</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Best model YOLOv7: 85% precision, 85% mAP@0.5 and 64% mAP over IoU 0.5 to 0.9</a:t>
            </a:r>
            <a:endParaRPr lang="en-US" sz="1200" dirty="0"/>
          </a:p>
        </p:txBody>
      </p:sp>
      <p:sp>
        <p:nvSpPr>
          <p:cNvPr id="21" name="Shape 17"/>
          <p:cNvSpPr/>
          <p:nvPr/>
        </p:nvSpPr>
        <p:spPr>
          <a:xfrm>
            <a:off x="548640" y="4526280"/>
            <a:ext cx="5464912" cy="1764792"/>
          </a:xfrm>
          <a:prstGeom prst="roundRect">
            <a:avLst>
              <a:gd name="adj" fmla="val 4145"/>
            </a:avLst>
          </a:prstGeom>
          <a:solidFill>
            <a:srgbClr val="FBE9EC"/>
          </a:solidFill>
          <a:ln w="12700">
            <a:solidFill>
              <a:srgbClr val="FBE9EC"/>
            </a:solidFill>
            <a:prstDash val="solid"/>
          </a:ln>
        </p:spPr>
      </p:sp>
      <p:sp>
        <p:nvSpPr>
          <p:cNvPr id="22" name="Shape 18"/>
          <p:cNvSpPr/>
          <p:nvPr/>
        </p:nvSpPr>
        <p:spPr>
          <a:xfrm>
            <a:off x="731520" y="4663440"/>
            <a:ext cx="365760" cy="365760"/>
          </a:xfrm>
          <a:prstGeom prst="ellipse">
            <a:avLst/>
          </a:prstGeom>
          <a:solidFill>
            <a:srgbClr val="D62839"/>
          </a:solidFill>
          <a:ln w="12700">
            <a:solidFill>
              <a:srgbClr val="D62839"/>
            </a:solidFill>
            <a:prstDash val="solid"/>
          </a:ln>
        </p:spPr>
      </p:sp>
      <p:pic>
        <p:nvPicPr>
          <p:cNvPr id="23" name="Image 2" descr="preencoded.png">    </p:cNvPr>
          <p:cNvPicPr>
            <a:picLocks noChangeAspect="1"/>
          </p:cNvPicPr>
          <p:nvPr/>
        </p:nvPicPr>
        <p:blipFill>
          <a:blip r:embed="rId3"/>
          <a:stretch>
            <a:fillRect/>
          </a:stretch>
        </p:blipFill>
        <p:spPr>
          <a:xfrm>
            <a:off x="822960" y="4754880"/>
            <a:ext cx="182880" cy="182880"/>
          </a:xfrm>
          <a:prstGeom prst="rect">
            <a:avLst/>
          </a:prstGeom>
        </p:spPr>
      </p:pic>
      <p:sp>
        <p:nvSpPr>
          <p:cNvPr id="24" name="Text 19"/>
          <p:cNvSpPr txBox="1"/>
          <p:nvPr/>
        </p:nvSpPr>
        <p:spPr>
          <a:xfrm>
            <a:off x="1207008" y="4663440"/>
            <a:ext cx="4641952" cy="365760"/>
          </a:xfrm>
          <a:prstGeom prst="rect">
            <a:avLst/>
          </a:prstGeom>
          <a:noFill/>
          <a:ln/>
        </p:spPr>
        <p:txBody>
          <a:bodyPr wrap="square" lIns="0" tIns="0" rIns="0" bIns="0" rtlCol="0" anchor="ctr"/>
          <a:lstStyle/>
          <a:p>
            <a:pPr indent="0" marL="0">
              <a:buNone/>
            </a:pPr>
            <a:r>
              <a:rPr lang="en-US" sz="1350" b="1" dirty="0">
                <a:solidFill>
                  <a:srgbClr val="D62839"/>
                </a:solidFill>
                <a:latin typeface="Calibri" pitchFamily="34" charset="0"/>
                <a:ea typeface="Calibri" pitchFamily="34" charset="-122"/>
                <a:cs typeface="Calibri" pitchFamily="34" charset="-120"/>
              </a:rPr>
              <a:t>Limitations and gaps</a:t>
            </a:r>
            <a:endParaRPr lang="en-US" sz="1350" dirty="0"/>
          </a:p>
        </p:txBody>
      </p:sp>
      <p:sp>
        <p:nvSpPr>
          <p:cNvPr id="25" name="Text 20"/>
          <p:cNvSpPr txBox="1"/>
          <p:nvPr/>
        </p:nvSpPr>
        <p:spPr>
          <a:xfrm>
            <a:off x="777240"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Web-sourced images: not Pakistani vehicles and not fixed upstream-camera views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Detection benchmark only: no tracking, control loop or latency budget; YOLOv8 not evaluated</a:t>
            </a:r>
            <a:endParaRPr lang="en-US" sz="1200" dirty="0"/>
          </a:p>
        </p:txBody>
      </p:sp>
      <p:sp>
        <p:nvSpPr>
          <p:cNvPr id="26" name="Shape 21"/>
          <p:cNvSpPr/>
          <p:nvPr/>
        </p:nvSpPr>
        <p:spPr>
          <a:xfrm>
            <a:off x="6178144" y="4526280"/>
            <a:ext cx="5464912" cy="1764792"/>
          </a:xfrm>
          <a:prstGeom prst="roundRect">
            <a:avLst>
              <a:gd name="adj" fmla="val 4145"/>
            </a:avLst>
          </a:prstGeom>
          <a:solidFill>
            <a:srgbClr val="E3F3EA"/>
          </a:solidFill>
          <a:ln w="12700">
            <a:solidFill>
              <a:srgbClr val="E3F3EA"/>
            </a:solidFill>
            <a:prstDash val="solid"/>
          </a:ln>
        </p:spPr>
      </p:sp>
      <p:sp>
        <p:nvSpPr>
          <p:cNvPr id="27" name="Shape 22"/>
          <p:cNvSpPr/>
          <p:nvPr/>
        </p:nvSpPr>
        <p:spPr>
          <a:xfrm>
            <a:off x="6361024" y="4663440"/>
            <a:ext cx="365760" cy="365760"/>
          </a:xfrm>
          <a:prstGeom prst="ellipse">
            <a:avLst/>
          </a:prstGeom>
          <a:solidFill>
            <a:srgbClr val="9A6700"/>
          </a:solidFill>
          <a:ln w="12700">
            <a:solidFill>
              <a:srgbClr val="9A6700"/>
            </a:solidFill>
            <a:prstDash val="solid"/>
          </a:ln>
        </p:spPr>
      </p:sp>
      <p:pic>
        <p:nvPicPr>
          <p:cNvPr id="28" name="Image 3" descr="preencoded.png">    </p:cNvPr>
          <p:cNvPicPr>
            <a:picLocks noChangeAspect="1"/>
          </p:cNvPicPr>
          <p:nvPr/>
        </p:nvPicPr>
        <p:blipFill>
          <a:blip r:embed="rId4"/>
          <a:stretch>
            <a:fillRect/>
          </a:stretch>
        </p:blipFill>
        <p:spPr>
          <a:xfrm>
            <a:off x="6452464" y="4754880"/>
            <a:ext cx="182880" cy="182880"/>
          </a:xfrm>
          <a:prstGeom prst="rect">
            <a:avLst/>
          </a:prstGeom>
        </p:spPr>
      </p:pic>
      <p:sp>
        <p:nvSpPr>
          <p:cNvPr id="29" name="Text 23"/>
          <p:cNvSpPr txBox="1"/>
          <p:nvPr/>
        </p:nvSpPr>
        <p:spPr>
          <a:xfrm>
            <a:off x="6836512" y="4663440"/>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Future path and our takeaway</a:t>
            </a:r>
            <a:endParaRPr lang="en-US" sz="1350" dirty="0"/>
          </a:p>
        </p:txBody>
      </p:sp>
      <p:sp>
        <p:nvSpPr>
          <p:cNvPr id="30" name="Text 24"/>
          <p:cNvSpPr txBox="1"/>
          <p:nvPr/>
        </p:nvSpPr>
        <p:spPr>
          <a:xfrm>
            <a:off x="6406744"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Authors' future work: not stated in the abstract</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Our takeaway: primary Stage-1 dataset. We fine-tune YOLOv8n and benchmark against this 85% / 85% YOLOv7 baseline</a:t>
            </a:r>
            <a:endParaRPr lang="en-US" sz="1200" dirty="0"/>
          </a:p>
        </p:txBody>
      </p:sp>
      <p:sp>
        <p:nvSpPr>
          <p:cNvPr id="31" name="Text 25"/>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 [13] IEEE SAMI 2024, doi:10.1109/SAMI60510.2024.10432884</a:t>
            </a:r>
            <a:endParaRPr lang="en-US" sz="950" dirty="0"/>
          </a:p>
        </p:txBody>
      </p:sp>
      <p:sp>
        <p:nvSpPr>
          <p:cNvPr id="32" name="Text 26"/>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6 / 14</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F2A300"/>
          </a:solidFill>
          <a:ln w="12700">
            <a:solidFill>
              <a:srgbClr val="F2A300"/>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LITERATURE REVIEW  |  BASE PAPER 4 OF 6</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300" b="1" dirty="0">
                <a:solidFill>
                  <a:srgbClr val="14213D"/>
                </a:solidFill>
                <a:latin typeface="Cambria" pitchFamily="34" charset="0"/>
                <a:ea typeface="Cambria" pitchFamily="34" charset="-122"/>
                <a:cs typeface="Cambria" pitchFamily="34" charset="-120"/>
              </a:rPr>
              <a:t>Performance Analysis of YOLO-based Architectures for Vehicle Detection from Traffic Images in Bangladesh</a:t>
            </a:r>
            <a:endParaRPr lang="en-US" sz="2300" dirty="0"/>
          </a:p>
        </p:txBody>
      </p:sp>
      <p:sp>
        <p:nvSpPr>
          <p:cNvPr id="5" name="Shape 3"/>
          <p:cNvSpPr/>
          <p:nvPr/>
        </p:nvSpPr>
        <p:spPr>
          <a:xfrm>
            <a:off x="548640" y="1609344"/>
            <a:ext cx="11094415" cy="822960"/>
          </a:xfrm>
          <a:prstGeom prst="roundRect">
            <a:avLst>
              <a:gd name="adj" fmla="val 8889"/>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Text 4"/>
          <p:cNvSpPr txBox="1"/>
          <p:nvPr/>
        </p:nvSpPr>
        <p:spPr>
          <a:xfrm>
            <a:off x="777240" y="1682496"/>
            <a:ext cx="6309360" cy="676656"/>
          </a:xfrm>
          <a:prstGeom prst="rect">
            <a:avLst/>
          </a:prstGeom>
          <a:noFill/>
          <a:ln/>
        </p:spPr>
        <p:txBody>
          <a:bodyPr wrap="square" lIns="0" tIns="0" rIns="0" bIns="0" rtlCol="0" anchor="ctr"/>
          <a:lstStyle/>
          <a:p>
            <a:pPr indent="0" marL="0">
              <a:buNone/>
            </a:pPr>
            <a:r>
              <a:rPr lang="en-US" sz="1100" b="1" dirty="0">
                <a:solidFill>
                  <a:srgbClr val="1B2437"/>
                </a:solidFill>
                <a:latin typeface="Calibri" pitchFamily="34" charset="0"/>
                <a:ea typeface="Calibri" pitchFamily="34" charset="-122"/>
                <a:cs typeface="Calibri" pitchFamily="34" charset="-120"/>
              </a:rPr>
              <a:t>R. M. Alamgir, A. A. Shuvro, M. A. Mushabbir et al.</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25th International Conference on Computer and Information Technology (ICCIT), 2022</a:t>
            </a:r>
            <a:endParaRPr lang="en-US" sz="1100" dirty="0"/>
          </a:p>
          <a:p>
            <a:pPr indent="0" marL="0">
              <a:buNone/>
            </a:pPr>
            <a:r>
              <a:rPr lang="en-US" sz="1100" dirty="0">
                <a:solidFill>
                  <a:srgbClr val="5B6B82"/>
                </a:solidFill>
                <a:latin typeface="Calibri" pitchFamily="34" charset="0"/>
                <a:ea typeface="Calibri" pitchFamily="34" charset="-122"/>
                <a:cs typeface="Calibri" pitchFamily="34" charset="-120"/>
              </a:rPr>
              <a:t>arXiv:2212.09144   [19]</a:t>
            </a:r>
            <a:endParaRPr lang="en-US" sz="1100" dirty="0"/>
          </a:p>
        </p:txBody>
      </p:sp>
      <p:sp>
        <p:nvSpPr>
          <p:cNvPr id="7" name="Shape 5"/>
          <p:cNvSpPr/>
          <p:nvPr/>
        </p:nvSpPr>
        <p:spPr>
          <a:xfrm>
            <a:off x="7299655" y="1682496"/>
            <a:ext cx="2011680" cy="676656"/>
          </a:xfrm>
          <a:prstGeom prst="roundRect">
            <a:avLst>
              <a:gd name="adj" fmla="val 10811"/>
            </a:avLst>
          </a:prstGeom>
          <a:solidFill>
            <a:srgbClr val="EAEFF7"/>
          </a:solidFill>
          <a:ln w="12700">
            <a:solidFill>
              <a:srgbClr val="EAEFF7"/>
            </a:solidFill>
            <a:prstDash val="solid"/>
          </a:ln>
        </p:spPr>
      </p:sp>
      <p:sp>
        <p:nvSpPr>
          <p:cNvPr id="8" name="Text 6"/>
          <p:cNvSpPr txBox="1"/>
          <p:nvPr/>
        </p:nvSpPr>
        <p:spPr>
          <a:xfrm>
            <a:off x="740938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7,390</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images, 21 vehicle types</a:t>
            </a:r>
            <a:endParaRPr lang="en-US" sz="1200" dirty="0"/>
          </a:p>
        </p:txBody>
      </p:sp>
      <p:sp>
        <p:nvSpPr>
          <p:cNvPr id="9" name="Shape 7"/>
          <p:cNvSpPr/>
          <p:nvPr/>
        </p:nvSpPr>
        <p:spPr>
          <a:xfrm>
            <a:off x="9448495" y="1682496"/>
            <a:ext cx="2011680" cy="676656"/>
          </a:xfrm>
          <a:prstGeom prst="roundRect">
            <a:avLst>
              <a:gd name="adj" fmla="val 10811"/>
            </a:avLst>
          </a:prstGeom>
          <a:solidFill>
            <a:srgbClr val="EAEFF7"/>
          </a:solidFill>
          <a:ln w="12700">
            <a:solidFill>
              <a:srgbClr val="EAEFF7"/>
            </a:solidFill>
            <a:prstDash val="solid"/>
          </a:ln>
        </p:spPr>
      </p:sp>
      <p:sp>
        <p:nvSpPr>
          <p:cNvPr id="10" name="Text 8"/>
          <p:cNvSpPr txBox="1"/>
          <p:nvPr/>
        </p:nvSpPr>
        <p:spPr>
          <a:xfrm>
            <a:off x="9558223" y="1709928"/>
            <a:ext cx="1792224" cy="621792"/>
          </a:xfrm>
          <a:prstGeom prst="rect">
            <a:avLst/>
          </a:prstGeom>
          <a:noFill/>
          <a:ln/>
        </p:spPr>
        <p:txBody>
          <a:bodyPr wrap="square" lIns="0" tIns="0" rIns="0" bIns="0" rtlCol="0" anchor="ctr"/>
          <a:lstStyle/>
          <a:p>
            <a:pPr algn="ctr" indent="0" marL="0">
              <a:buNone/>
            </a:pPr>
            <a:r>
              <a:rPr lang="en-US" sz="2100" b="1" dirty="0">
                <a:solidFill>
                  <a:srgbClr val="14213D"/>
                </a:solidFill>
                <a:latin typeface="Cambria" pitchFamily="34" charset="0"/>
                <a:ea typeface="Cambria" pitchFamily="34" charset="-122"/>
                <a:cs typeface="Cambria" pitchFamily="34" charset="-120"/>
              </a:rPr>
              <a:t>YOLOv5x</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best of three models</a:t>
            </a:r>
            <a:endParaRPr lang="en-US" sz="1200" dirty="0"/>
          </a:p>
        </p:txBody>
      </p:sp>
      <p:sp>
        <p:nvSpPr>
          <p:cNvPr id="11" name="Shape 9"/>
          <p:cNvSpPr/>
          <p:nvPr/>
        </p:nvSpPr>
        <p:spPr>
          <a:xfrm>
            <a:off x="548640"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2" name="Shape 10"/>
          <p:cNvSpPr/>
          <p:nvPr/>
        </p:nvSpPr>
        <p:spPr>
          <a:xfrm>
            <a:off x="731520" y="2734056"/>
            <a:ext cx="365760" cy="365760"/>
          </a:xfrm>
          <a:prstGeom prst="ellipse">
            <a:avLst/>
          </a:prstGeom>
          <a:solidFill>
            <a:srgbClr val="14213D"/>
          </a:solidFill>
          <a:ln w="12700">
            <a:solidFill>
              <a:srgbClr val="14213D"/>
            </a:solidFill>
            <a:prstDash val="solid"/>
          </a:ln>
        </p:spPr>
      </p:sp>
      <p:pic>
        <p:nvPicPr>
          <p:cNvPr id="13" name="Image 0" descr="preencoded.png">    </p:cNvPr>
          <p:cNvPicPr>
            <a:picLocks noChangeAspect="1"/>
          </p:cNvPicPr>
          <p:nvPr/>
        </p:nvPicPr>
        <p:blipFill>
          <a:blip r:embed="rId1"/>
          <a:stretch>
            <a:fillRect/>
          </a:stretch>
        </p:blipFill>
        <p:spPr>
          <a:xfrm>
            <a:off x="822960" y="2825496"/>
            <a:ext cx="182880" cy="182880"/>
          </a:xfrm>
          <a:prstGeom prst="rect">
            <a:avLst/>
          </a:prstGeom>
        </p:spPr>
      </p:pic>
      <p:sp>
        <p:nvSpPr>
          <p:cNvPr id="14" name="Text 11"/>
          <p:cNvSpPr txBox="1"/>
          <p:nvPr/>
        </p:nvSpPr>
        <p:spPr>
          <a:xfrm>
            <a:off x="1207008" y="2734056"/>
            <a:ext cx="4641952" cy="365760"/>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Setup and dataset</a:t>
            </a:r>
            <a:endParaRPr lang="en-US" sz="1350" dirty="0"/>
          </a:p>
        </p:txBody>
      </p:sp>
      <p:sp>
        <p:nvSpPr>
          <p:cNvPr id="15" name="Text 12"/>
          <p:cNvSpPr txBox="1"/>
          <p:nvPr/>
        </p:nvSpPr>
        <p:spPr>
          <a:xfrm>
            <a:off x="777240"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7,390 images of 21 vehicle types pooled from DhakaAI, Poribohon-BD and self-collected images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Compared YOLOv3, YOLOv5s and YOLOv5x on local traffic</a:t>
            </a:r>
            <a:endParaRPr lang="en-US" sz="1200" dirty="0"/>
          </a:p>
        </p:txBody>
      </p:sp>
      <p:sp>
        <p:nvSpPr>
          <p:cNvPr id="16" name="Shape 13"/>
          <p:cNvSpPr/>
          <p:nvPr/>
        </p:nvSpPr>
        <p:spPr>
          <a:xfrm>
            <a:off x="6178144" y="2596896"/>
            <a:ext cx="5464912" cy="1764792"/>
          </a:xfrm>
          <a:prstGeom prst="roundRect">
            <a:avLst>
              <a:gd name="adj" fmla="val 4145"/>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7" name="Shape 14"/>
          <p:cNvSpPr/>
          <p:nvPr/>
        </p:nvSpPr>
        <p:spPr>
          <a:xfrm>
            <a:off x="6361024" y="2734056"/>
            <a:ext cx="365760" cy="365760"/>
          </a:xfrm>
          <a:prstGeom prst="ellipse">
            <a:avLst/>
          </a:prstGeom>
          <a:solidFill>
            <a:srgbClr val="17875B"/>
          </a:solidFill>
          <a:ln w="12700">
            <a:solidFill>
              <a:srgbClr val="17875B"/>
            </a:solidFill>
            <a:prstDash val="solid"/>
          </a:ln>
        </p:spPr>
      </p:sp>
      <p:pic>
        <p:nvPicPr>
          <p:cNvPr id="18" name="Image 1" descr="preencoded.png">    </p:cNvPr>
          <p:cNvPicPr>
            <a:picLocks noChangeAspect="1"/>
          </p:cNvPicPr>
          <p:nvPr/>
        </p:nvPicPr>
        <p:blipFill>
          <a:blip r:embed="rId2"/>
          <a:stretch>
            <a:fillRect/>
          </a:stretch>
        </p:blipFill>
        <p:spPr>
          <a:xfrm>
            <a:off x="6452464" y="2825496"/>
            <a:ext cx="182880" cy="182880"/>
          </a:xfrm>
          <a:prstGeom prst="rect">
            <a:avLst/>
          </a:prstGeom>
        </p:spPr>
      </p:pic>
      <p:sp>
        <p:nvSpPr>
          <p:cNvPr id="19" name="Text 15"/>
          <p:cNvSpPr txBox="1"/>
          <p:nvPr/>
        </p:nvSpPr>
        <p:spPr>
          <a:xfrm>
            <a:off x="6836512" y="2734056"/>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Key contributions</a:t>
            </a:r>
            <a:endParaRPr lang="en-US" sz="1350" dirty="0"/>
          </a:p>
        </p:txBody>
      </p:sp>
      <p:sp>
        <p:nvSpPr>
          <p:cNvPr id="20" name="Text 16"/>
          <p:cNvSpPr txBox="1"/>
          <p:nvPr/>
        </p:nvSpPr>
        <p:spPr>
          <a:xfrm>
            <a:off x="6406744" y="3218688"/>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Comparative study for local vehicle detection, described as a relatively unexplored area in Bangladesh</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YOLOv5x best: mAP +7% over YOLOv3 and +4% over YOLOv5s; accuracy +12% and +8.5%</a:t>
            </a:r>
            <a:endParaRPr lang="en-US" sz="1200" dirty="0"/>
          </a:p>
        </p:txBody>
      </p:sp>
      <p:sp>
        <p:nvSpPr>
          <p:cNvPr id="21" name="Shape 17"/>
          <p:cNvSpPr/>
          <p:nvPr/>
        </p:nvSpPr>
        <p:spPr>
          <a:xfrm>
            <a:off x="548640" y="4526280"/>
            <a:ext cx="5464912" cy="1764792"/>
          </a:xfrm>
          <a:prstGeom prst="roundRect">
            <a:avLst>
              <a:gd name="adj" fmla="val 4145"/>
            </a:avLst>
          </a:prstGeom>
          <a:solidFill>
            <a:srgbClr val="FBE9EC"/>
          </a:solidFill>
          <a:ln w="12700">
            <a:solidFill>
              <a:srgbClr val="FBE9EC"/>
            </a:solidFill>
            <a:prstDash val="solid"/>
          </a:ln>
        </p:spPr>
      </p:sp>
      <p:sp>
        <p:nvSpPr>
          <p:cNvPr id="22" name="Shape 18"/>
          <p:cNvSpPr/>
          <p:nvPr/>
        </p:nvSpPr>
        <p:spPr>
          <a:xfrm>
            <a:off x="731520" y="4663440"/>
            <a:ext cx="365760" cy="365760"/>
          </a:xfrm>
          <a:prstGeom prst="ellipse">
            <a:avLst/>
          </a:prstGeom>
          <a:solidFill>
            <a:srgbClr val="D62839"/>
          </a:solidFill>
          <a:ln w="12700">
            <a:solidFill>
              <a:srgbClr val="D62839"/>
            </a:solidFill>
            <a:prstDash val="solid"/>
          </a:ln>
        </p:spPr>
      </p:sp>
      <p:pic>
        <p:nvPicPr>
          <p:cNvPr id="23" name="Image 2" descr="preencoded.png">    </p:cNvPr>
          <p:cNvPicPr>
            <a:picLocks noChangeAspect="1"/>
          </p:cNvPicPr>
          <p:nvPr/>
        </p:nvPicPr>
        <p:blipFill>
          <a:blip r:embed="rId3"/>
          <a:stretch>
            <a:fillRect/>
          </a:stretch>
        </p:blipFill>
        <p:spPr>
          <a:xfrm>
            <a:off x="822960" y="4754880"/>
            <a:ext cx="182880" cy="182880"/>
          </a:xfrm>
          <a:prstGeom prst="rect">
            <a:avLst/>
          </a:prstGeom>
        </p:spPr>
      </p:pic>
      <p:sp>
        <p:nvSpPr>
          <p:cNvPr id="24" name="Text 19"/>
          <p:cNvSpPr txBox="1"/>
          <p:nvPr/>
        </p:nvSpPr>
        <p:spPr>
          <a:xfrm>
            <a:off x="1207008" y="4663440"/>
            <a:ext cx="4641952" cy="365760"/>
          </a:xfrm>
          <a:prstGeom prst="rect">
            <a:avLst/>
          </a:prstGeom>
          <a:noFill/>
          <a:ln/>
        </p:spPr>
        <p:txBody>
          <a:bodyPr wrap="square" lIns="0" tIns="0" rIns="0" bIns="0" rtlCol="0" anchor="ctr"/>
          <a:lstStyle/>
          <a:p>
            <a:pPr indent="0" marL="0">
              <a:buNone/>
            </a:pPr>
            <a:r>
              <a:rPr lang="en-US" sz="1350" b="1" dirty="0">
                <a:solidFill>
                  <a:srgbClr val="D62839"/>
                </a:solidFill>
                <a:latin typeface="Calibri" pitchFamily="34" charset="0"/>
                <a:ea typeface="Calibri" pitchFamily="34" charset="-122"/>
                <a:cs typeface="Calibri" pitchFamily="34" charset="-120"/>
              </a:rPr>
              <a:t>Limitations and gaps</a:t>
            </a:r>
            <a:endParaRPr lang="en-US" sz="1350" dirty="0"/>
          </a:p>
        </p:txBody>
      </p:sp>
      <p:sp>
        <p:nvSpPr>
          <p:cNvPr id="25" name="Text 20"/>
          <p:cNvSpPr txBox="1"/>
          <p:nvPr/>
        </p:nvSpPr>
        <p:spPr>
          <a:xfrm>
            <a:off x="777240"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General vehicle detection: no preemption or signal-control stage</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Largest model won; FPS and edge-device feasibility not reported in the abstract</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Training setup and per-class (ambulance) results not stated in the abstract</a:t>
            </a:r>
            <a:endParaRPr lang="en-US" sz="1200" dirty="0"/>
          </a:p>
        </p:txBody>
      </p:sp>
      <p:sp>
        <p:nvSpPr>
          <p:cNvPr id="26" name="Shape 21"/>
          <p:cNvSpPr/>
          <p:nvPr/>
        </p:nvSpPr>
        <p:spPr>
          <a:xfrm>
            <a:off x="6178144" y="4526280"/>
            <a:ext cx="5464912" cy="1764792"/>
          </a:xfrm>
          <a:prstGeom prst="roundRect">
            <a:avLst>
              <a:gd name="adj" fmla="val 4145"/>
            </a:avLst>
          </a:prstGeom>
          <a:solidFill>
            <a:srgbClr val="E3F3EA"/>
          </a:solidFill>
          <a:ln w="12700">
            <a:solidFill>
              <a:srgbClr val="E3F3EA"/>
            </a:solidFill>
            <a:prstDash val="solid"/>
          </a:ln>
        </p:spPr>
      </p:sp>
      <p:sp>
        <p:nvSpPr>
          <p:cNvPr id="27" name="Shape 22"/>
          <p:cNvSpPr/>
          <p:nvPr/>
        </p:nvSpPr>
        <p:spPr>
          <a:xfrm>
            <a:off x="6361024" y="4663440"/>
            <a:ext cx="365760" cy="365760"/>
          </a:xfrm>
          <a:prstGeom prst="ellipse">
            <a:avLst/>
          </a:prstGeom>
          <a:solidFill>
            <a:srgbClr val="9A6700"/>
          </a:solidFill>
          <a:ln w="12700">
            <a:solidFill>
              <a:srgbClr val="9A6700"/>
            </a:solidFill>
            <a:prstDash val="solid"/>
          </a:ln>
        </p:spPr>
      </p:sp>
      <p:pic>
        <p:nvPicPr>
          <p:cNvPr id="28" name="Image 3" descr="preencoded.png">    </p:cNvPr>
          <p:cNvPicPr>
            <a:picLocks noChangeAspect="1"/>
          </p:cNvPicPr>
          <p:nvPr/>
        </p:nvPicPr>
        <p:blipFill>
          <a:blip r:embed="rId4"/>
          <a:stretch>
            <a:fillRect/>
          </a:stretch>
        </p:blipFill>
        <p:spPr>
          <a:xfrm>
            <a:off x="6452464" y="4754880"/>
            <a:ext cx="182880" cy="182880"/>
          </a:xfrm>
          <a:prstGeom prst="rect">
            <a:avLst/>
          </a:prstGeom>
        </p:spPr>
      </p:pic>
      <p:sp>
        <p:nvSpPr>
          <p:cNvPr id="29" name="Text 23"/>
          <p:cNvSpPr txBox="1"/>
          <p:nvPr/>
        </p:nvSpPr>
        <p:spPr>
          <a:xfrm>
            <a:off x="6836512" y="4663440"/>
            <a:ext cx="4641952" cy="365760"/>
          </a:xfrm>
          <a:prstGeom prst="rect">
            <a:avLst/>
          </a:prstGeom>
          <a:noFill/>
          <a:ln/>
        </p:spPr>
        <p:txBody>
          <a:bodyPr wrap="square" lIns="0" tIns="0" rIns="0" bIns="0" rtlCol="0" anchor="ctr"/>
          <a:lstStyle/>
          <a:p>
            <a:pPr indent="0" marL="0">
              <a:buNone/>
            </a:pPr>
            <a:r>
              <a:rPr lang="en-US" sz="1350" b="1" dirty="0">
                <a:solidFill>
                  <a:srgbClr val="17875B"/>
                </a:solidFill>
                <a:latin typeface="Calibri" pitchFamily="34" charset="0"/>
                <a:ea typeface="Calibri" pitchFamily="34" charset="-122"/>
                <a:cs typeface="Calibri" pitchFamily="34" charset="-120"/>
              </a:rPr>
              <a:t>Future path and our takeaway</a:t>
            </a:r>
            <a:endParaRPr lang="en-US" sz="1350" dirty="0"/>
          </a:p>
        </p:txBody>
      </p:sp>
      <p:sp>
        <p:nvSpPr>
          <p:cNvPr id="30" name="Text 24"/>
          <p:cNvSpPr txBox="1"/>
          <p:nvPr/>
        </p:nvSpPr>
        <p:spPr>
          <a:xfrm>
            <a:off x="6406744" y="5148072"/>
            <a:ext cx="5007712" cy="1088136"/>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Authors' future work: not stated in the abstract</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Our takeaway: a precedent for adapting international detectors to South-Asian traffic with local images. This shapes our Stage 2 (150-300 local images plus augmentation)</a:t>
            </a:r>
            <a:endParaRPr lang="en-US" sz="1200" dirty="0"/>
          </a:p>
        </p:txBody>
      </p:sp>
      <p:sp>
        <p:nvSpPr>
          <p:cNvPr id="31" name="Text 25"/>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 [19] ICCIT 2022, arXiv:2212.09144; Poribohon-BD [18]</a:t>
            </a:r>
            <a:endParaRPr lang="en-US" sz="950" dirty="0"/>
          </a:p>
        </p:txBody>
      </p:sp>
      <p:sp>
        <p:nvSpPr>
          <p:cNvPr id="32" name="Text 26"/>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7 / 14</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F2A300"/>
          </a:solidFill>
          <a:ln w="12700">
            <a:solidFill>
              <a:srgbClr val="F2A300"/>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LITERATURE REVIEW  |  BASE PAPERS 5 AND 6 OF 6</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Acoustic Siren Detection: SirenNet (2020) and E2PANNs (2025)</a:t>
            </a:r>
            <a:endParaRPr lang="en-US" sz="2600" dirty="0"/>
          </a:p>
        </p:txBody>
      </p:sp>
      <p:sp>
        <p:nvSpPr>
          <p:cNvPr id="5" name="Shape 3"/>
          <p:cNvSpPr/>
          <p:nvPr/>
        </p:nvSpPr>
        <p:spPr>
          <a:xfrm>
            <a:off x="548640" y="1572768"/>
            <a:ext cx="5455768" cy="3950208"/>
          </a:xfrm>
          <a:prstGeom prst="roundRect">
            <a:avLst>
              <a:gd name="adj" fmla="val 1852"/>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Text 4"/>
          <p:cNvSpPr txBox="1"/>
          <p:nvPr/>
        </p:nvSpPr>
        <p:spPr>
          <a:xfrm>
            <a:off x="777240" y="1700784"/>
            <a:ext cx="4998568" cy="228600"/>
          </a:xfrm>
          <a:prstGeom prst="rect">
            <a:avLst/>
          </a:prstGeom>
          <a:noFill/>
          <a:ln/>
        </p:spPr>
        <p:txBody>
          <a:bodyPr wrap="square" lIns="0" tIns="0" rIns="0" bIns="0" rtlCol="0" anchor="t"/>
          <a:lstStyle/>
          <a:p>
            <a:pPr indent="0" marL="0">
              <a:buNone/>
            </a:pPr>
            <a:r>
              <a:rPr lang="en-US" sz="1050" b="1" spc="200" kern="0" dirty="0">
                <a:solidFill>
                  <a:srgbClr val="9A6700"/>
                </a:solidFill>
                <a:latin typeface="Calibri" pitchFamily="34" charset="0"/>
                <a:ea typeface="Calibri" pitchFamily="34" charset="-122"/>
                <a:cs typeface="Calibri" pitchFamily="34" charset="-120"/>
              </a:rPr>
              <a:t>[14]  IEEE ACCESS 8, 2020</a:t>
            </a:r>
            <a:endParaRPr lang="en-US" sz="1050" dirty="0"/>
          </a:p>
        </p:txBody>
      </p:sp>
      <p:sp>
        <p:nvSpPr>
          <p:cNvPr id="7" name="Text 5"/>
          <p:cNvSpPr txBox="1"/>
          <p:nvPr/>
        </p:nvSpPr>
        <p:spPr>
          <a:xfrm>
            <a:off x="777240" y="1938528"/>
            <a:ext cx="4998568" cy="502920"/>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Acoustic-Based Emergency Vehicle Detection Using Convolutional Neural Networks</a:t>
            </a:r>
            <a:endParaRPr lang="en-US" sz="1350" dirty="0"/>
          </a:p>
        </p:txBody>
      </p:sp>
      <p:sp>
        <p:nvSpPr>
          <p:cNvPr id="8" name="Text 6"/>
          <p:cNvSpPr txBox="1"/>
          <p:nvPr/>
        </p:nvSpPr>
        <p:spPr>
          <a:xfrm>
            <a:off x="777240" y="2459736"/>
            <a:ext cx="3108960" cy="237744"/>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V.-T. Tran, W.-H. Tsai</a:t>
            </a:r>
            <a:endParaRPr lang="en-US" sz="1050" dirty="0"/>
          </a:p>
        </p:txBody>
      </p:sp>
      <p:sp>
        <p:nvSpPr>
          <p:cNvPr id="9" name="Shape 7"/>
          <p:cNvSpPr/>
          <p:nvPr/>
        </p:nvSpPr>
        <p:spPr>
          <a:xfrm>
            <a:off x="2849728" y="2432304"/>
            <a:ext cx="1417320" cy="420624"/>
          </a:xfrm>
          <a:prstGeom prst="roundRect">
            <a:avLst>
              <a:gd name="adj" fmla="val 13043"/>
            </a:avLst>
          </a:prstGeom>
          <a:solidFill>
            <a:srgbClr val="EAEFF7"/>
          </a:solidFill>
          <a:ln w="12700">
            <a:solidFill>
              <a:srgbClr val="EAEFF7"/>
            </a:solidFill>
            <a:prstDash val="solid"/>
          </a:ln>
        </p:spPr>
      </p:sp>
      <p:sp>
        <p:nvSpPr>
          <p:cNvPr id="10" name="Text 8"/>
          <p:cNvSpPr txBox="1"/>
          <p:nvPr/>
        </p:nvSpPr>
        <p:spPr>
          <a:xfrm>
            <a:off x="2895448" y="2441448"/>
            <a:ext cx="1325880" cy="402336"/>
          </a:xfrm>
          <a:prstGeom prst="rect">
            <a:avLst/>
          </a:prstGeom>
          <a:noFill/>
          <a:ln/>
        </p:spPr>
        <p:txBody>
          <a:bodyPr wrap="square" lIns="0" tIns="0" rIns="0" bIns="0" rtlCol="0" anchor="ctr"/>
          <a:lstStyle/>
          <a:p>
            <a:pPr algn="ctr" indent="0" marL="0">
              <a:buNone/>
            </a:pPr>
            <a:r>
              <a:rPr lang="en-US" sz="1300" b="1" dirty="0">
                <a:solidFill>
                  <a:srgbClr val="14213D"/>
                </a:solidFill>
                <a:latin typeface="Cambria" pitchFamily="34" charset="0"/>
                <a:ea typeface="Cambria" pitchFamily="34" charset="-122"/>
                <a:cs typeface="Cambria" pitchFamily="34" charset="-120"/>
              </a:rPr>
              <a:t>98.24%</a:t>
            </a:r>
            <a:endParaRPr lang="en-US" sz="1200" dirty="0"/>
          </a:p>
          <a:p>
            <a:pPr algn="ctr" indent="0" marL="0">
              <a:buNone/>
            </a:pPr>
            <a:r>
              <a:rPr lang="en-US" sz="850" dirty="0">
                <a:solidFill>
                  <a:srgbClr val="5B6B82"/>
                </a:solidFill>
                <a:latin typeface="Calibri" pitchFamily="34" charset="0"/>
                <a:ea typeface="Calibri" pitchFamily="34" charset="-122"/>
                <a:cs typeface="Calibri" pitchFamily="34" charset="-120"/>
              </a:rPr>
              <a:t>siren accuracy</a:t>
            </a:r>
            <a:endParaRPr lang="en-US" sz="1200" dirty="0"/>
          </a:p>
        </p:txBody>
      </p:sp>
      <p:sp>
        <p:nvSpPr>
          <p:cNvPr id="11" name="Shape 9"/>
          <p:cNvSpPr/>
          <p:nvPr/>
        </p:nvSpPr>
        <p:spPr>
          <a:xfrm>
            <a:off x="4358488" y="2432304"/>
            <a:ext cx="1417320" cy="420624"/>
          </a:xfrm>
          <a:prstGeom prst="roundRect">
            <a:avLst>
              <a:gd name="adj" fmla="val 13043"/>
            </a:avLst>
          </a:prstGeom>
          <a:solidFill>
            <a:srgbClr val="EAEFF7"/>
          </a:solidFill>
          <a:ln w="12700">
            <a:solidFill>
              <a:srgbClr val="EAEFF7"/>
            </a:solidFill>
            <a:prstDash val="solid"/>
          </a:ln>
        </p:spPr>
      </p:sp>
      <p:sp>
        <p:nvSpPr>
          <p:cNvPr id="12" name="Text 10"/>
          <p:cNvSpPr txBox="1"/>
          <p:nvPr/>
        </p:nvSpPr>
        <p:spPr>
          <a:xfrm>
            <a:off x="4404208" y="2441448"/>
            <a:ext cx="1325880" cy="402336"/>
          </a:xfrm>
          <a:prstGeom prst="rect">
            <a:avLst/>
          </a:prstGeom>
          <a:noFill/>
          <a:ln/>
        </p:spPr>
        <p:txBody>
          <a:bodyPr wrap="square" lIns="0" tIns="0" rIns="0" bIns="0" rtlCol="0" anchor="ctr"/>
          <a:lstStyle/>
          <a:p>
            <a:pPr algn="ctr" indent="0" marL="0">
              <a:buNone/>
            </a:pPr>
            <a:r>
              <a:rPr lang="en-US" sz="1300" b="1" dirty="0">
                <a:solidFill>
                  <a:srgbClr val="14213D"/>
                </a:solidFill>
                <a:latin typeface="Cambria" pitchFamily="34" charset="0"/>
                <a:ea typeface="Cambria" pitchFamily="34" charset="-122"/>
                <a:cs typeface="Cambria" pitchFamily="34" charset="-120"/>
              </a:rPr>
              <a:t>96.89%</a:t>
            </a:r>
            <a:endParaRPr lang="en-US" sz="1200" dirty="0"/>
          </a:p>
          <a:p>
            <a:pPr algn="ctr" indent="0" marL="0">
              <a:buNone/>
            </a:pPr>
            <a:r>
              <a:rPr lang="en-US" sz="850" dirty="0">
                <a:solidFill>
                  <a:srgbClr val="5B6B82"/>
                </a:solidFill>
                <a:latin typeface="Calibri" pitchFamily="34" charset="0"/>
                <a:ea typeface="Calibri" pitchFamily="34" charset="-122"/>
                <a:cs typeface="Calibri" pitchFamily="34" charset="-120"/>
              </a:rPr>
              <a:t>on 0.25 s clips</a:t>
            </a:r>
            <a:endParaRPr lang="en-US" sz="1200" dirty="0"/>
          </a:p>
        </p:txBody>
      </p:sp>
      <p:sp>
        <p:nvSpPr>
          <p:cNvPr id="13" name="Text 11"/>
          <p:cNvSpPr txBox="1"/>
          <p:nvPr/>
        </p:nvSpPr>
        <p:spPr>
          <a:xfrm>
            <a:off x="777240" y="2980944"/>
            <a:ext cx="1188720" cy="228600"/>
          </a:xfrm>
          <a:prstGeom prst="rect">
            <a:avLst/>
          </a:prstGeom>
          <a:noFill/>
          <a:ln/>
        </p:spPr>
        <p:txBody>
          <a:bodyPr wrap="square" lIns="0" tIns="0" rIns="0" bIns="0" rtlCol="0" anchor="t"/>
          <a:lstStyle/>
          <a:p>
            <a:pPr indent="0" marL="0">
              <a:buNone/>
            </a:pPr>
            <a:r>
              <a:rPr lang="en-US" sz="950" b="1" spc="150" kern="0" dirty="0">
                <a:solidFill>
                  <a:srgbClr val="14213D"/>
                </a:solidFill>
                <a:latin typeface="Calibri" pitchFamily="34" charset="0"/>
                <a:ea typeface="Calibri" pitchFamily="34" charset="-122"/>
                <a:cs typeface="Calibri" pitchFamily="34" charset="-120"/>
              </a:rPr>
              <a:t>SETUP</a:t>
            </a:r>
            <a:endParaRPr lang="en-US" sz="950" dirty="0"/>
          </a:p>
        </p:txBody>
      </p:sp>
      <p:sp>
        <p:nvSpPr>
          <p:cNvPr id="14" name="Text 12"/>
          <p:cNvSpPr txBox="1"/>
          <p:nvPr/>
        </p:nvSpPr>
        <p:spPr>
          <a:xfrm>
            <a:off x="1920240" y="2962656"/>
            <a:ext cx="3855568" cy="658368"/>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SirenNet: two CNN streams, WaveNet on the raw waveform and MLNet on MFCC + log-mel; classifies siren, horn and noise. Trained on the authors' diverse dataset.</a:t>
            </a:r>
            <a:endParaRPr lang="en-US" sz="1100" dirty="0"/>
          </a:p>
        </p:txBody>
      </p:sp>
      <p:sp>
        <p:nvSpPr>
          <p:cNvPr id="15" name="Text 13"/>
          <p:cNvSpPr txBox="1"/>
          <p:nvPr/>
        </p:nvSpPr>
        <p:spPr>
          <a:xfrm>
            <a:off x="777240" y="3767328"/>
            <a:ext cx="1188720" cy="228600"/>
          </a:xfrm>
          <a:prstGeom prst="rect">
            <a:avLst/>
          </a:prstGeom>
          <a:noFill/>
          <a:ln/>
        </p:spPr>
        <p:txBody>
          <a:bodyPr wrap="square" lIns="0" tIns="0" rIns="0" bIns="0" rtlCol="0" anchor="t"/>
          <a:lstStyle/>
          <a:p>
            <a:pPr indent="0" marL="0">
              <a:buNone/>
            </a:pPr>
            <a:r>
              <a:rPr lang="en-US" sz="950" b="1" spc="150" kern="0" dirty="0">
                <a:solidFill>
                  <a:srgbClr val="17875B"/>
                </a:solidFill>
                <a:latin typeface="Calibri" pitchFamily="34" charset="0"/>
                <a:ea typeface="Calibri" pitchFamily="34" charset="-122"/>
                <a:cs typeface="Calibri" pitchFamily="34" charset="-120"/>
              </a:rPr>
              <a:t>CONTRIBUTION</a:t>
            </a:r>
            <a:endParaRPr lang="en-US" sz="950" dirty="0"/>
          </a:p>
        </p:txBody>
      </p:sp>
      <p:sp>
        <p:nvSpPr>
          <p:cNvPr id="16" name="Text 14"/>
          <p:cNvSpPr txBox="1"/>
          <p:nvPr/>
        </p:nvSpPr>
        <p:spPr>
          <a:xfrm>
            <a:off x="1920240" y="3749040"/>
            <a:ext cx="3855568" cy="530352"/>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Raw audio complements MFCC features; works with variable input length, even for 0.25 s samples.</a:t>
            </a:r>
            <a:endParaRPr lang="en-US" sz="1100" dirty="0"/>
          </a:p>
        </p:txBody>
      </p:sp>
      <p:sp>
        <p:nvSpPr>
          <p:cNvPr id="17" name="Text 15"/>
          <p:cNvSpPr txBox="1"/>
          <p:nvPr/>
        </p:nvSpPr>
        <p:spPr>
          <a:xfrm>
            <a:off x="777240" y="4425696"/>
            <a:ext cx="1188720" cy="228600"/>
          </a:xfrm>
          <a:prstGeom prst="rect">
            <a:avLst/>
          </a:prstGeom>
          <a:noFill/>
          <a:ln/>
        </p:spPr>
        <p:txBody>
          <a:bodyPr wrap="square" lIns="0" tIns="0" rIns="0" bIns="0" rtlCol="0" anchor="t"/>
          <a:lstStyle/>
          <a:p>
            <a:pPr indent="0" marL="0">
              <a:buNone/>
            </a:pPr>
            <a:r>
              <a:rPr lang="en-US" sz="950" b="1" spc="150" kern="0" dirty="0">
                <a:solidFill>
                  <a:srgbClr val="D62839"/>
                </a:solidFill>
                <a:latin typeface="Calibri" pitchFamily="34" charset="0"/>
                <a:ea typeface="Calibri" pitchFamily="34" charset="-122"/>
                <a:cs typeface="Calibri" pitchFamily="34" charset="-120"/>
              </a:rPr>
              <a:t>LIMITATION</a:t>
            </a:r>
            <a:endParaRPr lang="en-US" sz="950" dirty="0"/>
          </a:p>
        </p:txBody>
      </p:sp>
      <p:sp>
        <p:nvSpPr>
          <p:cNvPr id="18" name="Text 16"/>
          <p:cNvSpPr txBox="1"/>
          <p:nvPr/>
        </p:nvSpPr>
        <p:spPr>
          <a:xfrm>
            <a:off x="1920240" y="4407408"/>
            <a:ext cx="3855568" cy="530352"/>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Alerts nearby drivers; no signal control. Dataset is not Pakistani sirens (size not in abstract).</a:t>
            </a:r>
            <a:endParaRPr lang="en-US" sz="1100" dirty="0"/>
          </a:p>
        </p:txBody>
      </p:sp>
      <p:sp>
        <p:nvSpPr>
          <p:cNvPr id="19" name="Text 17"/>
          <p:cNvSpPr txBox="1"/>
          <p:nvPr/>
        </p:nvSpPr>
        <p:spPr>
          <a:xfrm>
            <a:off x="777240" y="5084064"/>
            <a:ext cx="1188720" cy="228600"/>
          </a:xfrm>
          <a:prstGeom prst="rect">
            <a:avLst/>
          </a:prstGeom>
          <a:noFill/>
          <a:ln/>
        </p:spPr>
        <p:txBody>
          <a:bodyPr wrap="square" lIns="0" tIns="0" rIns="0" bIns="0" rtlCol="0" anchor="t"/>
          <a:lstStyle/>
          <a:p>
            <a:pPr indent="0" marL="0">
              <a:buNone/>
            </a:pPr>
            <a:r>
              <a:rPr lang="en-US" sz="950" b="1" spc="150" kern="0" dirty="0">
                <a:solidFill>
                  <a:srgbClr val="9A6700"/>
                </a:solidFill>
                <a:latin typeface="Calibri" pitchFamily="34" charset="0"/>
                <a:ea typeface="Calibri" pitchFamily="34" charset="-122"/>
                <a:cs typeface="Calibri" pitchFamily="34" charset="-120"/>
              </a:rPr>
              <a:t>FUTURE PATH</a:t>
            </a:r>
            <a:endParaRPr lang="en-US" sz="950" dirty="0"/>
          </a:p>
        </p:txBody>
      </p:sp>
      <p:sp>
        <p:nvSpPr>
          <p:cNvPr id="20" name="Text 18"/>
          <p:cNvSpPr txBox="1"/>
          <p:nvPr/>
        </p:nvSpPr>
        <p:spPr>
          <a:xfrm>
            <a:off x="1920240" y="5065776"/>
            <a:ext cx="3855568" cy="329184"/>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Authors: useful for drivers and autopilot systems.</a:t>
            </a:r>
            <a:endParaRPr lang="en-US" sz="1100" dirty="0"/>
          </a:p>
        </p:txBody>
      </p:sp>
      <p:sp>
        <p:nvSpPr>
          <p:cNvPr id="21" name="Shape 19"/>
          <p:cNvSpPr/>
          <p:nvPr/>
        </p:nvSpPr>
        <p:spPr>
          <a:xfrm>
            <a:off x="6187288" y="1572768"/>
            <a:ext cx="5455768" cy="3950208"/>
          </a:xfrm>
          <a:prstGeom prst="roundRect">
            <a:avLst>
              <a:gd name="adj" fmla="val 1852"/>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22" name="Text 20"/>
          <p:cNvSpPr txBox="1"/>
          <p:nvPr/>
        </p:nvSpPr>
        <p:spPr>
          <a:xfrm>
            <a:off x="6415888" y="1700784"/>
            <a:ext cx="4998568" cy="228600"/>
          </a:xfrm>
          <a:prstGeom prst="rect">
            <a:avLst/>
          </a:prstGeom>
          <a:noFill/>
          <a:ln/>
        </p:spPr>
        <p:txBody>
          <a:bodyPr wrap="square" lIns="0" tIns="0" rIns="0" bIns="0" rtlCol="0" anchor="t"/>
          <a:lstStyle/>
          <a:p>
            <a:pPr indent="0" marL="0">
              <a:buNone/>
            </a:pPr>
            <a:r>
              <a:rPr lang="en-US" sz="1050" b="1" spc="200" kern="0" dirty="0">
                <a:solidFill>
                  <a:srgbClr val="9A6700"/>
                </a:solidFill>
                <a:latin typeface="Calibri" pitchFamily="34" charset="0"/>
                <a:ea typeface="Calibri" pitchFamily="34" charset="-122"/>
                <a:cs typeface="Calibri" pitchFamily="34" charset="-120"/>
              </a:rPr>
              <a:t>[15]  ARXIV 2506.23437, 2025</a:t>
            </a:r>
            <a:endParaRPr lang="en-US" sz="1050" dirty="0"/>
          </a:p>
        </p:txBody>
      </p:sp>
      <p:sp>
        <p:nvSpPr>
          <p:cNvPr id="23" name="Text 21"/>
          <p:cNvSpPr txBox="1"/>
          <p:nvPr/>
        </p:nvSpPr>
        <p:spPr>
          <a:xfrm>
            <a:off x="6415888" y="1938528"/>
            <a:ext cx="4998568" cy="502920"/>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From Large-scale Audio Tagging to Real-Time Explainable Emergency Vehicle Sirens Detection</a:t>
            </a:r>
            <a:endParaRPr lang="en-US" sz="1350" dirty="0"/>
          </a:p>
        </p:txBody>
      </p:sp>
      <p:sp>
        <p:nvSpPr>
          <p:cNvPr id="24" name="Text 22"/>
          <p:cNvSpPr txBox="1"/>
          <p:nvPr/>
        </p:nvSpPr>
        <p:spPr>
          <a:xfrm>
            <a:off x="6415888" y="2459736"/>
            <a:ext cx="3108960" cy="237744"/>
          </a:xfrm>
          <a:prstGeom prst="rect">
            <a:avLst/>
          </a:prstGeom>
          <a:noFill/>
          <a:ln/>
        </p:spPr>
        <p:txBody>
          <a:bodyPr wrap="square" lIns="0" tIns="0" rIns="0" bIns="0" rtlCol="0" anchor="t"/>
          <a:lstStyle/>
          <a:p>
            <a:pPr indent="0" marL="0">
              <a:buNone/>
            </a:pPr>
            <a:r>
              <a:rPr lang="en-US" sz="1050" dirty="0">
                <a:solidFill>
                  <a:srgbClr val="5B6B82"/>
                </a:solidFill>
                <a:latin typeface="Calibri" pitchFamily="34" charset="0"/>
                <a:ea typeface="Calibri" pitchFamily="34" charset="-122"/>
                <a:cs typeface="Calibri" pitchFamily="34" charset="-120"/>
              </a:rPr>
              <a:t>S. Giacomelli et al.</a:t>
            </a:r>
            <a:endParaRPr lang="en-US" sz="1050" dirty="0"/>
          </a:p>
        </p:txBody>
      </p:sp>
      <p:sp>
        <p:nvSpPr>
          <p:cNvPr id="25" name="Shape 23"/>
          <p:cNvSpPr/>
          <p:nvPr/>
        </p:nvSpPr>
        <p:spPr>
          <a:xfrm>
            <a:off x="8488375" y="2432304"/>
            <a:ext cx="1417320" cy="420624"/>
          </a:xfrm>
          <a:prstGeom prst="roundRect">
            <a:avLst>
              <a:gd name="adj" fmla="val 13043"/>
            </a:avLst>
          </a:prstGeom>
          <a:solidFill>
            <a:srgbClr val="EAEFF7"/>
          </a:solidFill>
          <a:ln w="12700">
            <a:solidFill>
              <a:srgbClr val="EAEFF7"/>
            </a:solidFill>
            <a:prstDash val="solid"/>
          </a:ln>
        </p:spPr>
      </p:sp>
      <p:sp>
        <p:nvSpPr>
          <p:cNvPr id="26" name="Text 24"/>
          <p:cNvSpPr txBox="1"/>
          <p:nvPr/>
        </p:nvSpPr>
        <p:spPr>
          <a:xfrm>
            <a:off x="8534095" y="2441448"/>
            <a:ext cx="1325880" cy="402336"/>
          </a:xfrm>
          <a:prstGeom prst="rect">
            <a:avLst/>
          </a:prstGeom>
          <a:noFill/>
          <a:ln/>
        </p:spPr>
        <p:txBody>
          <a:bodyPr wrap="square" lIns="0" tIns="0" rIns="0" bIns="0" rtlCol="0" anchor="ctr"/>
          <a:lstStyle/>
          <a:p>
            <a:pPr algn="ctr" indent="0" marL="0">
              <a:buNone/>
            </a:pPr>
            <a:r>
              <a:rPr lang="en-US" sz="1300" b="1" dirty="0">
                <a:solidFill>
                  <a:srgbClr val="14213D"/>
                </a:solidFill>
                <a:latin typeface="Cambria" pitchFamily="34" charset="0"/>
                <a:ea typeface="Cambria" pitchFamily="34" charset="-122"/>
                <a:cs typeface="Cambria" pitchFamily="34" charset="-120"/>
              </a:rPr>
              <a:t>E2PANNs</a:t>
            </a:r>
            <a:endParaRPr lang="en-US" sz="1200" dirty="0"/>
          </a:p>
          <a:p>
            <a:pPr algn="ctr" indent="0" marL="0">
              <a:buNone/>
            </a:pPr>
            <a:r>
              <a:rPr lang="en-US" sz="850" dirty="0">
                <a:solidFill>
                  <a:srgbClr val="5B6B82"/>
                </a:solidFill>
                <a:latin typeface="Calibri" pitchFamily="34" charset="0"/>
                <a:ea typeface="Calibri" pitchFamily="34" charset="-122"/>
                <a:cs typeface="Calibri" pitchFamily="34" charset="-120"/>
              </a:rPr>
              <a:t>lightweight CNN</a:t>
            </a:r>
            <a:endParaRPr lang="en-US" sz="1200" dirty="0"/>
          </a:p>
        </p:txBody>
      </p:sp>
      <p:sp>
        <p:nvSpPr>
          <p:cNvPr id="27" name="Shape 25"/>
          <p:cNvSpPr/>
          <p:nvPr/>
        </p:nvSpPr>
        <p:spPr>
          <a:xfrm>
            <a:off x="9997135" y="2432304"/>
            <a:ext cx="1417320" cy="420624"/>
          </a:xfrm>
          <a:prstGeom prst="roundRect">
            <a:avLst>
              <a:gd name="adj" fmla="val 13043"/>
            </a:avLst>
          </a:prstGeom>
          <a:solidFill>
            <a:srgbClr val="EAEFF7"/>
          </a:solidFill>
          <a:ln w="12700">
            <a:solidFill>
              <a:srgbClr val="EAEFF7"/>
            </a:solidFill>
            <a:prstDash val="solid"/>
          </a:ln>
        </p:spPr>
      </p:sp>
      <p:sp>
        <p:nvSpPr>
          <p:cNvPr id="28" name="Text 26"/>
          <p:cNvSpPr txBox="1"/>
          <p:nvPr/>
        </p:nvSpPr>
        <p:spPr>
          <a:xfrm>
            <a:off x="10042855" y="2441448"/>
            <a:ext cx="1325880" cy="402336"/>
          </a:xfrm>
          <a:prstGeom prst="rect">
            <a:avLst/>
          </a:prstGeom>
          <a:noFill/>
          <a:ln/>
        </p:spPr>
        <p:txBody>
          <a:bodyPr wrap="square" lIns="0" tIns="0" rIns="0" bIns="0" rtlCol="0" anchor="ctr"/>
          <a:lstStyle/>
          <a:p>
            <a:pPr algn="ctr" indent="0" marL="0">
              <a:buNone/>
            </a:pPr>
            <a:r>
              <a:rPr lang="en-US" sz="1300" b="1" dirty="0">
                <a:solidFill>
                  <a:srgbClr val="14213D"/>
                </a:solidFill>
                <a:latin typeface="Cambria" pitchFamily="34" charset="0"/>
                <a:ea typeface="Cambria" pitchFamily="34" charset="-122"/>
                <a:cs typeface="Cambria" pitchFamily="34" charset="-120"/>
              </a:rPr>
              <a:t>Edge</a:t>
            </a:r>
            <a:endParaRPr lang="en-US" sz="1200" dirty="0"/>
          </a:p>
          <a:p>
            <a:pPr algn="ctr" indent="0" marL="0">
              <a:buNone/>
            </a:pPr>
            <a:r>
              <a:rPr lang="en-US" sz="850" dirty="0">
                <a:solidFill>
                  <a:srgbClr val="5B6B82"/>
                </a:solidFill>
                <a:latin typeface="Calibri" pitchFamily="34" charset="0"/>
                <a:ea typeface="Calibri" pitchFamily="34" charset="-122"/>
                <a:cs typeface="Calibri" pitchFamily="34" charset="-120"/>
              </a:rPr>
              <a:t>real-time, explainable</a:t>
            </a:r>
            <a:endParaRPr lang="en-US" sz="1200" dirty="0"/>
          </a:p>
        </p:txBody>
      </p:sp>
      <p:sp>
        <p:nvSpPr>
          <p:cNvPr id="29" name="Text 27"/>
          <p:cNvSpPr txBox="1"/>
          <p:nvPr/>
        </p:nvSpPr>
        <p:spPr>
          <a:xfrm>
            <a:off x="6415888" y="2980944"/>
            <a:ext cx="1188720" cy="228600"/>
          </a:xfrm>
          <a:prstGeom prst="rect">
            <a:avLst/>
          </a:prstGeom>
          <a:noFill/>
          <a:ln/>
        </p:spPr>
        <p:txBody>
          <a:bodyPr wrap="square" lIns="0" tIns="0" rIns="0" bIns="0" rtlCol="0" anchor="t"/>
          <a:lstStyle/>
          <a:p>
            <a:pPr indent="0" marL="0">
              <a:buNone/>
            </a:pPr>
            <a:r>
              <a:rPr lang="en-US" sz="950" b="1" spc="150" kern="0" dirty="0">
                <a:solidFill>
                  <a:srgbClr val="14213D"/>
                </a:solidFill>
                <a:latin typeface="Calibri" pitchFamily="34" charset="0"/>
                <a:ea typeface="Calibri" pitchFamily="34" charset="-122"/>
                <a:cs typeface="Calibri" pitchFamily="34" charset="-120"/>
              </a:rPr>
              <a:t>SETUP</a:t>
            </a:r>
            <a:endParaRPr lang="en-US" sz="950" dirty="0"/>
          </a:p>
        </p:txBody>
      </p:sp>
      <p:sp>
        <p:nvSpPr>
          <p:cNvPr id="30" name="Text 28"/>
          <p:cNvSpPr txBox="1"/>
          <p:nvPr/>
        </p:nvSpPr>
        <p:spPr>
          <a:xfrm>
            <a:off x="7558888" y="2962656"/>
            <a:ext cx="3855568" cy="658368"/>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E2PANNs: a lightweight CNN derived from PANNs for binary siren detection; AudioSet EV subset built by the authors, plus reference datasets.</a:t>
            </a:r>
            <a:endParaRPr lang="en-US" sz="1100" dirty="0"/>
          </a:p>
        </p:txBody>
      </p:sp>
      <p:sp>
        <p:nvSpPr>
          <p:cNvPr id="31" name="Text 29"/>
          <p:cNvSpPr txBox="1"/>
          <p:nvPr/>
        </p:nvSpPr>
        <p:spPr>
          <a:xfrm>
            <a:off x="6415888" y="3767328"/>
            <a:ext cx="1188720" cy="228600"/>
          </a:xfrm>
          <a:prstGeom prst="rect">
            <a:avLst/>
          </a:prstGeom>
          <a:noFill/>
          <a:ln/>
        </p:spPr>
        <p:txBody>
          <a:bodyPr wrap="square" lIns="0" tIns="0" rIns="0" bIns="0" rtlCol="0" anchor="t"/>
          <a:lstStyle/>
          <a:p>
            <a:pPr indent="0" marL="0">
              <a:buNone/>
            </a:pPr>
            <a:r>
              <a:rPr lang="en-US" sz="950" b="1" spc="150" kern="0" dirty="0">
                <a:solidFill>
                  <a:srgbClr val="17875B"/>
                </a:solidFill>
                <a:latin typeface="Calibri" pitchFamily="34" charset="0"/>
                <a:ea typeface="Calibri" pitchFamily="34" charset="-122"/>
                <a:cs typeface="Calibri" pitchFamily="34" charset="-120"/>
              </a:rPr>
              <a:t>CONTRIBUTION</a:t>
            </a:r>
            <a:endParaRPr lang="en-US" sz="950" dirty="0"/>
          </a:p>
        </p:txBody>
      </p:sp>
      <p:sp>
        <p:nvSpPr>
          <p:cNvPr id="32" name="Text 30"/>
          <p:cNvSpPr txBox="1"/>
          <p:nvPr/>
        </p:nvSpPr>
        <p:spPr>
          <a:xfrm>
            <a:off x="7558888" y="3749040"/>
            <a:ext cx="3855568" cy="530352"/>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Claims new state of the art with high efficiency; real-time edge demo; Guided Backpropagation and ScoreCAM explanations.</a:t>
            </a:r>
            <a:endParaRPr lang="en-US" sz="1100" dirty="0"/>
          </a:p>
        </p:txBody>
      </p:sp>
      <p:sp>
        <p:nvSpPr>
          <p:cNvPr id="33" name="Text 31"/>
          <p:cNvSpPr txBox="1"/>
          <p:nvPr/>
        </p:nvSpPr>
        <p:spPr>
          <a:xfrm>
            <a:off x="6415888" y="4425696"/>
            <a:ext cx="1188720" cy="228600"/>
          </a:xfrm>
          <a:prstGeom prst="rect">
            <a:avLst/>
          </a:prstGeom>
          <a:noFill/>
          <a:ln/>
        </p:spPr>
        <p:txBody>
          <a:bodyPr wrap="square" lIns="0" tIns="0" rIns="0" bIns="0" rtlCol="0" anchor="t"/>
          <a:lstStyle/>
          <a:p>
            <a:pPr indent="0" marL="0">
              <a:buNone/>
            </a:pPr>
            <a:r>
              <a:rPr lang="en-US" sz="950" b="1" spc="150" kern="0" dirty="0">
                <a:solidFill>
                  <a:srgbClr val="D62839"/>
                </a:solidFill>
                <a:latin typeface="Calibri" pitchFamily="34" charset="0"/>
                <a:ea typeface="Calibri" pitchFamily="34" charset="-122"/>
                <a:cs typeface="Calibri" pitchFamily="34" charset="-120"/>
              </a:rPr>
              <a:t>LIMITATION</a:t>
            </a:r>
            <a:endParaRPr lang="en-US" sz="950" dirty="0"/>
          </a:p>
        </p:txBody>
      </p:sp>
      <p:sp>
        <p:nvSpPr>
          <p:cNvPr id="34" name="Text 32"/>
          <p:cNvSpPr txBox="1"/>
          <p:nvPr/>
        </p:nvSpPr>
        <p:spPr>
          <a:xfrm>
            <a:off x="7558888" y="4407408"/>
            <a:ext cx="3855568" cy="530352"/>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Binary siren vs not only (no vehicle type or direction); metrics not in abstract; no Pakistani sirens.</a:t>
            </a:r>
            <a:endParaRPr lang="en-US" sz="1100" dirty="0"/>
          </a:p>
        </p:txBody>
      </p:sp>
      <p:sp>
        <p:nvSpPr>
          <p:cNvPr id="35" name="Text 33"/>
          <p:cNvSpPr txBox="1"/>
          <p:nvPr/>
        </p:nvSpPr>
        <p:spPr>
          <a:xfrm>
            <a:off x="6415888" y="5084064"/>
            <a:ext cx="1188720" cy="228600"/>
          </a:xfrm>
          <a:prstGeom prst="rect">
            <a:avLst/>
          </a:prstGeom>
          <a:noFill/>
          <a:ln/>
        </p:spPr>
        <p:txBody>
          <a:bodyPr wrap="square" lIns="0" tIns="0" rIns="0" bIns="0" rtlCol="0" anchor="t"/>
          <a:lstStyle/>
          <a:p>
            <a:pPr indent="0" marL="0">
              <a:buNone/>
            </a:pPr>
            <a:r>
              <a:rPr lang="en-US" sz="950" b="1" spc="150" kern="0" dirty="0">
                <a:solidFill>
                  <a:srgbClr val="9A6700"/>
                </a:solidFill>
                <a:latin typeface="Calibri" pitchFamily="34" charset="0"/>
                <a:ea typeface="Calibri" pitchFamily="34" charset="-122"/>
                <a:cs typeface="Calibri" pitchFamily="34" charset="-120"/>
              </a:rPr>
              <a:t>FUTURE PATH</a:t>
            </a:r>
            <a:endParaRPr lang="en-US" sz="950" dirty="0"/>
          </a:p>
        </p:txBody>
      </p:sp>
      <p:sp>
        <p:nvSpPr>
          <p:cNvPr id="36" name="Text 34"/>
          <p:cNvSpPr txBox="1"/>
          <p:nvPr/>
        </p:nvSpPr>
        <p:spPr>
          <a:xfrm>
            <a:off x="7558888" y="5065776"/>
            <a:ext cx="3855568" cy="329184"/>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Authors: not stated in the abstract.</a:t>
            </a:r>
            <a:endParaRPr lang="en-US" sz="1100" dirty="0"/>
          </a:p>
        </p:txBody>
      </p:sp>
      <p:sp>
        <p:nvSpPr>
          <p:cNvPr id="37" name="Shape 35"/>
          <p:cNvSpPr/>
          <p:nvPr/>
        </p:nvSpPr>
        <p:spPr>
          <a:xfrm>
            <a:off x="548640" y="5650992"/>
            <a:ext cx="11094415" cy="640080"/>
          </a:xfrm>
          <a:prstGeom prst="roundRect">
            <a:avLst>
              <a:gd name="adj" fmla="val 11429"/>
            </a:avLst>
          </a:prstGeom>
          <a:solidFill>
            <a:srgbClr val="E3F3EA"/>
          </a:solidFill>
          <a:ln w="12700">
            <a:solidFill>
              <a:srgbClr val="E3F3EA"/>
            </a:solidFill>
            <a:prstDash val="solid"/>
          </a:ln>
        </p:spPr>
      </p:sp>
      <p:sp>
        <p:nvSpPr>
          <p:cNvPr id="38" name="Shape 36"/>
          <p:cNvSpPr/>
          <p:nvPr/>
        </p:nvSpPr>
        <p:spPr>
          <a:xfrm>
            <a:off x="731520" y="5760720"/>
            <a:ext cx="420624" cy="420624"/>
          </a:xfrm>
          <a:prstGeom prst="ellipse">
            <a:avLst/>
          </a:prstGeom>
          <a:solidFill>
            <a:srgbClr val="17875B"/>
          </a:solidFill>
          <a:ln w="12700">
            <a:solidFill>
              <a:srgbClr val="17875B"/>
            </a:solidFill>
            <a:prstDash val="solid"/>
          </a:ln>
        </p:spPr>
      </p:sp>
      <p:pic>
        <p:nvPicPr>
          <p:cNvPr id="39" name="Image 0" descr="preencoded.png">    </p:cNvPr>
          <p:cNvPicPr>
            <a:picLocks noChangeAspect="1"/>
          </p:cNvPicPr>
          <p:nvPr/>
        </p:nvPicPr>
        <p:blipFill>
          <a:blip r:embed="rId1"/>
          <a:stretch>
            <a:fillRect/>
          </a:stretch>
        </p:blipFill>
        <p:spPr>
          <a:xfrm>
            <a:off x="836676" y="5865876"/>
            <a:ext cx="210312" cy="210312"/>
          </a:xfrm>
          <a:prstGeom prst="rect">
            <a:avLst/>
          </a:prstGeom>
        </p:spPr>
      </p:pic>
      <p:sp>
        <p:nvSpPr>
          <p:cNvPr id="40" name="Text 37"/>
          <p:cNvSpPr txBox="1"/>
          <p:nvPr/>
        </p:nvSpPr>
        <p:spPr>
          <a:xfrm>
            <a:off x="1325880" y="5669280"/>
            <a:ext cx="10088575" cy="603504"/>
          </a:xfrm>
          <a:prstGeom prst="rect">
            <a:avLst/>
          </a:prstGeom>
          <a:noFill/>
          <a:ln/>
        </p:spPr>
        <p:txBody>
          <a:bodyPr wrap="square" lIns="0" tIns="0" rIns="0" bIns="0" rtlCol="0" anchor="ctr"/>
          <a:lstStyle/>
          <a:p>
            <a:pPr indent="0" marL="0">
              <a:buNone/>
            </a:pPr>
            <a:r>
              <a:rPr lang="en-US" sz="1200" b="1" dirty="0">
                <a:solidFill>
                  <a:srgbClr val="17875B"/>
                </a:solidFill>
                <a:latin typeface="Calibri" pitchFamily="34" charset="0"/>
                <a:ea typeface="Calibri" pitchFamily="34" charset="-122"/>
                <a:cs typeface="Calibri" pitchFamily="34" charset="-120"/>
              </a:rPr>
              <a:t>Our takeaway: </a:t>
            </a:r>
            <a:pPr indent="0" marL="0">
              <a:buNone/>
            </a:pPr>
            <a:r>
              <a:rPr lang="en-US" sz="1200" dirty="0">
                <a:solidFill>
                  <a:srgbClr val="1B2437"/>
                </a:solidFill>
                <a:latin typeface="Calibri" pitchFamily="34" charset="0"/>
                <a:ea typeface="Calibri" pitchFamily="34" charset="-122"/>
                <a:cs typeface="Calibri" pitchFamily="34" charset="-120"/>
              </a:rPr>
              <a:t>a siren is audible when the vehicle is hidden, so audio is a natural second channel. We keep it as future work (MEMS microphone cross-check); the trigger stays tied to active warning devices (Section 112AA).</a:t>
            </a:r>
            <a:endParaRPr lang="en-US" sz="1200" dirty="0"/>
          </a:p>
        </p:txBody>
      </p:sp>
      <p:sp>
        <p:nvSpPr>
          <p:cNvPr id="41" name="Text 38"/>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Sources: [14] IEEE Access 2020, doi:10.1109/ACCESS.2020.2988986; [15] arXiv:2506.23437</a:t>
            </a:r>
            <a:endParaRPr lang="en-US" sz="950" dirty="0"/>
          </a:p>
        </p:txBody>
      </p:sp>
      <p:sp>
        <p:nvSpPr>
          <p:cNvPr id="42" name="Text 39"/>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8 / 14</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D62839"/>
          </a:solidFill>
          <a:ln w="12700">
            <a:solidFill>
              <a:srgbClr val="D62839"/>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LITERATURE REVIEW  |  OVERALL LIMITATIONS</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What Existing Work Does Not Solve for Pakistan</a:t>
            </a:r>
            <a:endParaRPr lang="en-US" sz="2600" dirty="0"/>
          </a:p>
        </p:txBody>
      </p:sp>
      <p:sp>
        <p:nvSpPr>
          <p:cNvPr id="5" name="Shape 3"/>
          <p:cNvSpPr/>
          <p:nvPr/>
        </p:nvSpPr>
        <p:spPr>
          <a:xfrm>
            <a:off x="548640" y="1572768"/>
            <a:ext cx="3576218"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Shape 4"/>
          <p:cNvSpPr/>
          <p:nvPr/>
        </p:nvSpPr>
        <p:spPr>
          <a:xfrm>
            <a:off x="749808" y="1755648"/>
            <a:ext cx="402336" cy="402336"/>
          </a:xfrm>
          <a:prstGeom prst="ellipse">
            <a:avLst/>
          </a:prstGeom>
          <a:solidFill>
            <a:srgbClr val="D62839"/>
          </a:solidFill>
          <a:ln w="12700">
            <a:solidFill>
              <a:srgbClr val="D62839"/>
            </a:solidFill>
            <a:prstDash val="solid"/>
          </a:ln>
        </p:spPr>
      </p:sp>
      <p:sp>
        <p:nvSpPr>
          <p:cNvPr id="7" name="Text 5"/>
          <p:cNvSpPr txBox="1"/>
          <p:nvPr/>
        </p:nvSpPr>
        <p:spPr>
          <a:xfrm>
            <a:off x="749808" y="175564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280160" y="1719072"/>
            <a:ext cx="2707538" cy="475488"/>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On-vehicle hardware dependence</a:t>
            </a:r>
            <a:endParaRPr lang="en-US" sz="1350" dirty="0"/>
          </a:p>
        </p:txBody>
      </p:sp>
      <p:sp>
        <p:nvSpPr>
          <p:cNvPr id="9" name="Text 7"/>
          <p:cNvSpPr txBox="1"/>
          <p:nvPr/>
        </p:nvSpPr>
        <p:spPr>
          <a:xfrm>
            <a:off x="749808" y="2286000"/>
            <a:ext cx="3173882" cy="731520"/>
          </a:xfrm>
          <a:prstGeom prst="rect">
            <a:avLst/>
          </a:prstGeom>
          <a:noFill/>
          <a:ln/>
        </p:spPr>
        <p:txBody>
          <a:bodyPr wrap="square" lIns="0" tIns="0" rIns="0" bIns="0" rtlCol="0" anchor="t"/>
          <a:lstStyle/>
          <a:p>
            <a:pPr indent="0" marL="0">
              <a:buNone/>
            </a:pPr>
            <a:r>
              <a:rPr lang="en-US" sz="1150" dirty="0">
                <a:solidFill>
                  <a:srgbClr val="1B2437"/>
                </a:solidFill>
                <a:latin typeface="Calibri" pitchFamily="34" charset="0"/>
                <a:ea typeface="Calibri" pitchFamily="34" charset="-122"/>
                <a:cs typeface="Calibri" pitchFamily="34" charset="-120"/>
              </a:rPr>
              <a:t>IR, RF and GPS/GSM EVP need a unit on every emergency vehicle (about PKR 2,250 per GPS+GSM unit) and coordination across independent fleets.</a:t>
            </a:r>
            <a:endParaRPr lang="en-US" sz="1150" dirty="0"/>
          </a:p>
        </p:txBody>
      </p:sp>
      <p:sp>
        <p:nvSpPr>
          <p:cNvPr id="10" name="Text 8"/>
          <p:cNvSpPr txBox="1"/>
          <p:nvPr/>
        </p:nvSpPr>
        <p:spPr>
          <a:xfrm>
            <a:off x="749808" y="3090672"/>
            <a:ext cx="3173882" cy="219456"/>
          </a:xfrm>
          <a:prstGeom prst="rect">
            <a:avLst/>
          </a:prstGeom>
          <a:noFill/>
          <a:ln/>
        </p:spPr>
        <p:txBody>
          <a:bodyPr wrap="square" lIns="0" tIns="0" rIns="0" bIns="0" rtlCol="0" anchor="t"/>
          <a:lstStyle/>
          <a:p>
            <a:pPr indent="0" marL="0">
              <a:buNone/>
            </a:pPr>
            <a:r>
              <a:rPr lang="en-US" sz="1000" i="1" dirty="0">
                <a:solidFill>
                  <a:srgbClr val="5B6B82"/>
                </a:solidFill>
                <a:latin typeface="Calibri" pitchFamily="34" charset="0"/>
                <a:ea typeface="Calibri" pitchFamily="34" charset="-122"/>
                <a:cs typeface="Calibri" pitchFamily="34" charset="-120"/>
              </a:rPr>
              <a:t>IR / RF / GPS systems, [1]</a:t>
            </a:r>
            <a:endParaRPr lang="en-US" sz="1000" dirty="0"/>
          </a:p>
        </p:txBody>
      </p:sp>
      <p:sp>
        <p:nvSpPr>
          <p:cNvPr id="11" name="Shape 9"/>
          <p:cNvSpPr/>
          <p:nvPr/>
        </p:nvSpPr>
        <p:spPr>
          <a:xfrm>
            <a:off x="4307738" y="1572768"/>
            <a:ext cx="3576218"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2" name="Shape 10"/>
          <p:cNvSpPr/>
          <p:nvPr/>
        </p:nvSpPr>
        <p:spPr>
          <a:xfrm>
            <a:off x="4508906" y="1755648"/>
            <a:ext cx="402336" cy="402336"/>
          </a:xfrm>
          <a:prstGeom prst="ellipse">
            <a:avLst/>
          </a:prstGeom>
          <a:solidFill>
            <a:srgbClr val="D62839"/>
          </a:solidFill>
          <a:ln w="12700">
            <a:solidFill>
              <a:srgbClr val="D62839"/>
            </a:solidFill>
            <a:prstDash val="solid"/>
          </a:ln>
        </p:spPr>
      </p:sp>
      <p:sp>
        <p:nvSpPr>
          <p:cNvPr id="13" name="Text 11"/>
          <p:cNvSpPr txBox="1"/>
          <p:nvPr/>
        </p:nvSpPr>
        <p:spPr>
          <a:xfrm>
            <a:off x="4508906" y="175564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039258" y="1719072"/>
            <a:ext cx="2707538" cy="475488"/>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Positioning and network fragility</a:t>
            </a:r>
            <a:endParaRPr lang="en-US" sz="1350" dirty="0"/>
          </a:p>
        </p:txBody>
      </p:sp>
      <p:sp>
        <p:nvSpPr>
          <p:cNvPr id="15" name="Text 13"/>
          <p:cNvSpPr txBox="1"/>
          <p:nvPr/>
        </p:nvSpPr>
        <p:spPr>
          <a:xfrm>
            <a:off x="4508906" y="2286000"/>
            <a:ext cx="3173882" cy="731520"/>
          </a:xfrm>
          <a:prstGeom prst="rect">
            <a:avLst/>
          </a:prstGeom>
          <a:noFill/>
          <a:ln/>
        </p:spPr>
        <p:txBody>
          <a:bodyPr wrap="square" lIns="0" tIns="0" rIns="0" bIns="0" rtlCol="0" anchor="t"/>
          <a:lstStyle/>
          <a:p>
            <a:pPr indent="0" marL="0">
              <a:buNone/>
            </a:pPr>
            <a:r>
              <a:rPr lang="en-US" sz="1150" dirty="0">
                <a:solidFill>
                  <a:srgbClr val="1B2437"/>
                </a:solidFill>
                <a:latin typeface="Calibri" pitchFamily="34" charset="0"/>
                <a:ea typeface="Calibri" pitchFamily="34" charset="-122"/>
                <a:cs typeface="Calibri" pitchFamily="34" charset="-120"/>
              </a:rPr>
              <a:t>GPS drift and multipath error in dense urban corridors; a live cellular link adds a failure point. IR is line-of-sight only.</a:t>
            </a:r>
            <a:endParaRPr lang="en-US" sz="1150" dirty="0"/>
          </a:p>
        </p:txBody>
      </p:sp>
      <p:sp>
        <p:nvSpPr>
          <p:cNvPr id="16" name="Text 14"/>
          <p:cNvSpPr txBox="1"/>
          <p:nvPr/>
        </p:nvSpPr>
        <p:spPr>
          <a:xfrm>
            <a:off x="4508906" y="3090672"/>
            <a:ext cx="3173882" cy="219456"/>
          </a:xfrm>
          <a:prstGeom prst="rect">
            <a:avLst/>
          </a:prstGeom>
          <a:noFill/>
          <a:ln/>
        </p:spPr>
        <p:txBody>
          <a:bodyPr wrap="square" lIns="0" tIns="0" rIns="0" bIns="0" rtlCol="0" anchor="t"/>
          <a:lstStyle/>
          <a:p>
            <a:pPr indent="0" marL="0">
              <a:buNone/>
            </a:pPr>
            <a:r>
              <a:rPr lang="en-US" sz="1000" i="1" dirty="0">
                <a:solidFill>
                  <a:srgbClr val="5B6B82"/>
                </a:solidFill>
                <a:latin typeface="Calibri" pitchFamily="34" charset="0"/>
                <a:ea typeface="Calibri" pitchFamily="34" charset="-122"/>
                <a:cs typeface="Calibri" pitchFamily="34" charset="-120"/>
              </a:rPr>
              <a:t>Table 1 of the proposal</a:t>
            </a:r>
            <a:endParaRPr lang="en-US" sz="1000" dirty="0"/>
          </a:p>
        </p:txBody>
      </p:sp>
      <p:sp>
        <p:nvSpPr>
          <p:cNvPr id="17" name="Shape 15"/>
          <p:cNvSpPr/>
          <p:nvPr/>
        </p:nvSpPr>
        <p:spPr>
          <a:xfrm>
            <a:off x="8066837" y="1572768"/>
            <a:ext cx="3576218"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8" name="Shape 16"/>
          <p:cNvSpPr/>
          <p:nvPr/>
        </p:nvSpPr>
        <p:spPr>
          <a:xfrm>
            <a:off x="8268005" y="1755648"/>
            <a:ext cx="402336" cy="402336"/>
          </a:xfrm>
          <a:prstGeom prst="ellipse">
            <a:avLst/>
          </a:prstGeom>
          <a:solidFill>
            <a:srgbClr val="D62839"/>
          </a:solidFill>
          <a:ln w="12700">
            <a:solidFill>
              <a:srgbClr val="D62839"/>
            </a:solidFill>
            <a:prstDash val="solid"/>
          </a:ln>
        </p:spPr>
      </p:sp>
      <p:sp>
        <p:nvSpPr>
          <p:cNvPr id="19" name="Text 17"/>
          <p:cNvSpPr txBox="1"/>
          <p:nvPr/>
        </p:nvSpPr>
        <p:spPr>
          <a:xfrm>
            <a:off x="8268005" y="175564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8798357" y="1719072"/>
            <a:ext cx="2707538" cy="475488"/>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Camera prototypes stop at detection</a:t>
            </a:r>
            <a:endParaRPr lang="en-US" sz="1350" dirty="0"/>
          </a:p>
        </p:txBody>
      </p:sp>
      <p:sp>
        <p:nvSpPr>
          <p:cNvPr id="21" name="Text 19"/>
          <p:cNvSpPr txBox="1"/>
          <p:nvPr/>
        </p:nvSpPr>
        <p:spPr>
          <a:xfrm>
            <a:off x="8268005" y="2286000"/>
            <a:ext cx="3173882" cy="731520"/>
          </a:xfrm>
          <a:prstGeom prst="rect">
            <a:avLst/>
          </a:prstGeom>
          <a:noFill/>
          <a:ln/>
        </p:spPr>
        <p:txBody>
          <a:bodyPr wrap="square" lIns="0" tIns="0" rIns="0" bIns="0" rtlCol="0" anchor="t"/>
          <a:lstStyle/>
          <a:p>
            <a:pPr indent="0" marL="0">
              <a:buNone/>
            </a:pPr>
            <a:r>
              <a:rPr lang="en-US" sz="1150" dirty="0">
                <a:solidFill>
                  <a:srgbClr val="1B2437"/>
                </a:solidFill>
                <a:latin typeface="Calibri" pitchFamily="34" charset="0"/>
                <a:ea typeface="Calibri" pitchFamily="34" charset="-122"/>
                <a:cs typeface="Calibri" pitchFamily="34" charset="-120"/>
              </a:rPr>
              <a:t>They show YOLO on a Pi works, but their abstracts report no camera lead time, false-trigger handling or fail-safe reversion.</a:t>
            </a:r>
            <a:endParaRPr lang="en-US" sz="1150" dirty="0"/>
          </a:p>
        </p:txBody>
      </p:sp>
      <p:sp>
        <p:nvSpPr>
          <p:cNvPr id="22" name="Text 20"/>
          <p:cNvSpPr txBox="1"/>
          <p:nvPr/>
        </p:nvSpPr>
        <p:spPr>
          <a:xfrm>
            <a:off x="8268005" y="3090672"/>
            <a:ext cx="3173882" cy="219456"/>
          </a:xfrm>
          <a:prstGeom prst="rect">
            <a:avLst/>
          </a:prstGeom>
          <a:noFill/>
          <a:ln/>
        </p:spPr>
        <p:txBody>
          <a:bodyPr wrap="square" lIns="0" tIns="0" rIns="0" bIns="0" rtlCol="0" anchor="t"/>
          <a:lstStyle/>
          <a:p>
            <a:pPr indent="0" marL="0">
              <a:buNone/>
            </a:pPr>
            <a:r>
              <a:rPr lang="en-US" sz="1000" i="1" dirty="0">
                <a:solidFill>
                  <a:srgbClr val="5B6B82"/>
                </a:solidFill>
                <a:latin typeface="Calibri" pitchFamily="34" charset="0"/>
                <a:ea typeface="Calibri" pitchFamily="34" charset="-122"/>
                <a:cs typeface="Calibri" pitchFamily="34" charset="-120"/>
              </a:rPr>
              <a:t>[11], [12]</a:t>
            </a:r>
            <a:endParaRPr lang="en-US" sz="1000" dirty="0"/>
          </a:p>
        </p:txBody>
      </p:sp>
      <p:sp>
        <p:nvSpPr>
          <p:cNvPr id="23" name="Shape 21"/>
          <p:cNvSpPr/>
          <p:nvPr/>
        </p:nvSpPr>
        <p:spPr>
          <a:xfrm>
            <a:off x="548640" y="3584448"/>
            <a:ext cx="3576218"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24" name="Shape 22"/>
          <p:cNvSpPr/>
          <p:nvPr/>
        </p:nvSpPr>
        <p:spPr>
          <a:xfrm>
            <a:off x="749808" y="3767328"/>
            <a:ext cx="402336" cy="402336"/>
          </a:xfrm>
          <a:prstGeom prst="ellipse">
            <a:avLst/>
          </a:prstGeom>
          <a:solidFill>
            <a:srgbClr val="D62839"/>
          </a:solidFill>
          <a:ln w="12700">
            <a:solidFill>
              <a:srgbClr val="D62839"/>
            </a:solidFill>
            <a:prstDash val="solid"/>
          </a:ln>
        </p:spPr>
      </p:sp>
      <p:sp>
        <p:nvSpPr>
          <p:cNvPr id="25" name="Text 23"/>
          <p:cNvSpPr txBox="1"/>
          <p:nvPr/>
        </p:nvSpPr>
        <p:spPr>
          <a:xfrm>
            <a:off x="749808" y="376732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txBox="1"/>
          <p:nvPr/>
        </p:nvSpPr>
        <p:spPr>
          <a:xfrm>
            <a:off x="1280160" y="3730752"/>
            <a:ext cx="2707538" cy="475488"/>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No Pakistani emergency-vehicle data</a:t>
            </a:r>
            <a:endParaRPr lang="en-US" sz="1350" dirty="0"/>
          </a:p>
        </p:txBody>
      </p:sp>
      <p:sp>
        <p:nvSpPr>
          <p:cNvPr id="27" name="Text 25"/>
          <p:cNvSpPr txBox="1"/>
          <p:nvPr/>
        </p:nvSpPr>
        <p:spPr>
          <a:xfrm>
            <a:off x="749808" y="4297680"/>
            <a:ext cx="3173882" cy="731520"/>
          </a:xfrm>
          <a:prstGeom prst="rect">
            <a:avLst/>
          </a:prstGeom>
          <a:noFill/>
          <a:ln/>
        </p:spPr>
        <p:txBody>
          <a:bodyPr wrap="square" lIns="0" tIns="0" rIns="0" bIns="0" rtlCol="0" anchor="t"/>
          <a:lstStyle/>
          <a:p>
            <a:pPr indent="0" marL="0">
              <a:buNone/>
            </a:pPr>
            <a:r>
              <a:rPr lang="en-US" sz="1150" dirty="0">
                <a:solidFill>
                  <a:srgbClr val="1B2437"/>
                </a:solidFill>
                <a:latin typeface="Calibri" pitchFamily="34" charset="0"/>
                <a:ea typeface="Calibri" pitchFamily="34" charset="-122"/>
                <a:cs typeface="Calibri" pitchFamily="34" charset="-120"/>
              </a:rPr>
              <a:t>Benchmarks are web-sourced or Bangladeshi. Pakistani sets cover make-and-model, not ambulances or fire trucks.</a:t>
            </a:r>
            <a:endParaRPr lang="en-US" sz="1150" dirty="0"/>
          </a:p>
        </p:txBody>
      </p:sp>
      <p:sp>
        <p:nvSpPr>
          <p:cNvPr id="28" name="Text 26"/>
          <p:cNvSpPr txBox="1"/>
          <p:nvPr/>
        </p:nvSpPr>
        <p:spPr>
          <a:xfrm>
            <a:off x="749808" y="5102352"/>
            <a:ext cx="3173882" cy="219456"/>
          </a:xfrm>
          <a:prstGeom prst="rect">
            <a:avLst/>
          </a:prstGeom>
          <a:noFill/>
          <a:ln/>
        </p:spPr>
        <p:txBody>
          <a:bodyPr wrap="square" lIns="0" tIns="0" rIns="0" bIns="0" rtlCol="0" anchor="t"/>
          <a:lstStyle/>
          <a:p>
            <a:pPr indent="0" marL="0">
              <a:buNone/>
            </a:pPr>
            <a:r>
              <a:rPr lang="en-US" sz="1000" i="1" dirty="0">
                <a:solidFill>
                  <a:srgbClr val="5B6B82"/>
                </a:solidFill>
                <a:latin typeface="Calibri" pitchFamily="34" charset="0"/>
                <a:ea typeface="Calibri" pitchFamily="34" charset="-122"/>
                <a:cs typeface="Calibri" pitchFamily="34" charset="-120"/>
              </a:rPr>
              <a:t>[13], [19], [16], [17]</a:t>
            </a:r>
            <a:endParaRPr lang="en-US" sz="1000" dirty="0"/>
          </a:p>
        </p:txBody>
      </p:sp>
      <p:sp>
        <p:nvSpPr>
          <p:cNvPr id="29" name="Shape 27"/>
          <p:cNvSpPr/>
          <p:nvPr/>
        </p:nvSpPr>
        <p:spPr>
          <a:xfrm>
            <a:off x="4307738" y="3584448"/>
            <a:ext cx="3576218"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30" name="Shape 28"/>
          <p:cNvSpPr/>
          <p:nvPr/>
        </p:nvSpPr>
        <p:spPr>
          <a:xfrm>
            <a:off x="4508906" y="3767328"/>
            <a:ext cx="402336" cy="402336"/>
          </a:xfrm>
          <a:prstGeom prst="ellipse">
            <a:avLst/>
          </a:prstGeom>
          <a:solidFill>
            <a:srgbClr val="D62839"/>
          </a:solidFill>
          <a:ln w="12700">
            <a:solidFill>
              <a:srgbClr val="D62839"/>
            </a:solidFill>
            <a:prstDash val="solid"/>
          </a:ln>
        </p:spPr>
      </p:sp>
      <p:sp>
        <p:nvSpPr>
          <p:cNvPr id="31" name="Text 29"/>
          <p:cNvSpPr txBox="1"/>
          <p:nvPr/>
        </p:nvSpPr>
        <p:spPr>
          <a:xfrm>
            <a:off x="4508906" y="376732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2" name="Text 30"/>
          <p:cNvSpPr txBox="1"/>
          <p:nvPr/>
        </p:nvSpPr>
        <p:spPr>
          <a:xfrm>
            <a:off x="5039258" y="3730752"/>
            <a:ext cx="2707538" cy="475488"/>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Benchmarks, not system validation</a:t>
            </a:r>
            <a:endParaRPr lang="en-US" sz="1350" dirty="0"/>
          </a:p>
        </p:txBody>
      </p:sp>
      <p:sp>
        <p:nvSpPr>
          <p:cNvPr id="33" name="Text 31"/>
          <p:cNvSpPr txBox="1"/>
          <p:nvPr/>
        </p:nvSpPr>
        <p:spPr>
          <a:xfrm>
            <a:off x="4508906" y="4297680"/>
            <a:ext cx="3173882" cy="731520"/>
          </a:xfrm>
          <a:prstGeom prst="rect">
            <a:avLst/>
          </a:prstGeom>
          <a:noFill/>
          <a:ln/>
        </p:spPr>
        <p:txBody>
          <a:bodyPr wrap="square" lIns="0" tIns="0" rIns="0" bIns="0" rtlCol="0" anchor="t"/>
          <a:lstStyle/>
          <a:p>
            <a:pPr indent="0" marL="0">
              <a:buNone/>
            </a:pPr>
            <a:r>
              <a:rPr lang="en-US" sz="1150" dirty="0">
                <a:solidFill>
                  <a:srgbClr val="1B2437"/>
                </a:solidFill>
                <a:latin typeface="Calibri" pitchFamily="34" charset="0"/>
                <a:ea typeface="Calibri" pitchFamily="34" charset="-122"/>
                <a:cs typeface="Calibri" pitchFamily="34" charset="-120"/>
              </a:rPr>
              <a:t>Accuracy and mAP are reported, not latency to green, cross-traffic delay or comparison with a no-preemption baseline.</a:t>
            </a:r>
            <a:endParaRPr lang="en-US" sz="1150" dirty="0"/>
          </a:p>
        </p:txBody>
      </p:sp>
      <p:sp>
        <p:nvSpPr>
          <p:cNvPr id="34" name="Text 32"/>
          <p:cNvSpPr txBox="1"/>
          <p:nvPr/>
        </p:nvSpPr>
        <p:spPr>
          <a:xfrm>
            <a:off x="4508906" y="5102352"/>
            <a:ext cx="3173882" cy="219456"/>
          </a:xfrm>
          <a:prstGeom prst="rect">
            <a:avLst/>
          </a:prstGeom>
          <a:noFill/>
          <a:ln/>
        </p:spPr>
        <p:txBody>
          <a:bodyPr wrap="square" lIns="0" tIns="0" rIns="0" bIns="0" rtlCol="0" anchor="t"/>
          <a:lstStyle/>
          <a:p>
            <a:pPr indent="0" marL="0">
              <a:buNone/>
            </a:pPr>
            <a:r>
              <a:rPr lang="en-US" sz="1000" i="1" dirty="0">
                <a:solidFill>
                  <a:srgbClr val="5B6B82"/>
                </a:solidFill>
                <a:latin typeface="Calibri" pitchFamily="34" charset="0"/>
                <a:ea typeface="Calibri" pitchFamily="34" charset="-122"/>
                <a:cs typeface="Calibri" pitchFamily="34" charset="-120"/>
              </a:rPr>
              <a:t>[13], [14], [15], [19]</a:t>
            </a:r>
            <a:endParaRPr lang="en-US" sz="1000" dirty="0"/>
          </a:p>
        </p:txBody>
      </p:sp>
      <p:sp>
        <p:nvSpPr>
          <p:cNvPr id="35" name="Shape 33"/>
          <p:cNvSpPr/>
          <p:nvPr/>
        </p:nvSpPr>
        <p:spPr>
          <a:xfrm>
            <a:off x="8066837" y="3584448"/>
            <a:ext cx="3576218" cy="1828800"/>
          </a:xfrm>
          <a:prstGeom prst="roundRect">
            <a:avLst>
              <a:gd name="adj" fmla="val 4000"/>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36" name="Shape 34"/>
          <p:cNvSpPr/>
          <p:nvPr/>
        </p:nvSpPr>
        <p:spPr>
          <a:xfrm>
            <a:off x="8268005" y="3767328"/>
            <a:ext cx="402336" cy="402336"/>
          </a:xfrm>
          <a:prstGeom prst="ellipse">
            <a:avLst/>
          </a:prstGeom>
          <a:solidFill>
            <a:srgbClr val="D62839"/>
          </a:solidFill>
          <a:ln w="12700">
            <a:solidFill>
              <a:srgbClr val="D62839"/>
            </a:solidFill>
            <a:prstDash val="solid"/>
          </a:ln>
        </p:spPr>
      </p:sp>
      <p:sp>
        <p:nvSpPr>
          <p:cNvPr id="37" name="Text 35"/>
          <p:cNvSpPr txBox="1"/>
          <p:nvPr/>
        </p:nvSpPr>
        <p:spPr>
          <a:xfrm>
            <a:off x="8268005" y="376732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8" name="Text 36"/>
          <p:cNvSpPr txBox="1"/>
          <p:nvPr/>
        </p:nvSpPr>
        <p:spPr>
          <a:xfrm>
            <a:off x="8798357" y="3730752"/>
            <a:ext cx="2707538" cy="475488"/>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Not designed for Pakistan's context</a:t>
            </a:r>
            <a:endParaRPr lang="en-US" sz="1350" dirty="0"/>
          </a:p>
        </p:txBody>
      </p:sp>
      <p:sp>
        <p:nvSpPr>
          <p:cNvPr id="39" name="Text 37"/>
          <p:cNvSpPr txBox="1"/>
          <p:nvPr/>
        </p:nvSpPr>
        <p:spPr>
          <a:xfrm>
            <a:off x="8268005" y="4297680"/>
            <a:ext cx="3173882" cy="731520"/>
          </a:xfrm>
          <a:prstGeom prst="rect">
            <a:avLst/>
          </a:prstGeom>
          <a:noFill/>
          <a:ln/>
        </p:spPr>
        <p:txBody>
          <a:bodyPr wrap="square" lIns="0" tIns="0" rIns="0" bIns="0" rtlCol="0" anchor="t"/>
          <a:lstStyle/>
          <a:p>
            <a:pPr indent="0" marL="0">
              <a:buNone/>
            </a:pPr>
            <a:r>
              <a:rPr lang="en-US" sz="1150" dirty="0">
                <a:solidFill>
                  <a:srgbClr val="1B2437"/>
                </a:solidFill>
                <a:latin typeface="Calibri" pitchFamily="34" charset="0"/>
                <a:ea typeface="Calibri" pitchFamily="34" charset="-122"/>
                <a:cs typeface="Calibri" pitchFamily="34" charset="-120"/>
              </a:rPr>
              <a:t>No reviewed work targets Pakistani liveries, intersections, mixed fleets or the Section 112AA right-of-way rule.</a:t>
            </a:r>
            <a:endParaRPr lang="en-US" sz="1150" dirty="0"/>
          </a:p>
        </p:txBody>
      </p:sp>
      <p:sp>
        <p:nvSpPr>
          <p:cNvPr id="40" name="Text 38"/>
          <p:cNvSpPr txBox="1"/>
          <p:nvPr/>
        </p:nvSpPr>
        <p:spPr>
          <a:xfrm>
            <a:off x="8268005" y="5102352"/>
            <a:ext cx="3173882" cy="219456"/>
          </a:xfrm>
          <a:prstGeom prst="rect">
            <a:avLst/>
          </a:prstGeom>
          <a:noFill/>
          <a:ln/>
        </p:spPr>
        <p:txBody>
          <a:bodyPr wrap="square" lIns="0" tIns="0" rIns="0" bIns="0" rtlCol="0" anchor="t"/>
          <a:lstStyle/>
          <a:p>
            <a:pPr indent="0" marL="0">
              <a:buNone/>
            </a:pPr>
            <a:r>
              <a:rPr lang="en-US" sz="1000" i="1" dirty="0">
                <a:solidFill>
                  <a:srgbClr val="5B6B82"/>
                </a:solidFill>
                <a:latin typeface="Calibri" pitchFamily="34" charset="0"/>
                <a:ea typeface="Calibri" pitchFamily="34" charset="-122"/>
                <a:cs typeface="Calibri" pitchFamily="34" charset="-120"/>
              </a:rPr>
              <a:t>All of the above, [10]</a:t>
            </a:r>
            <a:endParaRPr lang="en-US" sz="1000" dirty="0"/>
          </a:p>
        </p:txBody>
      </p:sp>
      <p:sp>
        <p:nvSpPr>
          <p:cNvPr id="41" name="Shape 39"/>
          <p:cNvSpPr/>
          <p:nvPr/>
        </p:nvSpPr>
        <p:spPr>
          <a:xfrm>
            <a:off x="548640" y="5623560"/>
            <a:ext cx="11094415" cy="640080"/>
          </a:xfrm>
          <a:prstGeom prst="roundRect">
            <a:avLst>
              <a:gd name="adj" fmla="val 11429"/>
            </a:avLst>
          </a:prstGeom>
          <a:solidFill>
            <a:srgbClr val="14213D"/>
          </a:solidFill>
          <a:ln w="12700">
            <a:solidFill>
              <a:srgbClr val="14213D"/>
            </a:solidFill>
            <a:prstDash val="solid"/>
          </a:ln>
        </p:spPr>
      </p:sp>
      <p:sp>
        <p:nvSpPr>
          <p:cNvPr id="42" name="Text 40"/>
          <p:cNvSpPr txBox="1"/>
          <p:nvPr/>
        </p:nvSpPr>
        <p:spPr>
          <a:xfrm>
            <a:off x="822960" y="5623560"/>
            <a:ext cx="10545775" cy="640080"/>
          </a:xfrm>
          <a:prstGeom prst="rect">
            <a:avLst/>
          </a:prstGeom>
          <a:noFill/>
          <a:ln/>
        </p:spPr>
        <p:txBody>
          <a:bodyPr wrap="square" lIns="0" tIns="0" rIns="0" bIns="0" rtlCol="0" anchor="ctr"/>
          <a:lstStyle/>
          <a:p>
            <a:pPr indent="0" marL="0">
              <a:buNone/>
            </a:pPr>
            <a:r>
              <a:rPr lang="en-US" sz="1450" b="1" dirty="0">
                <a:solidFill>
                  <a:srgbClr val="F2A300"/>
                </a:solidFill>
                <a:latin typeface="Cambria" pitchFamily="34" charset="0"/>
                <a:ea typeface="Cambria" pitchFamily="34" charset="-122"/>
                <a:cs typeface="Cambria" pitchFamily="34" charset="-120"/>
              </a:rPr>
              <a:t>The open gap:  </a:t>
            </a:r>
            <a:pPr indent="0" marL="0">
              <a:buNone/>
            </a:pPr>
            <a:r>
              <a:rPr lang="en-US" sz="1450" b="1" dirty="0">
                <a:solidFill>
                  <a:srgbClr val="FFFFFF"/>
                </a:solidFill>
                <a:latin typeface="Cambria" pitchFamily="34" charset="0"/>
                <a:ea typeface="Cambria" pitchFamily="34" charset="-122"/>
                <a:cs typeface="Cambria" pitchFamily="34" charset="-120"/>
              </a:rPr>
              <a:t>a vehicle-independent, camera-only, fail-safe EVP, validated against explicit targets, for Pakistani conditions.</a:t>
            </a:r>
            <a:endParaRPr lang="en-US" sz="1450" dirty="0"/>
          </a:p>
        </p:txBody>
      </p:sp>
      <p:sp>
        <p:nvSpPr>
          <p:cNvPr id="43" name="Text 41"/>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Sources: [1], [10], [11]-[17], [19]; Table 1 of the proposal</a:t>
            </a:r>
            <a:endParaRPr lang="en-US" sz="950" dirty="0"/>
          </a:p>
        </p:txBody>
      </p:sp>
      <p:sp>
        <p:nvSpPr>
          <p:cNvPr id="44" name="Text 42"/>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9 / 14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D62839"/>
          </a:solidFill>
          <a:ln w="12700">
            <a:solidFill>
              <a:srgbClr val="D62839"/>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C9D3E6"/>
                </a:solidFill>
                <a:latin typeface="Calibri" pitchFamily="34" charset="0"/>
                <a:ea typeface="Calibri" pitchFamily="34" charset="-122"/>
                <a:cs typeface="Calibri" pitchFamily="34" charset="-120"/>
              </a:rPr>
              <a:t>PROBLEM STATEMENT</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The Problem in One Sentence</a:t>
            </a:r>
            <a:endParaRPr lang="en-US" sz="2600" dirty="0"/>
          </a:p>
        </p:txBody>
      </p:sp>
      <p:sp>
        <p:nvSpPr>
          <p:cNvPr id="5" name="Text 3"/>
          <p:cNvSpPr txBox="1"/>
          <p:nvPr/>
        </p:nvSpPr>
        <p:spPr>
          <a:xfrm>
            <a:off x="548640" y="1691640"/>
            <a:ext cx="10607040" cy="214884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Pakistani cities have </a:t>
            </a:r>
            <a:pPr indent="0" marL="0">
              <a:buNone/>
            </a:pPr>
            <a:r>
              <a:rPr lang="en-US" sz="3100" b="1" dirty="0">
                <a:solidFill>
                  <a:srgbClr val="F2A300"/>
                </a:solidFill>
                <a:latin typeface="Cambria" pitchFamily="34" charset="0"/>
                <a:ea typeface="Cambria" pitchFamily="34" charset="-122"/>
                <a:cs typeface="Cambria" pitchFamily="34" charset="-120"/>
              </a:rPr>
              <a:t>no low-cost, vehicle-independent way</a:t>
            </a:r>
            <a:pPr indent="0" marL="0">
              <a:buNone/>
            </a:pPr>
            <a:r>
              <a:rPr lang="en-US" sz="3100" b="1" dirty="0">
                <a:solidFill>
                  <a:srgbClr val="FFFFFF"/>
                </a:solidFill>
                <a:latin typeface="Cambria" pitchFamily="34" charset="0"/>
                <a:ea typeface="Cambria" pitchFamily="34" charset="-122"/>
                <a:cs typeface="Cambria" pitchFamily="34" charset="-120"/>
              </a:rPr>
              <a:t> of giving emergency vehicles priority at signalised intersections, and time-critical emergencies suffer </a:t>
            </a:r>
            <a:pPr indent="0" marL="0">
              <a:buNone/>
            </a:pPr>
            <a:r>
              <a:rPr lang="en-US" sz="3100" b="1" dirty="0">
                <a:solidFill>
                  <a:srgbClr val="F2A300"/>
                </a:solidFill>
                <a:latin typeface="Cambria" pitchFamily="34" charset="0"/>
                <a:ea typeface="Cambria" pitchFamily="34" charset="-122"/>
                <a:cs typeface="Cambria" pitchFamily="34" charset="-120"/>
              </a:rPr>
              <a:t>avoidable delays</a:t>
            </a:r>
            <a:pPr indent="0" marL="0">
              <a:buNone/>
            </a:pPr>
            <a:r>
              <a:rPr lang="en-US" sz="3100" b="1" dirty="0">
                <a:solidFill>
                  <a:srgbClr val="FFFFFF"/>
                </a:solidFill>
                <a:latin typeface="Cambria" pitchFamily="34" charset="0"/>
                <a:ea typeface="Cambria" pitchFamily="34" charset="-122"/>
                <a:cs typeface="Cambria" pitchFamily="34" charset="-120"/>
              </a:rPr>
              <a:t> as a result.</a:t>
            </a:r>
            <a:endParaRPr lang="en-US" sz="3100" dirty="0"/>
          </a:p>
        </p:txBody>
      </p:sp>
      <p:sp>
        <p:nvSpPr>
          <p:cNvPr id="6" name="Shape 4"/>
          <p:cNvSpPr/>
          <p:nvPr/>
        </p:nvSpPr>
        <p:spPr>
          <a:xfrm>
            <a:off x="548640" y="4206240"/>
            <a:ext cx="3545738" cy="1783080"/>
          </a:xfrm>
          <a:prstGeom prst="roundRect">
            <a:avLst>
              <a:gd name="adj" fmla="val 4103"/>
            </a:avLst>
          </a:prstGeom>
          <a:solidFill>
            <a:srgbClr val="1E2F55"/>
          </a:solidFill>
          <a:ln w="12700">
            <a:solidFill>
              <a:srgbClr val="1E2F55"/>
            </a:solidFill>
            <a:prstDash val="solid"/>
          </a:ln>
        </p:spPr>
      </p:sp>
      <p:sp>
        <p:nvSpPr>
          <p:cNvPr id="7" name="Shape 5"/>
          <p:cNvSpPr/>
          <p:nvPr/>
        </p:nvSpPr>
        <p:spPr>
          <a:xfrm>
            <a:off x="777240" y="4434840"/>
            <a:ext cx="457200" cy="457200"/>
          </a:xfrm>
          <a:prstGeom prst="ellipse">
            <a:avLst/>
          </a:prstGeom>
          <a:solidFill>
            <a:srgbClr val="D62839"/>
          </a:solidFill>
          <a:ln w="12700">
            <a:solidFill>
              <a:srgbClr val="D62839"/>
            </a:solidFill>
            <a:prstDash val="solid"/>
          </a:ln>
        </p:spPr>
      </p:sp>
      <p:pic>
        <p:nvPicPr>
          <p:cNvPr id="8" name="Image 0" descr="preencoded.png">    </p:cNvPr>
          <p:cNvPicPr>
            <a:picLocks noChangeAspect="1"/>
          </p:cNvPicPr>
          <p:nvPr/>
        </p:nvPicPr>
        <p:blipFill>
          <a:blip r:embed="rId1"/>
          <a:stretch>
            <a:fillRect/>
          </a:stretch>
        </p:blipFill>
        <p:spPr>
          <a:xfrm>
            <a:off x="891540" y="4549140"/>
            <a:ext cx="228600" cy="228600"/>
          </a:xfrm>
          <a:prstGeom prst="rect">
            <a:avLst/>
          </a:prstGeom>
        </p:spPr>
      </p:pic>
      <p:sp>
        <p:nvSpPr>
          <p:cNvPr id="9" name="Text 6"/>
          <p:cNvSpPr txBox="1"/>
          <p:nvPr/>
        </p:nvSpPr>
        <p:spPr>
          <a:xfrm>
            <a:off x="1417320" y="4389120"/>
            <a:ext cx="2539898" cy="548640"/>
          </a:xfrm>
          <a:prstGeom prst="rect">
            <a:avLst/>
          </a:prstGeom>
          <a:noFill/>
          <a:ln/>
        </p:spPr>
        <p:txBody>
          <a:bodyPr wrap="square" lIns="0" tIns="0" rIns="0" bIns="0" rtlCol="0" anchor="ctr"/>
          <a:lstStyle/>
          <a:p>
            <a:pPr indent="0" marL="0">
              <a:buNone/>
            </a:pPr>
            <a:r>
              <a:rPr lang="en-US" sz="2800" b="1" dirty="0">
                <a:solidFill>
                  <a:srgbClr val="F2A300"/>
                </a:solidFill>
                <a:latin typeface="Cambria" pitchFamily="34" charset="0"/>
                <a:ea typeface="Cambria" pitchFamily="34" charset="-122"/>
                <a:cs typeface="Cambria" pitchFamily="34" charset="-120"/>
              </a:rPr>
              <a:t>+5%</a:t>
            </a:r>
            <a:endParaRPr lang="en-US" sz="2800" dirty="0"/>
          </a:p>
        </p:txBody>
      </p:sp>
      <p:sp>
        <p:nvSpPr>
          <p:cNvPr id="10" name="Text 7"/>
          <p:cNvSpPr txBox="1"/>
          <p:nvPr/>
        </p:nvSpPr>
        <p:spPr>
          <a:xfrm>
            <a:off x="777240" y="5074920"/>
            <a:ext cx="3088538" cy="868680"/>
          </a:xfrm>
          <a:prstGeom prst="rect">
            <a:avLst/>
          </a:prstGeom>
          <a:noFill/>
          <a:ln/>
        </p:spPr>
        <p:txBody>
          <a:bodyPr wrap="square" lIns="0" tIns="0" rIns="0" bIns="0" rtlCol="0" anchor="t"/>
          <a:lstStyle/>
          <a:p>
            <a:pPr indent="0" marL="0">
              <a:buNone/>
            </a:pPr>
            <a:r>
              <a:rPr lang="en-US" sz="1350" dirty="0">
                <a:solidFill>
                  <a:srgbClr val="C9D3E6"/>
                </a:solidFill>
                <a:latin typeface="Calibri" pitchFamily="34" charset="0"/>
                <a:ea typeface="Calibri" pitchFamily="34" charset="-122"/>
                <a:cs typeface="Calibri" pitchFamily="34" charset="-120"/>
              </a:rPr>
              <a:t>odds of on-scene death for each extra minute of EMS response, Punjab Rescue 1122 data [3]</a:t>
            </a:r>
            <a:endParaRPr lang="en-US" sz="1350" dirty="0"/>
          </a:p>
        </p:txBody>
      </p:sp>
      <p:sp>
        <p:nvSpPr>
          <p:cNvPr id="11" name="Shape 8"/>
          <p:cNvSpPr/>
          <p:nvPr/>
        </p:nvSpPr>
        <p:spPr>
          <a:xfrm>
            <a:off x="4322978" y="4206240"/>
            <a:ext cx="3545738" cy="1783080"/>
          </a:xfrm>
          <a:prstGeom prst="roundRect">
            <a:avLst>
              <a:gd name="adj" fmla="val 4103"/>
            </a:avLst>
          </a:prstGeom>
          <a:solidFill>
            <a:srgbClr val="1E2F55"/>
          </a:solidFill>
          <a:ln w="12700">
            <a:solidFill>
              <a:srgbClr val="1E2F55"/>
            </a:solidFill>
            <a:prstDash val="solid"/>
          </a:ln>
        </p:spPr>
      </p:sp>
      <p:sp>
        <p:nvSpPr>
          <p:cNvPr id="12" name="Shape 9"/>
          <p:cNvSpPr/>
          <p:nvPr/>
        </p:nvSpPr>
        <p:spPr>
          <a:xfrm>
            <a:off x="4551578" y="4434840"/>
            <a:ext cx="457200" cy="457200"/>
          </a:xfrm>
          <a:prstGeom prst="ellipse">
            <a:avLst/>
          </a:prstGeom>
          <a:solidFill>
            <a:srgbClr val="D62839"/>
          </a:solidFill>
          <a:ln w="12700">
            <a:solidFill>
              <a:srgbClr val="D62839"/>
            </a:solidFill>
            <a:prstDash val="solid"/>
          </a:ln>
        </p:spPr>
      </p:sp>
      <p:pic>
        <p:nvPicPr>
          <p:cNvPr id="13" name="Image 1" descr="preencoded.png">    </p:cNvPr>
          <p:cNvPicPr>
            <a:picLocks noChangeAspect="1"/>
          </p:cNvPicPr>
          <p:nvPr/>
        </p:nvPicPr>
        <p:blipFill>
          <a:blip r:embed="rId2"/>
          <a:stretch>
            <a:fillRect/>
          </a:stretch>
        </p:blipFill>
        <p:spPr>
          <a:xfrm>
            <a:off x="4665878" y="4549140"/>
            <a:ext cx="228600" cy="228600"/>
          </a:xfrm>
          <a:prstGeom prst="rect">
            <a:avLst/>
          </a:prstGeom>
        </p:spPr>
      </p:pic>
      <p:sp>
        <p:nvSpPr>
          <p:cNvPr id="14" name="Text 10"/>
          <p:cNvSpPr txBox="1"/>
          <p:nvPr/>
        </p:nvSpPr>
        <p:spPr>
          <a:xfrm>
            <a:off x="5191658" y="4389120"/>
            <a:ext cx="2539898" cy="548640"/>
          </a:xfrm>
          <a:prstGeom prst="rect">
            <a:avLst/>
          </a:prstGeom>
          <a:noFill/>
          <a:ln/>
        </p:spPr>
        <p:txBody>
          <a:bodyPr wrap="square" lIns="0" tIns="0" rIns="0" bIns="0" rtlCol="0" anchor="ctr"/>
          <a:lstStyle/>
          <a:p>
            <a:pPr indent="0" marL="0">
              <a:buNone/>
            </a:pPr>
            <a:r>
              <a:rPr lang="en-US" sz="2800" b="1" dirty="0">
                <a:solidFill>
                  <a:srgbClr val="F2A300"/>
                </a:solidFill>
                <a:latin typeface="Cambria" pitchFamily="34" charset="0"/>
                <a:ea typeface="Cambria" pitchFamily="34" charset="-122"/>
                <a:cs typeface="Cambria" pitchFamily="34" charset="-120"/>
              </a:rPr>
              <a:t>30.9%</a:t>
            </a:r>
            <a:endParaRPr lang="en-US" sz="2800" dirty="0"/>
          </a:p>
        </p:txBody>
      </p:sp>
      <p:sp>
        <p:nvSpPr>
          <p:cNvPr id="15" name="Text 11"/>
          <p:cNvSpPr txBox="1"/>
          <p:nvPr/>
        </p:nvSpPr>
        <p:spPr>
          <a:xfrm>
            <a:off x="4551578" y="5074920"/>
            <a:ext cx="3088538" cy="868680"/>
          </a:xfrm>
          <a:prstGeom prst="rect">
            <a:avLst/>
          </a:prstGeom>
          <a:noFill/>
          <a:ln/>
        </p:spPr>
        <p:txBody>
          <a:bodyPr wrap="square" lIns="0" tIns="0" rIns="0" bIns="0" rtlCol="0" anchor="t"/>
          <a:lstStyle/>
          <a:p>
            <a:pPr indent="0" marL="0">
              <a:buNone/>
            </a:pPr>
            <a:r>
              <a:rPr lang="en-US" sz="1350" dirty="0">
                <a:solidFill>
                  <a:srgbClr val="C9D3E6"/>
                </a:solidFill>
                <a:latin typeface="Calibri" pitchFamily="34" charset="0"/>
                <a:ea typeface="Calibri" pitchFamily="34" charset="-122"/>
                <a:cs typeface="Calibri" pitchFamily="34" charset="-120"/>
              </a:rPr>
              <a:t>of 978 Karachi trauma patients reached the emergency room within an hour [4]</a:t>
            </a:r>
            <a:endParaRPr lang="en-US" sz="1350" dirty="0"/>
          </a:p>
        </p:txBody>
      </p:sp>
      <p:sp>
        <p:nvSpPr>
          <p:cNvPr id="16" name="Shape 12"/>
          <p:cNvSpPr/>
          <p:nvPr/>
        </p:nvSpPr>
        <p:spPr>
          <a:xfrm>
            <a:off x="8097317" y="4206240"/>
            <a:ext cx="3545738" cy="1783080"/>
          </a:xfrm>
          <a:prstGeom prst="roundRect">
            <a:avLst>
              <a:gd name="adj" fmla="val 4103"/>
            </a:avLst>
          </a:prstGeom>
          <a:solidFill>
            <a:srgbClr val="1E2F55"/>
          </a:solidFill>
          <a:ln w="12700">
            <a:solidFill>
              <a:srgbClr val="1E2F55"/>
            </a:solidFill>
            <a:prstDash val="solid"/>
          </a:ln>
        </p:spPr>
      </p:sp>
      <p:sp>
        <p:nvSpPr>
          <p:cNvPr id="17" name="Shape 13"/>
          <p:cNvSpPr/>
          <p:nvPr/>
        </p:nvSpPr>
        <p:spPr>
          <a:xfrm>
            <a:off x="8325917" y="4434840"/>
            <a:ext cx="457200" cy="457200"/>
          </a:xfrm>
          <a:prstGeom prst="ellipse">
            <a:avLst/>
          </a:prstGeom>
          <a:solidFill>
            <a:srgbClr val="D62839"/>
          </a:solidFill>
          <a:ln w="12700">
            <a:solidFill>
              <a:srgbClr val="D62839"/>
            </a:solidFill>
            <a:prstDash val="solid"/>
          </a:ln>
        </p:spPr>
      </p:sp>
      <p:pic>
        <p:nvPicPr>
          <p:cNvPr id="18" name="Image 2" descr="preencoded.png">    </p:cNvPr>
          <p:cNvPicPr>
            <a:picLocks noChangeAspect="1"/>
          </p:cNvPicPr>
          <p:nvPr/>
        </p:nvPicPr>
        <p:blipFill>
          <a:blip r:embed="rId3"/>
          <a:stretch>
            <a:fillRect/>
          </a:stretch>
        </p:blipFill>
        <p:spPr>
          <a:xfrm>
            <a:off x="8440217" y="4549140"/>
            <a:ext cx="228600" cy="228600"/>
          </a:xfrm>
          <a:prstGeom prst="rect">
            <a:avLst/>
          </a:prstGeom>
        </p:spPr>
      </p:pic>
      <p:sp>
        <p:nvSpPr>
          <p:cNvPr id="19" name="Text 14"/>
          <p:cNvSpPr txBox="1"/>
          <p:nvPr/>
        </p:nvSpPr>
        <p:spPr>
          <a:xfrm>
            <a:off x="8965997" y="4389120"/>
            <a:ext cx="2539898" cy="548640"/>
          </a:xfrm>
          <a:prstGeom prst="rect">
            <a:avLst/>
          </a:prstGeom>
          <a:noFill/>
          <a:ln/>
        </p:spPr>
        <p:txBody>
          <a:bodyPr wrap="square" lIns="0" tIns="0" rIns="0" bIns="0" rtlCol="0" anchor="ctr"/>
          <a:lstStyle/>
          <a:p>
            <a:pPr indent="0" marL="0">
              <a:buNone/>
            </a:pPr>
            <a:r>
              <a:rPr lang="en-US" sz="2800" b="1" dirty="0">
                <a:solidFill>
                  <a:srgbClr val="F2A300"/>
                </a:solidFill>
                <a:latin typeface="Cambria" pitchFamily="34" charset="0"/>
                <a:ea typeface="Cambria" pitchFamily="34" charset="-122"/>
                <a:cs typeface="Cambria" pitchFamily="34" charset="-120"/>
              </a:rPr>
              <a:t>Sec. 112AA</a:t>
            </a:r>
            <a:endParaRPr lang="en-US" sz="2800" dirty="0"/>
          </a:p>
        </p:txBody>
      </p:sp>
      <p:sp>
        <p:nvSpPr>
          <p:cNvPr id="20" name="Text 15"/>
          <p:cNvSpPr txBox="1"/>
          <p:nvPr/>
        </p:nvSpPr>
        <p:spPr>
          <a:xfrm>
            <a:off x="8325917" y="5074920"/>
            <a:ext cx="3088538" cy="868680"/>
          </a:xfrm>
          <a:prstGeom prst="rect">
            <a:avLst/>
          </a:prstGeom>
          <a:noFill/>
          <a:ln/>
        </p:spPr>
        <p:txBody>
          <a:bodyPr wrap="square" lIns="0" tIns="0" rIns="0" bIns="0" rtlCol="0" anchor="t"/>
          <a:lstStyle/>
          <a:p>
            <a:pPr indent="0" marL="0">
              <a:buNone/>
            </a:pPr>
            <a:r>
              <a:rPr lang="en-US" sz="1350" dirty="0">
                <a:solidFill>
                  <a:srgbClr val="C9D3E6"/>
                </a:solidFill>
                <a:latin typeface="Calibri" pitchFamily="34" charset="0"/>
                <a:ea typeface="Calibri" pitchFamily="34" charset="-122"/>
                <a:cs typeface="Calibri" pitchFamily="34" charset="-120"/>
              </a:rPr>
              <a:t>Right of way applies only while an ambulance or fire truck is signalling (PMVO 1965, ICT) [10]</a:t>
            </a:r>
            <a:endParaRPr lang="en-US" sz="1350" dirty="0"/>
          </a:p>
        </p:txBody>
      </p:sp>
      <p:sp>
        <p:nvSpPr>
          <p:cNvPr id="21" name="Text 16"/>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C9D3E6"/>
                </a:solidFill>
                <a:latin typeface="Calibri" pitchFamily="34" charset="0"/>
                <a:ea typeface="Calibri" pitchFamily="34" charset="-122"/>
                <a:cs typeface="Calibri" pitchFamily="34" charset="-120"/>
              </a:rPr>
              <a:t>Sources: [3], [4], [10]</a:t>
            </a:r>
            <a:endParaRPr lang="en-US" sz="950" dirty="0"/>
          </a:p>
        </p:txBody>
      </p:sp>
      <p:sp>
        <p:nvSpPr>
          <p:cNvPr id="22" name="Text 17"/>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C9D3E6"/>
                </a:solidFill>
                <a:latin typeface="Calibri" pitchFamily="34" charset="0"/>
                <a:ea typeface="Calibri" pitchFamily="34" charset="-122"/>
                <a:cs typeface="Calibri" pitchFamily="34" charset="-120"/>
              </a:rPr>
              <a:t>10 / 14</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17875B"/>
          </a:solidFill>
          <a:ln w="12700">
            <a:solidFill>
              <a:srgbClr val="17875B"/>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SOLUTION STATEMENT</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The Solution in One Sentence</a:t>
            </a:r>
            <a:endParaRPr lang="en-US" sz="2600" dirty="0"/>
          </a:p>
        </p:txBody>
      </p:sp>
      <p:sp>
        <p:nvSpPr>
          <p:cNvPr id="5" name="Shape 3"/>
          <p:cNvSpPr/>
          <p:nvPr/>
        </p:nvSpPr>
        <p:spPr>
          <a:xfrm>
            <a:off x="548640" y="1600200"/>
            <a:ext cx="6675120" cy="4617720"/>
          </a:xfrm>
          <a:prstGeom prst="roundRect">
            <a:avLst>
              <a:gd name="adj" fmla="val 1584"/>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Text 4"/>
          <p:cNvSpPr txBox="1"/>
          <p:nvPr/>
        </p:nvSpPr>
        <p:spPr>
          <a:xfrm>
            <a:off x="914400" y="1828800"/>
            <a:ext cx="5943600" cy="237744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A </a:t>
            </a:r>
            <a:pPr indent="0" marL="0">
              <a:buNone/>
            </a:pPr>
            <a:r>
              <a:rPr lang="en-US" sz="2700" b="1" dirty="0">
                <a:solidFill>
                  <a:srgbClr val="17875B"/>
                </a:solidFill>
                <a:latin typeface="Cambria" pitchFamily="34" charset="0"/>
                <a:ea typeface="Cambria" pitchFamily="34" charset="-122"/>
                <a:cs typeface="Cambria" pitchFamily="34" charset="-120"/>
              </a:rPr>
              <a:t>camera-only, intersection-side</a:t>
            </a:r>
            <a:pPr indent="0" marL="0">
              <a:buNone/>
            </a:pPr>
            <a:r>
              <a:rPr lang="en-US" sz="2700" b="1" dirty="0">
                <a:solidFill>
                  <a:srgbClr val="14213D"/>
                </a:solidFill>
                <a:latin typeface="Cambria" pitchFamily="34" charset="0"/>
                <a:ea typeface="Cambria" pitchFamily="34" charset="-122"/>
                <a:cs typeface="Cambria" pitchFamily="34" charset="-120"/>
              </a:rPr>
              <a:t> EVP system that detects an approaching ambulance or fire truck with Computer Vision alone and grants it a green, with </a:t>
            </a:r>
            <a:pPr indent="0" marL="0">
              <a:buNone/>
            </a:pPr>
            <a:r>
              <a:rPr lang="en-US" sz="2700" b="1" dirty="0">
                <a:solidFill>
                  <a:srgbClr val="17875B"/>
                </a:solidFill>
                <a:latin typeface="Cambria" pitchFamily="34" charset="0"/>
                <a:ea typeface="Cambria" pitchFamily="34" charset="-122"/>
                <a:cs typeface="Cambria" pitchFamily="34" charset="-120"/>
              </a:rPr>
              <a:t>nothing on the vehicle</a:t>
            </a:r>
            <a:pPr indent="0" marL="0">
              <a:buNone/>
            </a:pPr>
            <a:r>
              <a:rPr lang="en-US" sz="2700" b="1" dirty="0">
                <a:solidFill>
                  <a:srgbClr val="14213D"/>
                </a:solidFill>
                <a:latin typeface="Cambria" pitchFamily="34" charset="0"/>
                <a:ea typeface="Cambria" pitchFamily="34" charset="-122"/>
                <a:cs typeface="Cambria" pitchFamily="34" charset="-120"/>
              </a:rPr>
              <a:t>.</a:t>
            </a:r>
            <a:endParaRPr lang="en-US" sz="2700" dirty="0"/>
          </a:p>
        </p:txBody>
      </p:sp>
      <p:sp>
        <p:nvSpPr>
          <p:cNvPr id="7" name="Shape 5"/>
          <p:cNvSpPr/>
          <p:nvPr/>
        </p:nvSpPr>
        <p:spPr>
          <a:xfrm>
            <a:off x="914400" y="4434840"/>
            <a:ext cx="5943600" cy="1508760"/>
          </a:xfrm>
          <a:prstGeom prst="roundRect">
            <a:avLst>
              <a:gd name="adj" fmla="val 4848"/>
            </a:avLst>
          </a:prstGeom>
          <a:solidFill>
            <a:srgbClr val="FFF3D6"/>
          </a:solidFill>
          <a:ln w="12700">
            <a:solidFill>
              <a:srgbClr val="FFF3D6"/>
            </a:solidFill>
            <a:prstDash val="solid"/>
          </a:ln>
        </p:spPr>
      </p:sp>
      <p:sp>
        <p:nvSpPr>
          <p:cNvPr id="8" name="Text 6"/>
          <p:cNvSpPr txBox="1"/>
          <p:nvPr/>
        </p:nvSpPr>
        <p:spPr>
          <a:xfrm>
            <a:off x="1097280" y="4544568"/>
            <a:ext cx="5029200" cy="228600"/>
          </a:xfrm>
          <a:prstGeom prst="rect">
            <a:avLst/>
          </a:prstGeom>
          <a:noFill/>
          <a:ln/>
        </p:spPr>
        <p:txBody>
          <a:bodyPr wrap="square" lIns="0" tIns="0" rIns="0" bIns="0" rtlCol="0" anchor="t"/>
          <a:lstStyle/>
          <a:p>
            <a:pPr indent="0" marL="0">
              <a:buNone/>
            </a:pPr>
            <a:r>
              <a:rPr lang="en-US" sz="1050" b="1" spc="200" kern="0" dirty="0">
                <a:solidFill>
                  <a:srgbClr val="9A6700"/>
                </a:solidFill>
                <a:latin typeface="Calibri" pitchFamily="34" charset="0"/>
                <a:ea typeface="Calibri" pitchFamily="34" charset="-122"/>
                <a:cs typeface="Calibri" pitchFamily="34" charset="-120"/>
              </a:rPr>
              <a:t>THE TRADE-OFF WE ACCEPT</a:t>
            </a:r>
            <a:endParaRPr lang="en-US" sz="1050" dirty="0"/>
          </a:p>
        </p:txBody>
      </p:sp>
      <p:sp>
        <p:nvSpPr>
          <p:cNvPr id="9" name="Text 7"/>
          <p:cNvSpPr txBox="1"/>
          <p:nvPr/>
        </p:nvSpPr>
        <p:spPr>
          <a:xfrm>
            <a:off x="1097280" y="4818888"/>
            <a:ext cx="5577840" cy="1051560"/>
          </a:xfrm>
          <a:prstGeom prst="rect">
            <a:avLst/>
          </a:prstGeom>
          <a:noFill/>
          <a:ln/>
        </p:spPr>
        <p:txBody>
          <a:bodyPr wrap="square" lIns="0" tIns="0" rIns="0" bIns="0" rtlCol="0" anchor="t"/>
          <a:lstStyle/>
          <a:p>
            <a:pPr indent="0" marL="0">
              <a:buNone/>
            </a:pPr>
            <a:r>
              <a:rPr lang="en-US" sz="1350" dirty="0">
                <a:solidFill>
                  <a:srgbClr val="1B2437"/>
                </a:solidFill>
                <a:latin typeface="Calibri" pitchFamily="34" charset="0"/>
                <a:ea typeface="Calibri" pitchFamily="34" charset="-122"/>
                <a:cs typeface="Calibri" pitchFamily="34" charset="-120"/>
              </a:rPr>
              <a:t>A shorter detection range than GPS and some vulnerability to heavy rain, fog and very low light. The simulation models these as reduced detection probability and range; real values are measured on hardware later.</a:t>
            </a:r>
            <a:endParaRPr lang="en-US" sz="1350" dirty="0"/>
          </a:p>
        </p:txBody>
      </p:sp>
      <p:sp>
        <p:nvSpPr>
          <p:cNvPr id="10" name="Shape 8"/>
          <p:cNvSpPr/>
          <p:nvPr/>
        </p:nvSpPr>
        <p:spPr>
          <a:xfrm>
            <a:off x="7452360" y="1600200"/>
            <a:ext cx="4190695"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1" name="Text 9"/>
          <p:cNvSpPr txBox="1"/>
          <p:nvPr/>
        </p:nvSpPr>
        <p:spPr>
          <a:xfrm>
            <a:off x="7726680" y="1737360"/>
            <a:ext cx="3642055" cy="685800"/>
          </a:xfrm>
          <a:prstGeom prst="rect">
            <a:avLst/>
          </a:prstGeom>
          <a:noFill/>
          <a:ln/>
        </p:spPr>
        <p:txBody>
          <a:bodyPr wrap="square" lIns="0" tIns="0" rIns="0" bIns="0" rtlCol="0" anchor="ctr"/>
          <a:lstStyle/>
          <a:p>
            <a:pPr indent="0" marL="0">
              <a:buNone/>
            </a:pPr>
            <a:r>
              <a:rPr lang="en-US" sz="4000" b="1" dirty="0">
                <a:solidFill>
                  <a:srgbClr val="17875B"/>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7726680" y="2441448"/>
            <a:ext cx="3642055" cy="502920"/>
          </a:xfrm>
          <a:prstGeom prst="rect">
            <a:avLst/>
          </a:prstGeom>
          <a:noFill/>
          <a:ln/>
        </p:spPr>
        <p:txBody>
          <a:bodyPr wrap="square" lIns="0" tIns="0" rIns="0" bIns="0" rtlCol="0" anchor="t"/>
          <a:lstStyle/>
          <a:p>
            <a:pPr indent="0" marL="0">
              <a:buNone/>
            </a:pPr>
            <a:r>
              <a:rPr lang="en-US" sz="1250" dirty="0">
                <a:solidFill>
                  <a:srgbClr val="1B2437"/>
                </a:solidFill>
                <a:latin typeface="Calibri" pitchFamily="34" charset="0"/>
                <a:ea typeface="Calibri" pitchFamily="34" charset="-122"/>
                <a:cs typeface="Calibri" pitchFamily="34" charset="-120"/>
              </a:rPr>
              <a:t>pieces of equipment on any vehicle</a:t>
            </a:r>
            <a:endParaRPr lang="en-US" sz="1250" dirty="0"/>
          </a:p>
        </p:txBody>
      </p:sp>
      <p:sp>
        <p:nvSpPr>
          <p:cNvPr id="13" name="Shape 11"/>
          <p:cNvSpPr/>
          <p:nvPr/>
        </p:nvSpPr>
        <p:spPr>
          <a:xfrm>
            <a:off x="7452360" y="3200400"/>
            <a:ext cx="4190695"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4" name="Text 12"/>
          <p:cNvSpPr txBox="1"/>
          <p:nvPr/>
        </p:nvSpPr>
        <p:spPr>
          <a:xfrm>
            <a:off x="7726680" y="3337560"/>
            <a:ext cx="3642055" cy="685800"/>
          </a:xfrm>
          <a:prstGeom prst="rect">
            <a:avLst/>
          </a:prstGeom>
          <a:noFill/>
          <a:ln/>
        </p:spPr>
        <p:txBody>
          <a:bodyPr wrap="square" lIns="0" tIns="0" rIns="0" bIns="0" rtlCol="0" anchor="ctr"/>
          <a:lstStyle/>
          <a:p>
            <a:pPr indent="0" marL="0">
              <a:buNone/>
            </a:pPr>
            <a:r>
              <a:rPr lang="en-US" sz="4000" b="1" dirty="0">
                <a:solidFill>
                  <a:srgbClr val="17875B"/>
                </a:solidFill>
                <a:latin typeface="Cambria" pitchFamily="34" charset="0"/>
                <a:ea typeface="Cambria" pitchFamily="34" charset="-122"/>
                <a:cs typeface="Cambria" pitchFamily="34" charset="-120"/>
              </a:rPr>
              <a:t>0</a:t>
            </a:r>
            <a:endParaRPr lang="en-US" sz="4000" dirty="0"/>
          </a:p>
        </p:txBody>
      </p:sp>
      <p:sp>
        <p:nvSpPr>
          <p:cNvPr id="15" name="Text 13"/>
          <p:cNvSpPr txBox="1"/>
          <p:nvPr/>
        </p:nvSpPr>
        <p:spPr>
          <a:xfrm>
            <a:off x="7726680" y="4041648"/>
            <a:ext cx="3642055" cy="502920"/>
          </a:xfrm>
          <a:prstGeom prst="rect">
            <a:avLst/>
          </a:prstGeom>
          <a:noFill/>
          <a:ln/>
        </p:spPr>
        <p:txBody>
          <a:bodyPr wrap="square" lIns="0" tIns="0" rIns="0" bIns="0" rtlCol="0" anchor="t"/>
          <a:lstStyle/>
          <a:p>
            <a:pPr indent="0" marL="0">
              <a:buNone/>
            </a:pPr>
            <a:r>
              <a:rPr lang="en-US" sz="1250" dirty="0">
                <a:solidFill>
                  <a:srgbClr val="1B2437"/>
                </a:solidFill>
                <a:latin typeface="Calibri" pitchFamily="34" charset="0"/>
                <a:ea typeface="Calibri" pitchFamily="34" charset="-122"/>
                <a:cs typeface="Calibri" pitchFamily="34" charset="-120"/>
              </a:rPr>
              <a:t>GPS, GSM or cellular dependency; each intersection works alone</a:t>
            </a:r>
            <a:endParaRPr lang="en-US" sz="1250" dirty="0"/>
          </a:p>
        </p:txBody>
      </p:sp>
      <p:sp>
        <p:nvSpPr>
          <p:cNvPr id="16" name="Shape 14"/>
          <p:cNvSpPr/>
          <p:nvPr/>
        </p:nvSpPr>
        <p:spPr>
          <a:xfrm>
            <a:off x="7452360" y="4800600"/>
            <a:ext cx="4190695"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7" name="Text 15"/>
          <p:cNvSpPr txBox="1"/>
          <p:nvPr/>
        </p:nvSpPr>
        <p:spPr>
          <a:xfrm>
            <a:off x="7726680" y="4937760"/>
            <a:ext cx="3642055" cy="685800"/>
          </a:xfrm>
          <a:prstGeom prst="rect">
            <a:avLst/>
          </a:prstGeom>
          <a:noFill/>
          <a:ln/>
        </p:spPr>
        <p:txBody>
          <a:bodyPr wrap="square" lIns="0" tIns="0" rIns="0" bIns="0" rtlCol="0" anchor="ctr"/>
          <a:lstStyle/>
          <a:p>
            <a:pPr indent="0" marL="0">
              <a:buNone/>
            </a:pPr>
            <a:r>
              <a:rPr lang="en-US" sz="4000" b="1" dirty="0">
                <a:solidFill>
                  <a:srgbClr val="17875B"/>
                </a:solidFill>
                <a:latin typeface="Cambria" pitchFamily="34" charset="0"/>
                <a:ea typeface="Cambria" pitchFamily="34" charset="-122"/>
                <a:cs typeface="Cambria" pitchFamily="34" charset="-120"/>
              </a:rPr>
              <a:t>PKR 0</a:t>
            </a:r>
            <a:endParaRPr lang="en-US" sz="4000" dirty="0"/>
          </a:p>
        </p:txBody>
      </p:sp>
      <p:sp>
        <p:nvSpPr>
          <p:cNvPr id="18" name="Text 16"/>
          <p:cNvSpPr txBox="1"/>
          <p:nvPr/>
        </p:nvSpPr>
        <p:spPr>
          <a:xfrm>
            <a:off x="7726680" y="5641848"/>
            <a:ext cx="3642055" cy="502920"/>
          </a:xfrm>
          <a:prstGeom prst="rect">
            <a:avLst/>
          </a:prstGeom>
          <a:noFill/>
          <a:ln/>
        </p:spPr>
        <p:txBody>
          <a:bodyPr wrap="square" lIns="0" tIns="0" rIns="0" bIns="0" rtlCol="0" anchor="t"/>
          <a:lstStyle/>
          <a:p>
            <a:pPr indent="0" marL="0">
              <a:buNone/>
            </a:pPr>
            <a:r>
              <a:rPr lang="en-US" sz="1250" dirty="0">
                <a:solidFill>
                  <a:srgbClr val="1B2437"/>
                </a:solidFill>
                <a:latin typeface="Calibri" pitchFamily="34" charset="0"/>
                <a:ea typeface="Calibri" pitchFamily="34" charset="-122"/>
                <a:cs typeface="Calibri" pitchFamily="34" charset="-120"/>
              </a:rPr>
              <a:t>recurring per-vehicle cost, versus about PKR 2,250 per vehicle for GPS/GSM</a:t>
            </a:r>
            <a:endParaRPr lang="en-US" sz="1250" dirty="0"/>
          </a:p>
        </p:txBody>
      </p:sp>
      <p:sp>
        <p:nvSpPr>
          <p:cNvPr id="19" name="Text 17"/>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Sources: Table 3 of the proposal (GPS/IoT vs camera-only); [11], [12]</a:t>
            </a:r>
            <a:endParaRPr lang="en-US" sz="950" dirty="0"/>
          </a:p>
        </p:txBody>
      </p:sp>
      <p:sp>
        <p:nvSpPr>
          <p:cNvPr id="20" name="Text 18"/>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11 / 14</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17875B"/>
          </a:solidFill>
          <a:ln w="12700">
            <a:solidFill>
              <a:srgbClr val="17875B"/>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PROPOSED SOLUTION</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Detect, Track, Trigger, Preempt, Revert</a:t>
            </a:r>
            <a:endParaRPr lang="en-US" sz="2600" dirty="0"/>
          </a:p>
        </p:txBody>
      </p:sp>
      <p:sp>
        <p:nvSpPr>
          <p:cNvPr id="5" name="Shape 3"/>
          <p:cNvSpPr/>
          <p:nvPr/>
        </p:nvSpPr>
        <p:spPr>
          <a:xfrm>
            <a:off x="548640" y="1572768"/>
            <a:ext cx="2057400" cy="2084832"/>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6" name="Shape 4"/>
          <p:cNvSpPr/>
          <p:nvPr/>
        </p:nvSpPr>
        <p:spPr>
          <a:xfrm>
            <a:off x="713232" y="1737360"/>
            <a:ext cx="475488" cy="475488"/>
          </a:xfrm>
          <a:prstGeom prst="ellipse">
            <a:avLst/>
          </a:prstGeom>
          <a:solidFill>
            <a:srgbClr val="17875B"/>
          </a:solidFill>
          <a:ln w="12700">
            <a:solidFill>
              <a:srgbClr val="17875B"/>
            </a:solidFill>
            <a:prstDash val="solid"/>
          </a:ln>
        </p:spPr>
      </p:sp>
      <p:pic>
        <p:nvPicPr>
          <p:cNvPr id="7" name="Image 0" descr="preencoded.png">    </p:cNvPr>
          <p:cNvPicPr>
            <a:picLocks noChangeAspect="1"/>
          </p:cNvPicPr>
          <p:nvPr/>
        </p:nvPicPr>
        <p:blipFill>
          <a:blip r:embed="rId1"/>
          <a:stretch>
            <a:fillRect/>
          </a:stretch>
        </p:blipFill>
        <p:spPr>
          <a:xfrm>
            <a:off x="832104" y="1856232"/>
            <a:ext cx="237744" cy="237744"/>
          </a:xfrm>
          <a:prstGeom prst="rect">
            <a:avLst/>
          </a:prstGeom>
        </p:spPr>
      </p:pic>
      <p:sp>
        <p:nvSpPr>
          <p:cNvPr id="8" name="Text 5"/>
          <p:cNvSpPr txBox="1"/>
          <p:nvPr/>
        </p:nvSpPr>
        <p:spPr>
          <a:xfrm>
            <a:off x="1280160" y="1755648"/>
            <a:ext cx="1234440" cy="457200"/>
          </a:xfrm>
          <a:prstGeom prst="rect">
            <a:avLst/>
          </a:prstGeom>
          <a:noFill/>
          <a:ln/>
        </p:spPr>
        <p:txBody>
          <a:bodyPr wrap="square" lIns="0" tIns="0" rIns="0" bIns="0" rtlCol="0" anchor="ctr"/>
          <a:lstStyle/>
          <a:p>
            <a:pPr algn="r" indent="0" marL="0">
              <a:buNone/>
            </a:pPr>
            <a:r>
              <a:rPr lang="en-US" sz="900" b="1" spc="150" kern="0" dirty="0">
                <a:solidFill>
                  <a:srgbClr val="5B6B82"/>
                </a:solidFill>
                <a:latin typeface="Calibri" pitchFamily="34" charset="0"/>
                <a:ea typeface="Calibri" pitchFamily="34" charset="-122"/>
                <a:cs typeface="Calibri" pitchFamily="34" charset="-120"/>
              </a:rPr>
              <a:t>MODULE 2</a:t>
            </a:r>
            <a:endParaRPr lang="en-US" sz="900" dirty="0"/>
          </a:p>
        </p:txBody>
      </p:sp>
      <p:sp>
        <p:nvSpPr>
          <p:cNvPr id="9" name="Text 6"/>
          <p:cNvSpPr txBox="1"/>
          <p:nvPr/>
        </p:nvSpPr>
        <p:spPr>
          <a:xfrm>
            <a:off x="713232" y="2322576"/>
            <a:ext cx="1783080" cy="310896"/>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Detect</a:t>
            </a:r>
            <a:endParaRPr lang="en-US" sz="1450" dirty="0"/>
          </a:p>
        </p:txBody>
      </p:sp>
      <p:sp>
        <p:nvSpPr>
          <p:cNvPr id="10" name="Text 7"/>
          <p:cNvSpPr txBox="1"/>
          <p:nvPr/>
        </p:nvSpPr>
        <p:spPr>
          <a:xfrm>
            <a:off x="713232" y="2651760"/>
            <a:ext cx="1764792" cy="960120"/>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YOLOv8n fine-tuned on public emergency-vehicle datasets; benchmark gives a detector-performance profile</a:t>
            </a:r>
            <a:endParaRPr lang="en-US" sz="1100" dirty="0"/>
          </a:p>
        </p:txBody>
      </p:sp>
      <p:sp>
        <p:nvSpPr>
          <p:cNvPr id="11" name="Shape 8"/>
          <p:cNvSpPr/>
          <p:nvPr/>
        </p:nvSpPr>
        <p:spPr>
          <a:xfrm>
            <a:off x="2633472" y="2514600"/>
            <a:ext cx="146990" cy="201168"/>
          </a:xfrm>
          <a:prstGeom prst="rightArrow">
            <a:avLst/>
          </a:prstGeom>
          <a:solidFill>
            <a:srgbClr val="5B6B82"/>
          </a:solidFill>
          <a:ln w="12700">
            <a:solidFill>
              <a:srgbClr val="5B6B82"/>
            </a:solidFill>
            <a:prstDash val="solid"/>
          </a:ln>
        </p:spPr>
      </p:sp>
      <p:sp>
        <p:nvSpPr>
          <p:cNvPr id="12" name="Shape 9"/>
          <p:cNvSpPr/>
          <p:nvPr/>
        </p:nvSpPr>
        <p:spPr>
          <a:xfrm>
            <a:off x="2807894" y="1572768"/>
            <a:ext cx="2057400" cy="2084832"/>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13" name="Shape 10"/>
          <p:cNvSpPr/>
          <p:nvPr/>
        </p:nvSpPr>
        <p:spPr>
          <a:xfrm>
            <a:off x="2972486" y="1737360"/>
            <a:ext cx="475488" cy="475488"/>
          </a:xfrm>
          <a:prstGeom prst="ellipse">
            <a:avLst/>
          </a:prstGeom>
          <a:solidFill>
            <a:srgbClr val="17875B"/>
          </a:solidFill>
          <a:ln w="12700">
            <a:solidFill>
              <a:srgbClr val="17875B"/>
            </a:solidFill>
            <a:prstDash val="solid"/>
          </a:ln>
        </p:spPr>
      </p:sp>
      <p:pic>
        <p:nvPicPr>
          <p:cNvPr id="14" name="Image 1" descr="preencoded.png">    </p:cNvPr>
          <p:cNvPicPr>
            <a:picLocks noChangeAspect="1"/>
          </p:cNvPicPr>
          <p:nvPr/>
        </p:nvPicPr>
        <p:blipFill>
          <a:blip r:embed="rId2"/>
          <a:stretch>
            <a:fillRect/>
          </a:stretch>
        </p:blipFill>
        <p:spPr>
          <a:xfrm>
            <a:off x="3091358" y="1856232"/>
            <a:ext cx="237744" cy="237744"/>
          </a:xfrm>
          <a:prstGeom prst="rect">
            <a:avLst/>
          </a:prstGeom>
        </p:spPr>
      </p:pic>
      <p:sp>
        <p:nvSpPr>
          <p:cNvPr id="15" name="Text 11"/>
          <p:cNvSpPr txBox="1"/>
          <p:nvPr/>
        </p:nvSpPr>
        <p:spPr>
          <a:xfrm>
            <a:off x="3539414" y="1755648"/>
            <a:ext cx="1234440" cy="457200"/>
          </a:xfrm>
          <a:prstGeom prst="rect">
            <a:avLst/>
          </a:prstGeom>
          <a:noFill/>
          <a:ln/>
        </p:spPr>
        <p:txBody>
          <a:bodyPr wrap="square" lIns="0" tIns="0" rIns="0" bIns="0" rtlCol="0" anchor="ctr"/>
          <a:lstStyle/>
          <a:p>
            <a:pPr algn="r" indent="0" marL="0">
              <a:buNone/>
            </a:pPr>
            <a:r>
              <a:rPr lang="en-US" sz="900" b="1" spc="150" kern="0" dirty="0">
                <a:solidFill>
                  <a:srgbClr val="5B6B82"/>
                </a:solidFill>
                <a:latin typeface="Calibri" pitchFamily="34" charset="0"/>
                <a:ea typeface="Calibri" pitchFamily="34" charset="-122"/>
                <a:cs typeface="Calibri" pitchFamily="34" charset="-120"/>
              </a:rPr>
              <a:t>MODULE 3</a:t>
            </a:r>
            <a:endParaRPr lang="en-US" sz="900" dirty="0"/>
          </a:p>
        </p:txBody>
      </p:sp>
      <p:sp>
        <p:nvSpPr>
          <p:cNvPr id="16" name="Text 12"/>
          <p:cNvSpPr txBox="1"/>
          <p:nvPr/>
        </p:nvSpPr>
        <p:spPr>
          <a:xfrm>
            <a:off x="2972486" y="2322576"/>
            <a:ext cx="1783080" cy="310896"/>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Track and gate</a:t>
            </a:r>
            <a:endParaRPr lang="en-US" sz="1450" dirty="0"/>
          </a:p>
        </p:txBody>
      </p:sp>
      <p:sp>
        <p:nvSpPr>
          <p:cNvPr id="17" name="Text 13"/>
          <p:cNvSpPr txBox="1"/>
          <p:nvPr/>
        </p:nvSpPr>
        <p:spPr>
          <a:xfrm>
            <a:off x="2972486" y="2651760"/>
            <a:ext cx="1764792" cy="960120"/>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Centroid / IoU tracker; act only after a high-confidence detection holds over several frames</a:t>
            </a:r>
            <a:endParaRPr lang="en-US" sz="1100" dirty="0"/>
          </a:p>
        </p:txBody>
      </p:sp>
      <p:sp>
        <p:nvSpPr>
          <p:cNvPr id="18" name="Shape 14"/>
          <p:cNvSpPr/>
          <p:nvPr/>
        </p:nvSpPr>
        <p:spPr>
          <a:xfrm>
            <a:off x="4892726" y="2514600"/>
            <a:ext cx="146990" cy="201168"/>
          </a:xfrm>
          <a:prstGeom prst="rightArrow">
            <a:avLst/>
          </a:prstGeom>
          <a:solidFill>
            <a:srgbClr val="5B6B82"/>
          </a:solidFill>
          <a:ln w="12700">
            <a:solidFill>
              <a:srgbClr val="5B6B82"/>
            </a:solidFill>
            <a:prstDash val="solid"/>
          </a:ln>
        </p:spPr>
      </p:sp>
      <p:sp>
        <p:nvSpPr>
          <p:cNvPr id="19" name="Shape 15"/>
          <p:cNvSpPr/>
          <p:nvPr/>
        </p:nvSpPr>
        <p:spPr>
          <a:xfrm>
            <a:off x="5067148" y="1572768"/>
            <a:ext cx="2057400" cy="2084832"/>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20" name="Shape 16"/>
          <p:cNvSpPr/>
          <p:nvPr/>
        </p:nvSpPr>
        <p:spPr>
          <a:xfrm>
            <a:off x="5231740" y="1737360"/>
            <a:ext cx="475488" cy="475488"/>
          </a:xfrm>
          <a:prstGeom prst="ellipse">
            <a:avLst/>
          </a:prstGeom>
          <a:solidFill>
            <a:srgbClr val="17875B"/>
          </a:solidFill>
          <a:ln w="12700">
            <a:solidFill>
              <a:srgbClr val="17875B"/>
            </a:solidFill>
            <a:prstDash val="solid"/>
          </a:ln>
        </p:spPr>
      </p:sp>
      <p:pic>
        <p:nvPicPr>
          <p:cNvPr id="21" name="Image 2" descr="preencoded.png">    </p:cNvPr>
          <p:cNvPicPr>
            <a:picLocks noChangeAspect="1"/>
          </p:cNvPicPr>
          <p:nvPr/>
        </p:nvPicPr>
        <p:blipFill>
          <a:blip r:embed="rId3"/>
          <a:stretch>
            <a:fillRect/>
          </a:stretch>
        </p:blipFill>
        <p:spPr>
          <a:xfrm>
            <a:off x="5350612" y="1856232"/>
            <a:ext cx="237744" cy="237744"/>
          </a:xfrm>
          <a:prstGeom prst="rect">
            <a:avLst/>
          </a:prstGeom>
        </p:spPr>
      </p:pic>
      <p:sp>
        <p:nvSpPr>
          <p:cNvPr id="22" name="Text 17"/>
          <p:cNvSpPr txBox="1"/>
          <p:nvPr/>
        </p:nvSpPr>
        <p:spPr>
          <a:xfrm>
            <a:off x="5798668" y="1755648"/>
            <a:ext cx="1234440" cy="457200"/>
          </a:xfrm>
          <a:prstGeom prst="rect">
            <a:avLst/>
          </a:prstGeom>
          <a:noFill/>
          <a:ln/>
        </p:spPr>
        <p:txBody>
          <a:bodyPr wrap="square" lIns="0" tIns="0" rIns="0" bIns="0" rtlCol="0" anchor="ctr"/>
          <a:lstStyle/>
          <a:p>
            <a:pPr algn="r" indent="0" marL="0">
              <a:buNone/>
            </a:pPr>
            <a:r>
              <a:rPr lang="en-US" sz="900" b="1" spc="150" kern="0" dirty="0">
                <a:solidFill>
                  <a:srgbClr val="5B6B82"/>
                </a:solidFill>
                <a:latin typeface="Calibri" pitchFamily="34" charset="0"/>
                <a:ea typeface="Calibri" pitchFamily="34" charset="-122"/>
                <a:cs typeface="Calibri" pitchFamily="34" charset="-120"/>
              </a:rPr>
              <a:t>MODULE 5</a:t>
            </a:r>
            <a:endParaRPr lang="en-US" sz="900" dirty="0"/>
          </a:p>
        </p:txBody>
      </p:sp>
      <p:sp>
        <p:nvSpPr>
          <p:cNvPr id="23" name="Text 18"/>
          <p:cNvSpPr txBox="1"/>
          <p:nvPr/>
        </p:nvSpPr>
        <p:spPr>
          <a:xfrm>
            <a:off x="5231740" y="2322576"/>
            <a:ext cx="1783080" cy="310896"/>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Trigger policy</a:t>
            </a:r>
            <a:endParaRPr lang="en-US" sz="1450" dirty="0"/>
          </a:p>
        </p:txBody>
      </p:sp>
      <p:sp>
        <p:nvSpPr>
          <p:cNvPr id="24" name="Text 19"/>
          <p:cNvSpPr txBox="1"/>
          <p:nvPr/>
        </p:nvSpPr>
        <p:spPr>
          <a:xfrm>
            <a:off x="5231740" y="2651760"/>
            <a:ext cx="1764792" cy="960120"/>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Request only for vehicles with active warning devices (Sec. 112AA); look-alikes rejected</a:t>
            </a:r>
            <a:endParaRPr lang="en-US" sz="1100" dirty="0"/>
          </a:p>
        </p:txBody>
      </p:sp>
      <p:sp>
        <p:nvSpPr>
          <p:cNvPr id="25" name="Shape 20"/>
          <p:cNvSpPr/>
          <p:nvPr/>
        </p:nvSpPr>
        <p:spPr>
          <a:xfrm>
            <a:off x="7151980" y="2514600"/>
            <a:ext cx="146990" cy="201168"/>
          </a:xfrm>
          <a:prstGeom prst="rightArrow">
            <a:avLst/>
          </a:prstGeom>
          <a:solidFill>
            <a:srgbClr val="5B6B82"/>
          </a:solidFill>
          <a:ln w="12700">
            <a:solidFill>
              <a:srgbClr val="5B6B82"/>
            </a:solidFill>
            <a:prstDash val="solid"/>
          </a:ln>
        </p:spPr>
      </p:sp>
      <p:sp>
        <p:nvSpPr>
          <p:cNvPr id="26" name="Shape 21"/>
          <p:cNvSpPr/>
          <p:nvPr/>
        </p:nvSpPr>
        <p:spPr>
          <a:xfrm>
            <a:off x="7326401" y="1572768"/>
            <a:ext cx="2057400" cy="2084832"/>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27" name="Shape 22"/>
          <p:cNvSpPr/>
          <p:nvPr/>
        </p:nvSpPr>
        <p:spPr>
          <a:xfrm>
            <a:off x="7490993" y="1737360"/>
            <a:ext cx="475488" cy="475488"/>
          </a:xfrm>
          <a:prstGeom prst="ellipse">
            <a:avLst/>
          </a:prstGeom>
          <a:solidFill>
            <a:srgbClr val="17875B"/>
          </a:solidFill>
          <a:ln w="12700">
            <a:solidFill>
              <a:srgbClr val="17875B"/>
            </a:solidFill>
            <a:prstDash val="solid"/>
          </a:ln>
        </p:spPr>
      </p:sp>
      <p:pic>
        <p:nvPicPr>
          <p:cNvPr id="28" name="Image 3" descr="preencoded.png">    </p:cNvPr>
          <p:cNvPicPr>
            <a:picLocks noChangeAspect="1"/>
          </p:cNvPicPr>
          <p:nvPr/>
        </p:nvPicPr>
        <p:blipFill>
          <a:blip r:embed="rId4"/>
          <a:stretch>
            <a:fillRect/>
          </a:stretch>
        </p:blipFill>
        <p:spPr>
          <a:xfrm>
            <a:off x="7609865" y="1856232"/>
            <a:ext cx="237744" cy="237744"/>
          </a:xfrm>
          <a:prstGeom prst="rect">
            <a:avLst/>
          </a:prstGeom>
        </p:spPr>
      </p:pic>
      <p:sp>
        <p:nvSpPr>
          <p:cNvPr id="29" name="Text 23"/>
          <p:cNvSpPr txBox="1"/>
          <p:nvPr/>
        </p:nvSpPr>
        <p:spPr>
          <a:xfrm>
            <a:off x="8057921" y="1755648"/>
            <a:ext cx="1234440" cy="457200"/>
          </a:xfrm>
          <a:prstGeom prst="rect">
            <a:avLst/>
          </a:prstGeom>
          <a:noFill/>
          <a:ln/>
        </p:spPr>
        <p:txBody>
          <a:bodyPr wrap="square" lIns="0" tIns="0" rIns="0" bIns="0" rtlCol="0" anchor="ctr"/>
          <a:lstStyle/>
          <a:p>
            <a:pPr algn="r" indent="0" marL="0">
              <a:buNone/>
            </a:pPr>
            <a:r>
              <a:rPr lang="en-US" sz="900" b="1" spc="150" kern="0" dirty="0">
                <a:solidFill>
                  <a:srgbClr val="5B6B82"/>
                </a:solidFill>
                <a:latin typeface="Calibri" pitchFamily="34" charset="0"/>
                <a:ea typeface="Calibri" pitchFamily="34" charset="-122"/>
                <a:cs typeface="Calibri" pitchFamily="34" charset="-120"/>
              </a:rPr>
              <a:t>MODULE 4</a:t>
            </a:r>
            <a:endParaRPr lang="en-US" sz="900" dirty="0"/>
          </a:p>
        </p:txBody>
      </p:sp>
      <p:sp>
        <p:nvSpPr>
          <p:cNvPr id="30" name="Text 24"/>
          <p:cNvSpPr txBox="1"/>
          <p:nvPr/>
        </p:nvSpPr>
        <p:spPr>
          <a:xfrm>
            <a:off x="7490993" y="2322576"/>
            <a:ext cx="1783080" cy="310896"/>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Preempt</a:t>
            </a:r>
            <a:endParaRPr lang="en-US" sz="1450" dirty="0"/>
          </a:p>
        </p:txBody>
      </p:sp>
      <p:sp>
        <p:nvSpPr>
          <p:cNvPr id="31" name="Text 25"/>
          <p:cNvSpPr txBox="1"/>
          <p:nvPr/>
        </p:nvSpPr>
        <p:spPr>
          <a:xfrm>
            <a:off x="7490993" y="2651760"/>
            <a:ext cx="1764792" cy="960120"/>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Yellow and all-red clearance, then green for the emergency approach; cross-traffic held</a:t>
            </a:r>
            <a:endParaRPr lang="en-US" sz="1100" dirty="0"/>
          </a:p>
        </p:txBody>
      </p:sp>
      <p:sp>
        <p:nvSpPr>
          <p:cNvPr id="32" name="Shape 26"/>
          <p:cNvSpPr/>
          <p:nvPr/>
        </p:nvSpPr>
        <p:spPr>
          <a:xfrm>
            <a:off x="9411233" y="2514600"/>
            <a:ext cx="146990" cy="201168"/>
          </a:xfrm>
          <a:prstGeom prst="rightArrow">
            <a:avLst/>
          </a:prstGeom>
          <a:solidFill>
            <a:srgbClr val="5B6B82"/>
          </a:solidFill>
          <a:ln w="12700">
            <a:solidFill>
              <a:srgbClr val="5B6B82"/>
            </a:solidFill>
            <a:prstDash val="solid"/>
          </a:ln>
        </p:spPr>
      </p:sp>
      <p:sp>
        <p:nvSpPr>
          <p:cNvPr id="33" name="Shape 27"/>
          <p:cNvSpPr/>
          <p:nvPr/>
        </p:nvSpPr>
        <p:spPr>
          <a:xfrm>
            <a:off x="9585655" y="1572768"/>
            <a:ext cx="2057400" cy="2084832"/>
          </a:xfrm>
          <a:prstGeom prst="roundRect">
            <a:avLst>
              <a:gd name="adj" fmla="val 3556"/>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34" name="Shape 28"/>
          <p:cNvSpPr/>
          <p:nvPr/>
        </p:nvSpPr>
        <p:spPr>
          <a:xfrm>
            <a:off x="9750247" y="1737360"/>
            <a:ext cx="475488" cy="475488"/>
          </a:xfrm>
          <a:prstGeom prst="ellipse">
            <a:avLst/>
          </a:prstGeom>
          <a:solidFill>
            <a:srgbClr val="17875B"/>
          </a:solidFill>
          <a:ln w="12700">
            <a:solidFill>
              <a:srgbClr val="17875B"/>
            </a:solidFill>
            <a:prstDash val="solid"/>
          </a:ln>
        </p:spPr>
      </p:sp>
      <p:pic>
        <p:nvPicPr>
          <p:cNvPr id="35" name="Image 4" descr="preencoded.png">    </p:cNvPr>
          <p:cNvPicPr>
            <a:picLocks noChangeAspect="1"/>
          </p:cNvPicPr>
          <p:nvPr/>
        </p:nvPicPr>
        <p:blipFill>
          <a:blip r:embed="rId5"/>
          <a:stretch>
            <a:fillRect/>
          </a:stretch>
        </p:blipFill>
        <p:spPr>
          <a:xfrm>
            <a:off x="9869119" y="1856232"/>
            <a:ext cx="237744" cy="237744"/>
          </a:xfrm>
          <a:prstGeom prst="rect">
            <a:avLst/>
          </a:prstGeom>
        </p:spPr>
      </p:pic>
      <p:sp>
        <p:nvSpPr>
          <p:cNvPr id="36" name="Text 29"/>
          <p:cNvSpPr txBox="1"/>
          <p:nvPr/>
        </p:nvSpPr>
        <p:spPr>
          <a:xfrm>
            <a:off x="10317175" y="1755648"/>
            <a:ext cx="1234440" cy="457200"/>
          </a:xfrm>
          <a:prstGeom prst="rect">
            <a:avLst/>
          </a:prstGeom>
          <a:noFill/>
          <a:ln/>
        </p:spPr>
        <p:txBody>
          <a:bodyPr wrap="square" lIns="0" tIns="0" rIns="0" bIns="0" rtlCol="0" anchor="ctr"/>
          <a:lstStyle/>
          <a:p>
            <a:pPr algn="r" indent="0" marL="0">
              <a:buNone/>
            </a:pPr>
            <a:r>
              <a:rPr lang="en-US" sz="900" b="1" spc="150" kern="0" dirty="0">
                <a:solidFill>
                  <a:srgbClr val="5B6B82"/>
                </a:solidFill>
                <a:latin typeface="Calibri" pitchFamily="34" charset="0"/>
                <a:ea typeface="Calibri" pitchFamily="34" charset="-122"/>
                <a:cs typeface="Calibri" pitchFamily="34" charset="-120"/>
              </a:rPr>
              <a:t>MODULES 3, 4</a:t>
            </a:r>
            <a:endParaRPr lang="en-US" sz="900" dirty="0"/>
          </a:p>
        </p:txBody>
      </p:sp>
      <p:sp>
        <p:nvSpPr>
          <p:cNvPr id="37" name="Text 30"/>
          <p:cNvSpPr txBox="1"/>
          <p:nvPr/>
        </p:nvSpPr>
        <p:spPr>
          <a:xfrm>
            <a:off x="9750247" y="2322576"/>
            <a:ext cx="1783080" cy="310896"/>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Revert and fail-safe</a:t>
            </a:r>
            <a:endParaRPr lang="en-US" sz="1450" dirty="0"/>
          </a:p>
        </p:txBody>
      </p:sp>
      <p:sp>
        <p:nvSpPr>
          <p:cNvPr id="38" name="Text 31"/>
          <p:cNvSpPr txBox="1"/>
          <p:nvPr/>
        </p:nvSpPr>
        <p:spPr>
          <a:xfrm>
            <a:off x="9750247" y="2651760"/>
            <a:ext cx="1764792" cy="960120"/>
          </a:xfrm>
          <a:prstGeom prst="rect">
            <a:avLst/>
          </a:prstGeom>
          <a:noFill/>
          <a:ln/>
        </p:spPr>
        <p:txBody>
          <a:bodyPr wrap="square" lIns="0" tIns="0" rIns="0" bIns="0" rtlCol="0" anchor="t"/>
          <a:lstStyle/>
          <a:p>
            <a:pPr indent="0" marL="0">
              <a:buNone/>
            </a:pPr>
            <a:r>
              <a:rPr lang="en-US" sz="1100" dirty="0">
                <a:solidFill>
                  <a:srgbClr val="1B2437"/>
                </a:solidFill>
                <a:latin typeface="Calibri" pitchFamily="34" charset="0"/>
                <a:ea typeface="Calibri" pitchFamily="34" charset="-122"/>
                <a:cs typeface="Calibri" pitchFamily="34" charset="-120"/>
              </a:rPr>
              <a:t>Normal cycle within 2 s of the exit zone; falls back on camera loss or timeout</a:t>
            </a:r>
            <a:endParaRPr lang="en-US" sz="1100" dirty="0"/>
          </a:p>
        </p:txBody>
      </p:sp>
      <p:sp>
        <p:nvSpPr>
          <p:cNvPr id="39" name="Shape 32"/>
          <p:cNvSpPr/>
          <p:nvPr/>
        </p:nvSpPr>
        <p:spPr>
          <a:xfrm>
            <a:off x="548640" y="3840480"/>
            <a:ext cx="4251960" cy="2423160"/>
          </a:xfrm>
          <a:prstGeom prst="roundRect">
            <a:avLst>
              <a:gd name="adj" fmla="val 3019"/>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40" name="Text 33"/>
          <p:cNvSpPr txBox="1"/>
          <p:nvPr/>
        </p:nvSpPr>
        <p:spPr>
          <a:xfrm>
            <a:off x="749808" y="3950208"/>
            <a:ext cx="3849624"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Why the camera sits 150-200 m upstream</a:t>
            </a:r>
            <a:endParaRPr lang="en-US" sz="1300" dirty="0"/>
          </a:p>
        </p:txBody>
      </p:sp>
      <p:graphicFrame>
        <p:nvGraphicFramePr>
          <p:cNvPr id="41" name="Chart 0" descr=""/>
          <p:cNvGraphicFramePr/>
          <p:nvPr/>
        </p:nvGraphicFramePr>
        <p:xfrm>
          <a:off x="658368" y="4224528"/>
          <a:ext cx="4032504" cy="1554480"/>
        </p:xfrm>
        <a:graphic xmlns:a="http://schemas.openxmlformats.org/drawingml/2006/main">
          <a:graphicData uri="http://schemas.openxmlformats.org/drawingml/2006/chart">
            <c:chart xmlns:c="http://schemas.openxmlformats.org/drawingml/2006/chart" r:id="rId6"/>
          </a:graphicData>
        </a:graphic>
      </p:graphicFrame>
      <p:sp>
        <p:nvSpPr>
          <p:cNvPr id="42" name="Text 34"/>
          <p:cNvSpPr txBox="1"/>
          <p:nvPr/>
        </p:nvSpPr>
        <p:spPr>
          <a:xfrm>
            <a:off x="749808" y="5760720"/>
            <a:ext cx="3849624" cy="457200"/>
          </a:xfrm>
          <a:prstGeom prst="rect">
            <a:avLst/>
          </a:prstGeom>
          <a:noFill/>
          <a:ln/>
        </p:spPr>
        <p:txBody>
          <a:bodyPr wrap="square" lIns="0" tIns="0" rIns="0" bIns="0" rtlCol="0" anchor="t"/>
          <a:lstStyle/>
          <a:p>
            <a:pPr indent="0" marL="0">
              <a:buNone/>
            </a:pPr>
            <a:r>
              <a:rPr lang="en-US" sz="1000" dirty="0">
                <a:solidFill>
                  <a:srgbClr val="5B6B82"/>
                </a:solidFill>
                <a:latin typeface="Calibri" pitchFamily="34" charset="0"/>
                <a:ea typeface="Calibri" pitchFamily="34" charset="-122"/>
                <a:cs typeface="Calibri" pitchFamily="34" charset="-120"/>
              </a:rPr>
              <a:t>Warning time at 50 km/h (13.9 m/s). Target: first sustained detection to green in under 3 s, leaving time for cross-traffic clearance.</a:t>
            </a:r>
            <a:endParaRPr lang="en-US" sz="1000" dirty="0"/>
          </a:p>
        </p:txBody>
      </p:sp>
      <p:sp>
        <p:nvSpPr>
          <p:cNvPr id="43" name="Shape 35"/>
          <p:cNvSpPr/>
          <p:nvPr/>
        </p:nvSpPr>
        <p:spPr>
          <a:xfrm>
            <a:off x="4983480" y="3840480"/>
            <a:ext cx="3611880" cy="2423160"/>
          </a:xfrm>
          <a:prstGeom prst="roundRect">
            <a:avLst>
              <a:gd name="adj" fmla="val 3019"/>
            </a:avLst>
          </a:prstGeom>
          <a:solidFill>
            <a:srgbClr val="FFFFFF"/>
          </a:solidFill>
          <a:ln w="12700">
            <a:solidFill>
              <a:srgbClr val="FFFFFF"/>
            </a:solidFill>
            <a:prstDash val="solid"/>
          </a:ln>
          <a:effectLst>
            <a:outerShdw sx="100000" sy="100000" kx="0" ky="0" algn="bl" rotWithShape="0" blurRad="127000" dist="25400" dir="5400000">
              <a:srgbClr val="1B2437">
                <a:alpha val="10000"/>
              </a:srgbClr>
            </a:outerShdw>
          </a:effectLst>
        </p:spPr>
      </p:sp>
      <p:sp>
        <p:nvSpPr>
          <p:cNvPr id="44" name="Text 36"/>
          <p:cNvSpPr txBox="1"/>
          <p:nvPr/>
        </p:nvSpPr>
        <p:spPr>
          <a:xfrm>
            <a:off x="5184648" y="3950208"/>
            <a:ext cx="3209544"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What is new versus [11], [12]</a:t>
            </a:r>
            <a:endParaRPr lang="en-US" sz="1300" dirty="0"/>
          </a:p>
        </p:txBody>
      </p:sp>
      <p:sp>
        <p:nvSpPr>
          <p:cNvPr id="45" name="Text 37"/>
          <p:cNvSpPr txBox="1"/>
          <p:nvPr/>
        </p:nvSpPr>
        <p:spPr>
          <a:xfrm>
            <a:off x="5184648" y="4297680"/>
            <a:ext cx="3209544" cy="1874520"/>
          </a:xfrm>
          <a:prstGeom prst="rect">
            <a:avLst/>
          </a:prstGeom>
          <a:noFill/>
          <a:ln/>
        </p:spPr>
        <p:txBody>
          <a:bodyPr wrap="square" lIns="0" tIns="0" rIns="0" bIns="0" rtlCol="0" anchor="t"/>
          <a:lstStyle/>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Two-stage data: public now, Pakistani liveries later</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Camera-placement and lead-time study</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Multi-frame gating plus exit-zone tracking</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Fail-safe controller; independent intersections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Trigger tied to active warning devices</a:t>
            </a:r>
            <a:endParaRPr lang="en-US" sz="1200" dirty="0"/>
          </a:p>
          <a:p>
            <a:pPr marL="165100" indent="-165100">
              <a:spcAft>
                <a:spcPts val="400"/>
              </a:spcAft>
              <a:buSzPct val="100000"/>
              <a:buChar char="•"/>
            </a:pPr>
            <a:r>
              <a:rPr lang="en-US" sz="1200" dirty="0">
                <a:solidFill>
                  <a:srgbClr val="1B2437"/>
                </a:solidFill>
                <a:latin typeface="Calibri" pitchFamily="34" charset="0"/>
                <a:ea typeface="Calibri" pitchFamily="34" charset="-122"/>
                <a:cs typeface="Calibri" pitchFamily="34" charset="-120"/>
              </a:rPr>
              <a:t>Numeric validation against a no-preemption baseline</a:t>
            </a:r>
            <a:endParaRPr lang="en-US" sz="1200" dirty="0"/>
          </a:p>
        </p:txBody>
      </p:sp>
      <p:sp>
        <p:nvSpPr>
          <p:cNvPr id="46" name="Shape 38"/>
          <p:cNvSpPr/>
          <p:nvPr/>
        </p:nvSpPr>
        <p:spPr>
          <a:xfrm>
            <a:off x="8778240" y="3840480"/>
            <a:ext cx="2864815" cy="2423160"/>
          </a:xfrm>
          <a:prstGeom prst="roundRect">
            <a:avLst>
              <a:gd name="adj" fmla="val 3019"/>
            </a:avLst>
          </a:prstGeom>
          <a:solidFill>
            <a:srgbClr val="E3F3EA"/>
          </a:solidFill>
          <a:ln w="12700">
            <a:solidFill>
              <a:srgbClr val="E3F3EA"/>
            </a:solidFill>
            <a:prstDash val="solid"/>
          </a:ln>
        </p:spPr>
      </p:sp>
      <p:sp>
        <p:nvSpPr>
          <p:cNvPr id="47" name="Text 39"/>
          <p:cNvSpPr txBox="1"/>
          <p:nvPr/>
        </p:nvSpPr>
        <p:spPr>
          <a:xfrm>
            <a:off x="8979408" y="3950208"/>
            <a:ext cx="2462479" cy="274320"/>
          </a:xfrm>
          <a:prstGeom prst="rect">
            <a:avLst/>
          </a:prstGeom>
          <a:noFill/>
          <a:ln/>
        </p:spPr>
        <p:txBody>
          <a:bodyPr wrap="square" lIns="0" tIns="0" rIns="0" bIns="0" rtlCol="0" anchor="t"/>
          <a:lstStyle/>
          <a:p>
            <a:pPr indent="0" marL="0">
              <a:buNone/>
            </a:pPr>
            <a:r>
              <a:rPr lang="en-US" sz="1300" b="1" dirty="0">
                <a:solidFill>
                  <a:srgbClr val="17875B"/>
                </a:solidFill>
                <a:latin typeface="Calibri" pitchFamily="34" charset="0"/>
                <a:ea typeface="Calibri" pitchFamily="34" charset="-122"/>
                <a:cs typeface="Calibri" pitchFamily="34" charset="-120"/>
              </a:rPr>
              <a:t>Scope: simulation first</a:t>
            </a:r>
            <a:endParaRPr lang="en-US" sz="1300" dirty="0"/>
          </a:p>
        </p:txBody>
      </p:sp>
      <p:sp>
        <p:nvSpPr>
          <p:cNvPr id="48" name="Text 40"/>
          <p:cNvSpPr txBox="1"/>
          <p:nvPr/>
        </p:nvSpPr>
        <p:spPr>
          <a:xfrm>
            <a:off x="8979408" y="4297680"/>
            <a:ext cx="2462479" cy="187452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1B2437"/>
                </a:solidFill>
                <a:latin typeface="Calibri" pitchFamily="34" charset="0"/>
                <a:ea typeface="Calibri" pitchFamily="34" charset="-122"/>
                <a:cs typeface="Calibri" pitchFamily="34" charset="-120"/>
              </a:rPr>
              <a:t>SUMO model of one representative signalised intersection; Python controller via TraCI</a:t>
            </a:r>
            <a:endParaRPr lang="en-US" sz="1150" dirty="0"/>
          </a:p>
          <a:p>
            <a:pPr marL="165100" indent="-165100">
              <a:spcAft>
                <a:spcPts val="400"/>
              </a:spcAft>
              <a:buSzPct val="100000"/>
              <a:buChar char="•"/>
            </a:pPr>
            <a:r>
              <a:rPr lang="en-US" sz="1150" dirty="0">
                <a:solidFill>
                  <a:srgbClr val="1B2437"/>
                </a:solidFill>
                <a:latin typeface="Calibri" pitchFamily="34" charset="0"/>
                <a:ea typeface="Calibri" pitchFamily="34" charset="-122"/>
                <a:cs typeface="Calibri" pitchFamily="34" charset="-120"/>
              </a:rPr>
              <a:t>Repeated random seeds against a no-preemption baseline</a:t>
            </a:r>
            <a:endParaRPr lang="en-US" sz="1150" dirty="0"/>
          </a:p>
          <a:p>
            <a:pPr marL="165100" indent="-165100">
              <a:spcAft>
                <a:spcPts val="400"/>
              </a:spcAft>
              <a:buSzPct val="100000"/>
              <a:buChar char="•"/>
            </a:pPr>
            <a:r>
              <a:rPr lang="en-US" sz="1150" dirty="0">
                <a:solidFill>
                  <a:srgbClr val="1B2437"/>
                </a:solidFill>
                <a:latin typeface="Calibri" pitchFamily="34" charset="0"/>
                <a:ea typeface="Calibri" pitchFamily="34" charset="-122"/>
                <a:cs typeface="Calibri" pitchFamily="34" charset="-120"/>
              </a:rPr>
              <a:t>Hardware (Raspberry Pi 4, relay-driven signal heads) is future work</a:t>
            </a:r>
            <a:endParaRPr lang="en-US" sz="1150" dirty="0"/>
          </a:p>
        </p:txBody>
      </p:sp>
      <p:sp>
        <p:nvSpPr>
          <p:cNvPr id="49" name="Text 41"/>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Lead times: distance / 13.9 m/s; method in Module 1 of the proposal</a:t>
            </a:r>
            <a:endParaRPr lang="en-US" sz="950" dirty="0"/>
          </a:p>
        </p:txBody>
      </p:sp>
      <p:sp>
        <p:nvSpPr>
          <p:cNvPr id="50" name="Text 42"/>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12 / 14</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17875B"/>
          </a:solidFill>
          <a:ln w="12700">
            <a:solidFill>
              <a:srgbClr val="17875B"/>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5B6B82"/>
                </a:solidFill>
                <a:latin typeface="Calibri" pitchFamily="34" charset="0"/>
                <a:ea typeface="Calibri" pitchFamily="34" charset="-122"/>
                <a:cs typeface="Calibri" pitchFamily="34" charset="-120"/>
              </a:rPr>
              <a:t>ARCHITECTURE</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14213D"/>
                </a:solidFill>
                <a:latin typeface="Cambria" pitchFamily="34" charset="0"/>
                <a:ea typeface="Cambria" pitchFamily="34" charset="-122"/>
                <a:cs typeface="Cambria" pitchFamily="34" charset="-120"/>
              </a:rPr>
              <a:t>Current vs Proposed Architecture: Our Focus Area</a:t>
            </a:r>
            <a:endParaRPr lang="en-US" sz="2600" dirty="0"/>
          </a:p>
        </p:txBody>
      </p:sp>
      <p:sp>
        <p:nvSpPr>
          <p:cNvPr id="5" name="Shape 3"/>
          <p:cNvSpPr/>
          <p:nvPr/>
        </p:nvSpPr>
        <p:spPr>
          <a:xfrm>
            <a:off x="548640" y="1572768"/>
            <a:ext cx="11094415" cy="1828800"/>
          </a:xfrm>
          <a:prstGeom prst="roundRect">
            <a:avLst>
              <a:gd name="adj" fmla="val 4000"/>
            </a:avLst>
          </a:prstGeom>
          <a:solidFill>
            <a:srgbClr val="FBE9EC"/>
          </a:solidFill>
          <a:ln w="12700">
            <a:solidFill>
              <a:srgbClr val="FBE9EC"/>
            </a:solidFill>
            <a:prstDash val="solid"/>
          </a:ln>
        </p:spPr>
      </p:sp>
      <p:sp>
        <p:nvSpPr>
          <p:cNvPr id="6" name="Text 4"/>
          <p:cNvSpPr txBox="1"/>
          <p:nvPr/>
        </p:nvSpPr>
        <p:spPr>
          <a:xfrm>
            <a:off x="731520" y="1828800"/>
            <a:ext cx="1417320" cy="731520"/>
          </a:xfrm>
          <a:prstGeom prst="rect">
            <a:avLst/>
          </a:prstGeom>
          <a:noFill/>
          <a:ln/>
        </p:spPr>
        <p:txBody>
          <a:bodyPr wrap="square" lIns="0" tIns="0" rIns="0" bIns="0" rtlCol="0" anchor="t"/>
          <a:lstStyle/>
          <a:p>
            <a:pPr indent="0" marL="0">
              <a:buNone/>
            </a:pPr>
            <a:r>
              <a:rPr lang="en-US" sz="1400" b="1" spc="200" kern="0" dirty="0">
                <a:solidFill>
                  <a:srgbClr val="D62839"/>
                </a:solidFill>
                <a:latin typeface="Calibri" pitchFamily="34" charset="0"/>
                <a:ea typeface="Calibri" pitchFamily="34" charset="-122"/>
                <a:cs typeface="Calibri" pitchFamily="34" charset="-120"/>
              </a:rPr>
              <a:t>CURRENT</a:t>
            </a:r>
            <a:endParaRPr lang="en-US" sz="1200" dirty="0"/>
          </a:p>
          <a:p>
            <a:pPr indent="0" marL="0">
              <a:buNone/>
            </a:pPr>
            <a:r>
              <a:rPr lang="en-US" sz="1100" dirty="0">
                <a:solidFill>
                  <a:srgbClr val="5B6B82"/>
                </a:solidFill>
                <a:latin typeface="Calibri" pitchFamily="34" charset="0"/>
                <a:ea typeface="Calibri" pitchFamily="34" charset="-122"/>
                <a:cs typeface="Calibri" pitchFamily="34" charset="-120"/>
              </a:rPr>
              <a:t>GPS / IoT, IR and RF EVP</a:t>
            </a:r>
            <a:endParaRPr lang="en-US" sz="1200" dirty="0"/>
          </a:p>
        </p:txBody>
      </p:sp>
      <p:sp>
        <p:nvSpPr>
          <p:cNvPr id="7" name="Shape 5"/>
          <p:cNvSpPr/>
          <p:nvPr/>
        </p:nvSpPr>
        <p:spPr>
          <a:xfrm>
            <a:off x="2331720" y="1783080"/>
            <a:ext cx="1645920" cy="960120"/>
          </a:xfrm>
          <a:prstGeom prst="roundRect">
            <a:avLst>
              <a:gd name="adj" fmla="val 7619"/>
            </a:avLst>
          </a:prstGeom>
          <a:solidFill>
            <a:srgbClr val="FFFFFF"/>
          </a:solidFill>
          <a:ln w="15875">
            <a:solidFill>
              <a:srgbClr val="E7B8BF"/>
            </a:solidFill>
            <a:prstDash val="solid"/>
          </a:ln>
        </p:spPr>
      </p:sp>
      <p:sp>
        <p:nvSpPr>
          <p:cNvPr id="8" name="Text 6"/>
          <p:cNvSpPr txBox="1"/>
          <p:nvPr/>
        </p:nvSpPr>
        <p:spPr>
          <a:xfrm>
            <a:off x="2423160" y="1828800"/>
            <a:ext cx="1463040" cy="86868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Vehicle-side unit</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IR emitter, RF transmitter or GPS+GSM</a:t>
            </a:r>
            <a:endParaRPr lang="en-US" sz="1200" dirty="0"/>
          </a:p>
        </p:txBody>
      </p:sp>
      <p:sp>
        <p:nvSpPr>
          <p:cNvPr id="9" name="Shape 7"/>
          <p:cNvSpPr/>
          <p:nvPr/>
        </p:nvSpPr>
        <p:spPr>
          <a:xfrm>
            <a:off x="4014216" y="2171700"/>
            <a:ext cx="151562" cy="182880"/>
          </a:xfrm>
          <a:prstGeom prst="rightArrow">
            <a:avLst/>
          </a:prstGeom>
          <a:solidFill>
            <a:srgbClr val="D62839"/>
          </a:solidFill>
          <a:ln w="12700">
            <a:solidFill>
              <a:srgbClr val="D62839"/>
            </a:solidFill>
            <a:prstDash val="solid"/>
          </a:ln>
        </p:spPr>
      </p:sp>
      <p:sp>
        <p:nvSpPr>
          <p:cNvPr id="10" name="Shape 8"/>
          <p:cNvSpPr/>
          <p:nvPr/>
        </p:nvSpPr>
        <p:spPr>
          <a:xfrm>
            <a:off x="4202354" y="1783080"/>
            <a:ext cx="1645920" cy="960120"/>
          </a:xfrm>
          <a:prstGeom prst="roundRect">
            <a:avLst>
              <a:gd name="adj" fmla="val 7619"/>
            </a:avLst>
          </a:prstGeom>
          <a:solidFill>
            <a:srgbClr val="FFFFFF"/>
          </a:solidFill>
          <a:ln w="15875">
            <a:solidFill>
              <a:srgbClr val="E7B8BF"/>
            </a:solidFill>
            <a:prstDash val="solid"/>
          </a:ln>
        </p:spPr>
      </p:sp>
      <p:sp>
        <p:nvSpPr>
          <p:cNvPr id="11" name="Text 9"/>
          <p:cNvSpPr txBox="1"/>
          <p:nvPr/>
        </p:nvSpPr>
        <p:spPr>
          <a:xfrm>
            <a:off x="4293794" y="1828800"/>
            <a:ext cx="1463040" cy="86868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Link</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Line-of-sight, RF channel or cellular</a:t>
            </a:r>
            <a:endParaRPr lang="en-US" sz="1200" dirty="0"/>
          </a:p>
        </p:txBody>
      </p:sp>
      <p:sp>
        <p:nvSpPr>
          <p:cNvPr id="12" name="Shape 10"/>
          <p:cNvSpPr/>
          <p:nvPr/>
        </p:nvSpPr>
        <p:spPr>
          <a:xfrm>
            <a:off x="5884850" y="2171700"/>
            <a:ext cx="151562" cy="182880"/>
          </a:xfrm>
          <a:prstGeom prst="rightArrow">
            <a:avLst/>
          </a:prstGeom>
          <a:solidFill>
            <a:srgbClr val="D62839"/>
          </a:solidFill>
          <a:ln w="12700">
            <a:solidFill>
              <a:srgbClr val="D62839"/>
            </a:solidFill>
            <a:prstDash val="solid"/>
          </a:ln>
        </p:spPr>
      </p:sp>
      <p:sp>
        <p:nvSpPr>
          <p:cNvPr id="13" name="Shape 11"/>
          <p:cNvSpPr/>
          <p:nvPr/>
        </p:nvSpPr>
        <p:spPr>
          <a:xfrm>
            <a:off x="6072988" y="1783080"/>
            <a:ext cx="1645920" cy="960120"/>
          </a:xfrm>
          <a:prstGeom prst="roundRect">
            <a:avLst>
              <a:gd name="adj" fmla="val 7619"/>
            </a:avLst>
          </a:prstGeom>
          <a:solidFill>
            <a:srgbClr val="FFFFFF"/>
          </a:solidFill>
          <a:ln w="15875">
            <a:solidFill>
              <a:srgbClr val="E7B8BF"/>
            </a:solidFill>
            <a:prstDash val="solid"/>
          </a:ln>
        </p:spPr>
      </p:sp>
      <p:sp>
        <p:nvSpPr>
          <p:cNvPr id="14" name="Text 12"/>
          <p:cNvSpPr txBox="1"/>
          <p:nvPr/>
        </p:nvSpPr>
        <p:spPr>
          <a:xfrm>
            <a:off x="6164428" y="1828800"/>
            <a:ext cx="1463040" cy="86868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Receiver or central platform</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Computes vehicle proximity</a:t>
            </a:r>
            <a:endParaRPr lang="en-US" sz="1200" dirty="0"/>
          </a:p>
        </p:txBody>
      </p:sp>
      <p:sp>
        <p:nvSpPr>
          <p:cNvPr id="15" name="Shape 13"/>
          <p:cNvSpPr/>
          <p:nvPr/>
        </p:nvSpPr>
        <p:spPr>
          <a:xfrm>
            <a:off x="7755484" y="2171700"/>
            <a:ext cx="151562" cy="182880"/>
          </a:xfrm>
          <a:prstGeom prst="rightArrow">
            <a:avLst/>
          </a:prstGeom>
          <a:solidFill>
            <a:srgbClr val="D62839"/>
          </a:solidFill>
          <a:ln w="12700">
            <a:solidFill>
              <a:srgbClr val="D62839"/>
            </a:solidFill>
            <a:prstDash val="solid"/>
          </a:ln>
        </p:spPr>
      </p:sp>
      <p:sp>
        <p:nvSpPr>
          <p:cNvPr id="16" name="Shape 14"/>
          <p:cNvSpPr/>
          <p:nvPr/>
        </p:nvSpPr>
        <p:spPr>
          <a:xfrm>
            <a:off x="7943621" y="1783080"/>
            <a:ext cx="1645920" cy="960120"/>
          </a:xfrm>
          <a:prstGeom prst="roundRect">
            <a:avLst>
              <a:gd name="adj" fmla="val 7619"/>
            </a:avLst>
          </a:prstGeom>
          <a:solidFill>
            <a:srgbClr val="FFFFFF"/>
          </a:solidFill>
          <a:ln w="15875">
            <a:solidFill>
              <a:srgbClr val="E7B8BF"/>
            </a:solidFill>
            <a:prstDash val="solid"/>
          </a:ln>
        </p:spPr>
      </p:sp>
      <p:sp>
        <p:nvSpPr>
          <p:cNvPr id="17" name="Text 15"/>
          <p:cNvSpPr txBox="1"/>
          <p:nvPr/>
        </p:nvSpPr>
        <p:spPr>
          <a:xfrm>
            <a:off x="8035061" y="1828800"/>
            <a:ext cx="1463040" cy="86868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Signal controller</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Priority request (NTCIP 1211 model)</a:t>
            </a:r>
            <a:endParaRPr lang="en-US" sz="1200" dirty="0"/>
          </a:p>
        </p:txBody>
      </p:sp>
      <p:sp>
        <p:nvSpPr>
          <p:cNvPr id="18" name="Shape 16"/>
          <p:cNvSpPr/>
          <p:nvPr/>
        </p:nvSpPr>
        <p:spPr>
          <a:xfrm>
            <a:off x="9626117" y="2171700"/>
            <a:ext cx="151562" cy="182880"/>
          </a:xfrm>
          <a:prstGeom prst="rightArrow">
            <a:avLst/>
          </a:prstGeom>
          <a:solidFill>
            <a:srgbClr val="D62839"/>
          </a:solidFill>
          <a:ln w="12700">
            <a:solidFill>
              <a:srgbClr val="D62839"/>
            </a:solidFill>
            <a:prstDash val="solid"/>
          </a:ln>
        </p:spPr>
      </p:sp>
      <p:sp>
        <p:nvSpPr>
          <p:cNvPr id="19" name="Shape 17"/>
          <p:cNvSpPr/>
          <p:nvPr/>
        </p:nvSpPr>
        <p:spPr>
          <a:xfrm>
            <a:off x="9814255" y="1783080"/>
            <a:ext cx="1645920" cy="960120"/>
          </a:xfrm>
          <a:prstGeom prst="roundRect">
            <a:avLst>
              <a:gd name="adj" fmla="val 7619"/>
            </a:avLst>
          </a:prstGeom>
          <a:solidFill>
            <a:srgbClr val="FFFFFF"/>
          </a:solidFill>
          <a:ln w="15875">
            <a:solidFill>
              <a:srgbClr val="E7B8BF"/>
            </a:solidFill>
            <a:prstDash val="solid"/>
          </a:ln>
        </p:spPr>
      </p:sp>
      <p:sp>
        <p:nvSpPr>
          <p:cNvPr id="20" name="Text 18"/>
          <p:cNvSpPr txBox="1"/>
          <p:nvPr/>
        </p:nvSpPr>
        <p:spPr>
          <a:xfrm>
            <a:off x="9905695" y="1828800"/>
            <a:ext cx="1463040" cy="86868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Signal heads</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Green for the vehicle</a:t>
            </a:r>
            <a:endParaRPr lang="en-US" sz="1200" dirty="0"/>
          </a:p>
        </p:txBody>
      </p:sp>
      <p:sp>
        <p:nvSpPr>
          <p:cNvPr id="21" name="Text 19"/>
          <p:cNvSpPr txBox="1"/>
          <p:nvPr/>
        </p:nvSpPr>
        <p:spPr>
          <a:xfrm>
            <a:off x="2286000" y="2834640"/>
            <a:ext cx="1737360" cy="457200"/>
          </a:xfrm>
          <a:prstGeom prst="rect">
            <a:avLst/>
          </a:prstGeom>
          <a:noFill/>
          <a:ln/>
        </p:spPr>
        <p:txBody>
          <a:bodyPr wrap="square" lIns="0" tIns="0" rIns="0" bIns="0" rtlCol="0" anchor="t"/>
          <a:lstStyle/>
          <a:p>
            <a:pPr algn="ctr" indent="0" marL="0">
              <a:buNone/>
            </a:pPr>
            <a:r>
              <a:rPr lang="en-US" sz="1050" b="1" dirty="0">
                <a:solidFill>
                  <a:srgbClr val="D62839"/>
                </a:solidFill>
                <a:latin typeface="Calibri" pitchFamily="34" charset="0"/>
                <a:ea typeface="Calibri" pitchFamily="34" charset="-122"/>
                <a:cs typeface="Calibri" pitchFamily="34" charset="-120"/>
              </a:rPr>
              <a:t>Hardware on every vehicle</a:t>
            </a:r>
            <a:endParaRPr lang="en-US" sz="1050" dirty="0"/>
          </a:p>
        </p:txBody>
      </p:sp>
      <p:sp>
        <p:nvSpPr>
          <p:cNvPr id="22" name="Text 20"/>
          <p:cNvSpPr txBox="1"/>
          <p:nvPr/>
        </p:nvSpPr>
        <p:spPr>
          <a:xfrm>
            <a:off x="4156634" y="2834640"/>
            <a:ext cx="1737360" cy="457200"/>
          </a:xfrm>
          <a:prstGeom prst="rect">
            <a:avLst/>
          </a:prstGeom>
          <a:noFill/>
          <a:ln/>
        </p:spPr>
        <p:txBody>
          <a:bodyPr wrap="square" lIns="0" tIns="0" rIns="0" bIns="0" rtlCol="0" anchor="t"/>
          <a:lstStyle/>
          <a:p>
            <a:pPr algn="ctr" indent="0" marL="0">
              <a:buNone/>
            </a:pPr>
            <a:r>
              <a:rPr lang="en-US" sz="1050" b="1" dirty="0">
                <a:solidFill>
                  <a:srgbClr val="D62839"/>
                </a:solidFill>
                <a:latin typeface="Calibri" pitchFamily="34" charset="0"/>
                <a:ea typeface="Calibri" pitchFamily="34" charset="-122"/>
                <a:cs typeface="Calibri" pitchFamily="34" charset="-120"/>
              </a:rPr>
              <a:t>Needs a live link</a:t>
            </a:r>
            <a:endParaRPr lang="en-US" sz="1050" dirty="0"/>
          </a:p>
        </p:txBody>
      </p:sp>
      <p:sp>
        <p:nvSpPr>
          <p:cNvPr id="23" name="Text 21"/>
          <p:cNvSpPr txBox="1"/>
          <p:nvPr/>
        </p:nvSpPr>
        <p:spPr>
          <a:xfrm>
            <a:off x="6027268" y="2834640"/>
            <a:ext cx="1737360" cy="457200"/>
          </a:xfrm>
          <a:prstGeom prst="rect">
            <a:avLst/>
          </a:prstGeom>
          <a:noFill/>
          <a:ln/>
        </p:spPr>
        <p:txBody>
          <a:bodyPr wrap="square" lIns="0" tIns="0" rIns="0" bIns="0" rtlCol="0" anchor="t"/>
          <a:lstStyle/>
          <a:p>
            <a:pPr algn="ctr" indent="0" marL="0">
              <a:buNone/>
            </a:pPr>
            <a:r>
              <a:rPr lang="en-US" sz="1050" b="1" dirty="0">
                <a:solidFill>
                  <a:srgbClr val="D62839"/>
                </a:solidFill>
                <a:latin typeface="Calibri" pitchFamily="34" charset="0"/>
                <a:ea typeface="Calibri" pitchFamily="34" charset="-122"/>
                <a:cs typeface="Calibri" pitchFamily="34" charset="-120"/>
              </a:rPr>
              <a:t>Central server or fleet coordination</a:t>
            </a:r>
            <a:endParaRPr lang="en-US" sz="1050" dirty="0"/>
          </a:p>
        </p:txBody>
      </p:sp>
      <p:sp>
        <p:nvSpPr>
          <p:cNvPr id="24" name="Shape 22"/>
          <p:cNvSpPr/>
          <p:nvPr/>
        </p:nvSpPr>
        <p:spPr>
          <a:xfrm>
            <a:off x="548640" y="3584448"/>
            <a:ext cx="11094415" cy="2679192"/>
          </a:xfrm>
          <a:prstGeom prst="roundRect">
            <a:avLst>
              <a:gd name="adj" fmla="val 2730"/>
            </a:avLst>
          </a:prstGeom>
          <a:solidFill>
            <a:srgbClr val="E3F3EA"/>
          </a:solidFill>
          <a:ln w="12700">
            <a:solidFill>
              <a:srgbClr val="E3F3EA"/>
            </a:solidFill>
            <a:prstDash val="solid"/>
          </a:ln>
        </p:spPr>
      </p:sp>
      <p:sp>
        <p:nvSpPr>
          <p:cNvPr id="25" name="Text 23"/>
          <p:cNvSpPr txBox="1"/>
          <p:nvPr/>
        </p:nvSpPr>
        <p:spPr>
          <a:xfrm>
            <a:off x="731520" y="4297680"/>
            <a:ext cx="1417320" cy="822960"/>
          </a:xfrm>
          <a:prstGeom prst="rect">
            <a:avLst/>
          </a:prstGeom>
          <a:noFill/>
          <a:ln/>
        </p:spPr>
        <p:txBody>
          <a:bodyPr wrap="square" lIns="0" tIns="0" rIns="0" bIns="0" rtlCol="0" anchor="t"/>
          <a:lstStyle/>
          <a:p>
            <a:pPr indent="0" marL="0">
              <a:buNone/>
            </a:pPr>
            <a:r>
              <a:rPr lang="en-US" sz="1400" b="1" spc="200" kern="0" dirty="0">
                <a:solidFill>
                  <a:srgbClr val="17875B"/>
                </a:solidFill>
                <a:latin typeface="Calibri" pitchFamily="34" charset="0"/>
                <a:ea typeface="Calibri" pitchFamily="34" charset="-122"/>
                <a:cs typeface="Calibri" pitchFamily="34" charset="-120"/>
              </a:rPr>
              <a:t>PROPOSED</a:t>
            </a:r>
            <a:endParaRPr lang="en-US" sz="1200" dirty="0"/>
          </a:p>
          <a:p>
            <a:pPr indent="0" marL="0">
              <a:buNone/>
            </a:pPr>
            <a:r>
              <a:rPr lang="en-US" sz="1100" dirty="0">
                <a:solidFill>
                  <a:srgbClr val="5B6B82"/>
                </a:solidFill>
                <a:latin typeface="Calibri" pitchFamily="34" charset="0"/>
                <a:ea typeface="Calibri" pitchFamily="34" charset="-122"/>
                <a:cs typeface="Calibri" pitchFamily="34" charset="-120"/>
              </a:rPr>
              <a:t>Camera-only Computer Vision EVP</a:t>
            </a:r>
            <a:endParaRPr lang="en-US" sz="1200" dirty="0"/>
          </a:p>
        </p:txBody>
      </p:sp>
      <p:sp>
        <p:nvSpPr>
          <p:cNvPr id="26" name="Shape 24"/>
          <p:cNvSpPr/>
          <p:nvPr/>
        </p:nvSpPr>
        <p:spPr>
          <a:xfrm>
            <a:off x="4083482" y="4041648"/>
            <a:ext cx="5624932" cy="1600200"/>
          </a:xfrm>
          <a:prstGeom prst="roundRect">
            <a:avLst>
              <a:gd name="adj" fmla="val 5714"/>
            </a:avLst>
          </a:prstGeom>
          <a:solidFill>
            <a:srgbClr val="FFFFFF">
              <a:alpha val="0"/>
            </a:srgbClr>
          </a:solidFill>
          <a:ln w="25400">
            <a:solidFill>
              <a:srgbClr val="17875B"/>
            </a:solidFill>
            <a:prstDash val="dash"/>
          </a:ln>
        </p:spPr>
      </p:sp>
      <p:sp>
        <p:nvSpPr>
          <p:cNvPr id="27" name="Shape 25"/>
          <p:cNvSpPr/>
          <p:nvPr/>
        </p:nvSpPr>
        <p:spPr>
          <a:xfrm>
            <a:off x="4564228" y="3840480"/>
            <a:ext cx="4663440" cy="310896"/>
          </a:xfrm>
          <a:prstGeom prst="roundRect">
            <a:avLst>
              <a:gd name="adj" fmla="val 50000"/>
            </a:avLst>
          </a:prstGeom>
          <a:solidFill>
            <a:srgbClr val="17875B"/>
          </a:solidFill>
          <a:ln w="12700">
            <a:solidFill>
              <a:srgbClr val="17875B"/>
            </a:solidFill>
            <a:prstDash val="solid"/>
          </a:ln>
        </p:spPr>
      </p:sp>
      <p:sp>
        <p:nvSpPr>
          <p:cNvPr id="28" name="Text 26"/>
          <p:cNvSpPr txBox="1"/>
          <p:nvPr/>
        </p:nvSpPr>
        <p:spPr>
          <a:xfrm>
            <a:off x="4564228" y="3840480"/>
            <a:ext cx="466344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FOCUS AREA: designed, simulated and validated in SUMO</a:t>
            </a:r>
            <a:endParaRPr lang="en-US" sz="1100" dirty="0"/>
          </a:p>
        </p:txBody>
      </p:sp>
      <p:sp>
        <p:nvSpPr>
          <p:cNvPr id="29" name="Shape 27"/>
          <p:cNvSpPr/>
          <p:nvPr/>
        </p:nvSpPr>
        <p:spPr>
          <a:xfrm>
            <a:off x="2331720" y="4315968"/>
            <a:ext cx="1645920" cy="1143000"/>
          </a:xfrm>
          <a:prstGeom prst="roundRect">
            <a:avLst>
              <a:gd name="adj" fmla="val 6400"/>
            </a:avLst>
          </a:prstGeom>
          <a:solidFill>
            <a:srgbClr val="FFFFFF"/>
          </a:solidFill>
          <a:ln w="15875">
            <a:solidFill>
              <a:srgbClr val="9CCFB6"/>
            </a:solidFill>
            <a:prstDash val="solid"/>
          </a:ln>
        </p:spPr>
      </p:sp>
      <p:sp>
        <p:nvSpPr>
          <p:cNvPr id="30" name="Text 28"/>
          <p:cNvSpPr txBox="1"/>
          <p:nvPr/>
        </p:nvSpPr>
        <p:spPr>
          <a:xfrm>
            <a:off x="2423160" y="4361688"/>
            <a:ext cx="1463040" cy="105156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Upstream camera</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150-200 m before the stop line (simulated)</a:t>
            </a:r>
            <a:endParaRPr lang="en-US" sz="1200" dirty="0"/>
          </a:p>
        </p:txBody>
      </p:sp>
      <p:sp>
        <p:nvSpPr>
          <p:cNvPr id="31" name="Shape 29"/>
          <p:cNvSpPr/>
          <p:nvPr/>
        </p:nvSpPr>
        <p:spPr>
          <a:xfrm>
            <a:off x="4014216" y="4796028"/>
            <a:ext cx="151562" cy="182880"/>
          </a:xfrm>
          <a:prstGeom prst="rightArrow">
            <a:avLst/>
          </a:prstGeom>
          <a:solidFill>
            <a:srgbClr val="17875B"/>
          </a:solidFill>
          <a:ln w="12700">
            <a:solidFill>
              <a:srgbClr val="17875B"/>
            </a:solidFill>
            <a:prstDash val="solid"/>
          </a:ln>
        </p:spPr>
      </p:sp>
      <p:sp>
        <p:nvSpPr>
          <p:cNvPr id="32" name="Shape 30"/>
          <p:cNvSpPr/>
          <p:nvPr/>
        </p:nvSpPr>
        <p:spPr>
          <a:xfrm>
            <a:off x="4202354" y="4315968"/>
            <a:ext cx="1645920" cy="1143000"/>
          </a:xfrm>
          <a:prstGeom prst="roundRect">
            <a:avLst>
              <a:gd name="adj" fmla="val 6400"/>
            </a:avLst>
          </a:prstGeom>
          <a:solidFill>
            <a:srgbClr val="14213D"/>
          </a:solidFill>
          <a:ln w="15875">
            <a:solidFill>
              <a:srgbClr val="14213D"/>
            </a:solidFill>
            <a:prstDash val="solid"/>
          </a:ln>
        </p:spPr>
      </p:sp>
      <p:sp>
        <p:nvSpPr>
          <p:cNvPr id="33" name="Text 31"/>
          <p:cNvSpPr txBox="1"/>
          <p:nvPr/>
        </p:nvSpPr>
        <p:spPr>
          <a:xfrm>
            <a:off x="4293794" y="4361688"/>
            <a:ext cx="1463040" cy="10515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YOLOv8n detector</a:t>
            </a:r>
            <a:endParaRPr lang="en-US" sz="1200" dirty="0"/>
          </a:p>
          <a:p>
            <a:pPr algn="ctr" indent="0" marL="0">
              <a:buNone/>
            </a:pPr>
            <a:r>
              <a:rPr lang="en-US" sz="1000" dirty="0">
                <a:solidFill>
                  <a:srgbClr val="C9D3E6"/>
                </a:solidFill>
                <a:latin typeface="Calibri" pitchFamily="34" charset="0"/>
                <a:ea typeface="Calibri" pitchFamily="34" charset="-122"/>
                <a:cs typeface="Calibri" pitchFamily="34" charset="-120"/>
              </a:rPr>
              <a:t>Fine-tuned on public data; performance profile</a:t>
            </a:r>
            <a:endParaRPr lang="en-US" sz="1200" dirty="0"/>
          </a:p>
        </p:txBody>
      </p:sp>
      <p:sp>
        <p:nvSpPr>
          <p:cNvPr id="34" name="Shape 32"/>
          <p:cNvSpPr/>
          <p:nvPr/>
        </p:nvSpPr>
        <p:spPr>
          <a:xfrm>
            <a:off x="5884850" y="4796028"/>
            <a:ext cx="151562" cy="182880"/>
          </a:xfrm>
          <a:prstGeom prst="rightArrow">
            <a:avLst/>
          </a:prstGeom>
          <a:solidFill>
            <a:srgbClr val="17875B"/>
          </a:solidFill>
          <a:ln w="12700">
            <a:solidFill>
              <a:srgbClr val="17875B"/>
            </a:solidFill>
            <a:prstDash val="solid"/>
          </a:ln>
        </p:spPr>
      </p:sp>
      <p:sp>
        <p:nvSpPr>
          <p:cNvPr id="35" name="Shape 33"/>
          <p:cNvSpPr/>
          <p:nvPr/>
        </p:nvSpPr>
        <p:spPr>
          <a:xfrm>
            <a:off x="6072988" y="4315968"/>
            <a:ext cx="1645920" cy="1143000"/>
          </a:xfrm>
          <a:prstGeom prst="roundRect">
            <a:avLst>
              <a:gd name="adj" fmla="val 6400"/>
            </a:avLst>
          </a:prstGeom>
          <a:solidFill>
            <a:srgbClr val="14213D"/>
          </a:solidFill>
          <a:ln w="15875">
            <a:solidFill>
              <a:srgbClr val="14213D"/>
            </a:solidFill>
            <a:prstDash val="solid"/>
          </a:ln>
        </p:spPr>
      </p:sp>
      <p:sp>
        <p:nvSpPr>
          <p:cNvPr id="36" name="Text 34"/>
          <p:cNvSpPr txBox="1"/>
          <p:nvPr/>
        </p:nvSpPr>
        <p:spPr>
          <a:xfrm>
            <a:off x="6164428" y="4361688"/>
            <a:ext cx="1463040" cy="10515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Tracker, gating, trigger</a:t>
            </a:r>
            <a:endParaRPr lang="en-US" sz="1200" dirty="0"/>
          </a:p>
          <a:p>
            <a:pPr algn="ctr" indent="0" marL="0">
              <a:buNone/>
            </a:pPr>
            <a:r>
              <a:rPr lang="en-US" sz="1000" dirty="0">
                <a:solidFill>
                  <a:srgbClr val="C9D3E6"/>
                </a:solidFill>
                <a:latin typeface="Calibri" pitchFamily="34" charset="0"/>
                <a:ea typeface="Calibri" pitchFamily="34" charset="-122"/>
                <a:cs typeface="Calibri" pitchFamily="34" charset="-120"/>
              </a:rPr>
              <a:t>Multi-frame confidence, exit zone, warning-device rule</a:t>
            </a:r>
            <a:endParaRPr lang="en-US" sz="1200" dirty="0"/>
          </a:p>
        </p:txBody>
      </p:sp>
      <p:sp>
        <p:nvSpPr>
          <p:cNvPr id="37" name="Shape 35"/>
          <p:cNvSpPr/>
          <p:nvPr/>
        </p:nvSpPr>
        <p:spPr>
          <a:xfrm>
            <a:off x="7755484" y="4796028"/>
            <a:ext cx="151562" cy="182880"/>
          </a:xfrm>
          <a:prstGeom prst="rightArrow">
            <a:avLst/>
          </a:prstGeom>
          <a:solidFill>
            <a:srgbClr val="17875B"/>
          </a:solidFill>
          <a:ln w="12700">
            <a:solidFill>
              <a:srgbClr val="17875B"/>
            </a:solidFill>
            <a:prstDash val="solid"/>
          </a:ln>
        </p:spPr>
      </p:sp>
      <p:sp>
        <p:nvSpPr>
          <p:cNvPr id="38" name="Shape 36"/>
          <p:cNvSpPr/>
          <p:nvPr/>
        </p:nvSpPr>
        <p:spPr>
          <a:xfrm>
            <a:off x="7943621" y="4315968"/>
            <a:ext cx="1645920" cy="1143000"/>
          </a:xfrm>
          <a:prstGeom prst="roundRect">
            <a:avLst>
              <a:gd name="adj" fmla="val 6400"/>
            </a:avLst>
          </a:prstGeom>
          <a:solidFill>
            <a:srgbClr val="14213D"/>
          </a:solidFill>
          <a:ln w="15875">
            <a:solidFill>
              <a:srgbClr val="14213D"/>
            </a:solidFill>
            <a:prstDash val="solid"/>
          </a:ln>
        </p:spPr>
      </p:sp>
      <p:sp>
        <p:nvSpPr>
          <p:cNvPr id="39" name="Text 37"/>
          <p:cNvSpPr txBox="1"/>
          <p:nvPr/>
        </p:nvSpPr>
        <p:spPr>
          <a:xfrm>
            <a:off x="8035061" y="4361688"/>
            <a:ext cx="1463040" cy="10515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Signal controller</a:t>
            </a:r>
            <a:endParaRPr lang="en-US" sz="1200" dirty="0"/>
          </a:p>
          <a:p>
            <a:pPr algn="ctr" indent="0" marL="0">
              <a:buNone/>
            </a:pPr>
            <a:r>
              <a:rPr lang="en-US" sz="1000" dirty="0">
                <a:solidFill>
                  <a:srgbClr val="C9D3E6"/>
                </a:solidFill>
                <a:latin typeface="Calibri" pitchFamily="34" charset="0"/>
                <a:ea typeface="Calibri" pitchFamily="34" charset="-122"/>
                <a:cs typeface="Calibri" pitchFamily="34" charset="-120"/>
              </a:rPr>
              <a:t>Normal / Preempt / Revert / Fail-safe via TraCI</a:t>
            </a:r>
            <a:endParaRPr lang="en-US" sz="1200" dirty="0"/>
          </a:p>
        </p:txBody>
      </p:sp>
      <p:sp>
        <p:nvSpPr>
          <p:cNvPr id="40" name="Shape 38"/>
          <p:cNvSpPr/>
          <p:nvPr/>
        </p:nvSpPr>
        <p:spPr>
          <a:xfrm>
            <a:off x="9626117" y="4796028"/>
            <a:ext cx="151562" cy="182880"/>
          </a:xfrm>
          <a:prstGeom prst="rightArrow">
            <a:avLst/>
          </a:prstGeom>
          <a:solidFill>
            <a:srgbClr val="17875B"/>
          </a:solidFill>
          <a:ln w="12700">
            <a:solidFill>
              <a:srgbClr val="17875B"/>
            </a:solidFill>
            <a:prstDash val="solid"/>
          </a:ln>
        </p:spPr>
      </p:sp>
      <p:sp>
        <p:nvSpPr>
          <p:cNvPr id="41" name="Shape 39"/>
          <p:cNvSpPr/>
          <p:nvPr/>
        </p:nvSpPr>
        <p:spPr>
          <a:xfrm>
            <a:off x="9814255" y="4315968"/>
            <a:ext cx="1645920" cy="1143000"/>
          </a:xfrm>
          <a:prstGeom prst="roundRect">
            <a:avLst>
              <a:gd name="adj" fmla="val 6400"/>
            </a:avLst>
          </a:prstGeom>
          <a:solidFill>
            <a:srgbClr val="FFFFFF"/>
          </a:solidFill>
          <a:ln w="15875">
            <a:solidFill>
              <a:srgbClr val="9CCFB6"/>
            </a:solidFill>
            <a:prstDash val="solid"/>
          </a:ln>
        </p:spPr>
      </p:sp>
      <p:sp>
        <p:nvSpPr>
          <p:cNvPr id="42" name="Text 40"/>
          <p:cNvSpPr txBox="1"/>
          <p:nvPr/>
        </p:nvSpPr>
        <p:spPr>
          <a:xfrm>
            <a:off x="9905695" y="4361688"/>
            <a:ext cx="1463040" cy="1051560"/>
          </a:xfrm>
          <a:prstGeom prst="rect">
            <a:avLst/>
          </a:prstGeom>
          <a:noFill/>
          <a:ln/>
        </p:spPr>
        <p:txBody>
          <a:bodyPr wrap="square" lIns="0" tIns="0" rIns="0" bIns="0" rtlCol="0" anchor="ctr"/>
          <a:lstStyle/>
          <a:p>
            <a:pPr algn="ctr" indent="0" marL="0">
              <a:buNone/>
            </a:pPr>
            <a:r>
              <a:rPr lang="en-US" sz="1150" b="1" dirty="0">
                <a:solidFill>
                  <a:srgbClr val="14213D"/>
                </a:solidFill>
                <a:latin typeface="Calibri" pitchFamily="34" charset="0"/>
                <a:ea typeface="Calibri" pitchFamily="34" charset="-122"/>
                <a:cs typeface="Calibri" pitchFamily="34" charset="-120"/>
              </a:rPr>
              <a:t>Signal heads</a:t>
            </a:r>
            <a:endParaRPr lang="en-US" sz="1200" dirty="0"/>
          </a:p>
          <a:p>
            <a:pPr algn="ctr" indent="0" marL="0">
              <a:buNone/>
            </a:pPr>
            <a:r>
              <a:rPr lang="en-US" sz="1000" dirty="0">
                <a:solidFill>
                  <a:srgbClr val="5B6B82"/>
                </a:solidFill>
                <a:latin typeface="Calibri" pitchFamily="34" charset="0"/>
                <a:ea typeface="Calibri" pitchFamily="34" charset="-122"/>
                <a:cs typeface="Calibri" pitchFamily="34" charset="-120"/>
              </a:rPr>
              <a:t>Green for the emergency approach (SUMO)</a:t>
            </a:r>
            <a:endParaRPr lang="en-US" sz="1200" dirty="0"/>
          </a:p>
        </p:txBody>
      </p:sp>
      <p:sp>
        <p:nvSpPr>
          <p:cNvPr id="43" name="Text 41"/>
          <p:cNvSpPr txBox="1"/>
          <p:nvPr/>
        </p:nvSpPr>
        <p:spPr>
          <a:xfrm>
            <a:off x="2286000" y="5760720"/>
            <a:ext cx="1737360" cy="411480"/>
          </a:xfrm>
          <a:prstGeom prst="rect">
            <a:avLst/>
          </a:prstGeom>
          <a:noFill/>
          <a:ln/>
        </p:spPr>
        <p:txBody>
          <a:bodyPr wrap="square" lIns="0" tIns="0" rIns="0" bIns="0" rtlCol="0" anchor="t"/>
          <a:lstStyle/>
          <a:p>
            <a:pPr algn="ctr" indent="0" marL="0">
              <a:buNone/>
            </a:pPr>
            <a:r>
              <a:rPr lang="en-US" sz="1050" b="1" dirty="0">
                <a:solidFill>
                  <a:srgbClr val="17875B"/>
                </a:solidFill>
                <a:latin typeface="Calibri" pitchFamily="34" charset="0"/>
                <a:ea typeface="Calibri" pitchFamily="34" charset="-122"/>
                <a:cs typeface="Calibri" pitchFamily="34" charset="-120"/>
              </a:rPr>
              <a:t>Nothing on the vehicle</a:t>
            </a:r>
            <a:endParaRPr lang="en-US" sz="1050" dirty="0"/>
          </a:p>
        </p:txBody>
      </p:sp>
      <p:sp>
        <p:nvSpPr>
          <p:cNvPr id="44" name="Text 42"/>
          <p:cNvSpPr txBox="1"/>
          <p:nvPr/>
        </p:nvSpPr>
        <p:spPr>
          <a:xfrm>
            <a:off x="6027268" y="5760720"/>
            <a:ext cx="1737360" cy="411480"/>
          </a:xfrm>
          <a:prstGeom prst="rect">
            <a:avLst/>
          </a:prstGeom>
          <a:noFill/>
          <a:ln/>
        </p:spPr>
        <p:txBody>
          <a:bodyPr wrap="square" lIns="0" tIns="0" rIns="0" bIns="0" rtlCol="0" anchor="t"/>
          <a:lstStyle/>
          <a:p>
            <a:pPr algn="ctr" indent="0" marL="0">
              <a:buNone/>
            </a:pPr>
            <a:r>
              <a:rPr lang="en-US" sz="1050" b="1" dirty="0">
                <a:solidFill>
                  <a:srgbClr val="17875B"/>
                </a:solidFill>
                <a:latin typeface="Calibri" pitchFamily="34" charset="0"/>
                <a:ea typeface="Calibri" pitchFamily="34" charset="-122"/>
                <a:cs typeface="Calibri" pitchFamily="34" charset="-120"/>
              </a:rPr>
              <a:t>No GPS, no network</a:t>
            </a:r>
            <a:endParaRPr lang="en-US" sz="1050" dirty="0"/>
          </a:p>
        </p:txBody>
      </p:sp>
      <p:sp>
        <p:nvSpPr>
          <p:cNvPr id="45" name="Text 43"/>
          <p:cNvSpPr txBox="1"/>
          <p:nvPr/>
        </p:nvSpPr>
        <p:spPr>
          <a:xfrm>
            <a:off x="9768535" y="5760720"/>
            <a:ext cx="1737360" cy="411480"/>
          </a:xfrm>
          <a:prstGeom prst="rect">
            <a:avLst/>
          </a:prstGeom>
          <a:noFill/>
          <a:ln/>
        </p:spPr>
        <p:txBody>
          <a:bodyPr wrap="square" lIns="0" tIns="0" rIns="0" bIns="0" rtlCol="0" anchor="t"/>
          <a:lstStyle/>
          <a:p>
            <a:pPr algn="ctr" indent="0" marL="0">
              <a:buNone/>
            </a:pPr>
            <a:r>
              <a:rPr lang="en-US" sz="1050" b="1" dirty="0">
                <a:solidFill>
                  <a:srgbClr val="17875B"/>
                </a:solidFill>
                <a:latin typeface="Calibri" pitchFamily="34" charset="0"/>
                <a:ea typeface="Calibri" pitchFamily="34" charset="-122"/>
                <a:cs typeface="Calibri" pitchFamily="34" charset="-120"/>
              </a:rPr>
              <a:t>Each intersection independent</a:t>
            </a:r>
            <a:endParaRPr lang="en-US" sz="1050" dirty="0"/>
          </a:p>
        </p:txBody>
      </p:sp>
      <p:sp>
        <p:nvSpPr>
          <p:cNvPr id="46" name="Text 44"/>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Sources: Figure 1 and Table 3 of the proposal; NTCIP 1211 [1]</a:t>
            </a:r>
            <a:endParaRPr lang="en-US" sz="950" dirty="0"/>
          </a:p>
        </p:txBody>
      </p:sp>
      <p:sp>
        <p:nvSpPr>
          <p:cNvPr id="47" name="Text 45"/>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5B6B82"/>
                </a:solidFill>
                <a:latin typeface="Calibri" pitchFamily="34" charset="0"/>
                <a:ea typeface="Calibri" pitchFamily="34" charset="-122"/>
                <a:cs typeface="Calibri" pitchFamily="34" charset="-120"/>
              </a:rPr>
              <a:t>13 / 14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457200"/>
            <a:ext cx="128016" cy="128016"/>
          </a:xfrm>
          <a:prstGeom prst="ellipse">
            <a:avLst/>
          </a:prstGeom>
          <a:solidFill>
            <a:srgbClr val="17875B"/>
          </a:solidFill>
          <a:ln w="12700">
            <a:solidFill>
              <a:srgbClr val="17875B"/>
            </a:solidFill>
            <a:prstDash val="solid"/>
          </a:ln>
        </p:spPr>
      </p:sp>
      <p:sp>
        <p:nvSpPr>
          <p:cNvPr id="3" name="Text 1"/>
          <p:cNvSpPr txBox="1"/>
          <p:nvPr/>
        </p:nvSpPr>
        <p:spPr>
          <a:xfrm>
            <a:off x="786384" y="365760"/>
            <a:ext cx="9144000" cy="310896"/>
          </a:xfrm>
          <a:prstGeom prst="rect">
            <a:avLst/>
          </a:prstGeom>
          <a:noFill/>
          <a:ln/>
        </p:spPr>
        <p:txBody>
          <a:bodyPr wrap="square" lIns="0" tIns="0" rIns="0" bIns="0" rtlCol="0" anchor="ctr"/>
          <a:lstStyle/>
          <a:p>
            <a:pPr indent="0" marL="0">
              <a:buNone/>
            </a:pPr>
            <a:r>
              <a:rPr lang="en-US" sz="1200" b="1" spc="300" kern="0" dirty="0">
                <a:solidFill>
                  <a:srgbClr val="C9D3E6"/>
                </a:solidFill>
                <a:latin typeface="Calibri" pitchFamily="34" charset="0"/>
                <a:ea typeface="Calibri" pitchFamily="34" charset="-122"/>
                <a:cs typeface="Calibri" pitchFamily="34" charset="-120"/>
              </a:rPr>
              <a:t>EVALUATION AND PLAN</a:t>
            </a:r>
            <a:endParaRPr lang="en-US" sz="1200" dirty="0"/>
          </a:p>
        </p:txBody>
      </p:sp>
      <p:sp>
        <p:nvSpPr>
          <p:cNvPr id="4" name="Text 2"/>
          <p:cNvSpPr txBox="1"/>
          <p:nvPr/>
        </p:nvSpPr>
        <p:spPr>
          <a:xfrm>
            <a:off x="548640" y="749808"/>
            <a:ext cx="11094415" cy="7772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Success Targets and an 18-Week Plan</a:t>
            </a:r>
            <a:endParaRPr lang="en-US" sz="2600" dirty="0"/>
          </a:p>
        </p:txBody>
      </p:sp>
      <p:sp>
        <p:nvSpPr>
          <p:cNvPr id="5" name="Text 3"/>
          <p:cNvSpPr txBox="1"/>
          <p:nvPr/>
        </p:nvSpPr>
        <p:spPr>
          <a:xfrm>
            <a:off x="548640" y="1600200"/>
            <a:ext cx="6035040" cy="365760"/>
          </a:xfrm>
          <a:prstGeom prst="rect">
            <a:avLst/>
          </a:prstGeom>
          <a:noFill/>
          <a:ln/>
        </p:spPr>
        <p:txBody>
          <a:bodyPr wrap="square" lIns="0" tIns="0" rIns="0" bIns="0" rtlCol="0" anchor="t"/>
          <a:lstStyle/>
          <a:p>
            <a:pPr indent="0" marL="0">
              <a:buNone/>
            </a:pPr>
            <a:r>
              <a:rPr lang="en-US" sz="1050" b="1" spc="150" kern="0" dirty="0">
                <a:solidFill>
                  <a:srgbClr val="C9D3E6"/>
                </a:solidFill>
                <a:latin typeface="Calibri" pitchFamily="34" charset="0"/>
                <a:ea typeface="Calibri" pitchFamily="34" charset="-122"/>
                <a:cs typeface="Calibri" pitchFamily="34" charset="-120"/>
              </a:rPr>
              <a:t>PROVISIONAL TARGETS: SUMO VS NO-PREEMPTION BASELINE</a:t>
            </a:r>
            <a:endParaRPr lang="en-US" sz="1050" dirty="0"/>
          </a:p>
        </p:txBody>
      </p:sp>
      <p:sp>
        <p:nvSpPr>
          <p:cNvPr id="6" name="Shape 4"/>
          <p:cNvSpPr/>
          <p:nvPr/>
        </p:nvSpPr>
        <p:spPr>
          <a:xfrm>
            <a:off x="548640" y="2103120"/>
            <a:ext cx="2926080" cy="1463040"/>
          </a:xfrm>
          <a:prstGeom prst="roundRect">
            <a:avLst>
              <a:gd name="adj" fmla="val 5000"/>
            </a:avLst>
          </a:prstGeom>
          <a:solidFill>
            <a:srgbClr val="1E2F55"/>
          </a:solidFill>
          <a:ln w="12700">
            <a:solidFill>
              <a:srgbClr val="1E2F55"/>
            </a:solidFill>
            <a:prstDash val="solid"/>
          </a:ln>
        </p:spPr>
      </p:sp>
      <p:sp>
        <p:nvSpPr>
          <p:cNvPr id="7" name="Text 5"/>
          <p:cNvSpPr txBox="1"/>
          <p:nvPr/>
        </p:nvSpPr>
        <p:spPr>
          <a:xfrm>
            <a:off x="777240" y="2240280"/>
            <a:ext cx="2468880" cy="685800"/>
          </a:xfrm>
          <a:prstGeom prst="rect">
            <a:avLst/>
          </a:prstGeom>
          <a:noFill/>
          <a:ln/>
        </p:spPr>
        <p:txBody>
          <a:bodyPr wrap="square" lIns="0" tIns="0" rIns="0" bIns="0" rtlCol="0" anchor="ctr"/>
          <a:lstStyle/>
          <a:p>
            <a:pPr indent="0" marL="0">
              <a:buNone/>
            </a:pPr>
            <a:r>
              <a:rPr lang="en-US" sz="3800" b="1" dirty="0">
                <a:solidFill>
                  <a:srgbClr val="F2A300"/>
                </a:solidFill>
                <a:latin typeface="Cambria" pitchFamily="34" charset="0"/>
                <a:ea typeface="Cambria" pitchFamily="34" charset="-122"/>
                <a:cs typeface="Cambria" pitchFamily="34" charset="-120"/>
              </a:rPr>
              <a:t>&gt; 95%</a:t>
            </a:r>
            <a:endParaRPr lang="en-US" sz="3800" dirty="0"/>
          </a:p>
        </p:txBody>
      </p:sp>
      <p:sp>
        <p:nvSpPr>
          <p:cNvPr id="8" name="Text 6"/>
          <p:cNvSpPr txBox="1"/>
          <p:nvPr/>
        </p:nvSpPr>
        <p:spPr>
          <a:xfrm>
            <a:off x="777240" y="2944368"/>
            <a:ext cx="2468880" cy="566928"/>
          </a:xfrm>
          <a:prstGeom prst="rect">
            <a:avLst/>
          </a:prstGeom>
          <a:noFill/>
          <a:ln/>
        </p:spPr>
        <p:txBody>
          <a:bodyPr wrap="square" lIns="0" tIns="0" rIns="0" bIns="0" rtlCol="0" anchor="t"/>
          <a:lstStyle/>
          <a:p>
            <a:pPr indent="0" marL="0">
              <a:buNone/>
            </a:pPr>
            <a:r>
              <a:rPr lang="en-US" sz="1250" dirty="0">
                <a:solidFill>
                  <a:srgbClr val="C9D3E6"/>
                </a:solidFill>
                <a:latin typeface="Calibri" pitchFamily="34" charset="0"/>
                <a:ea typeface="Calibri" pitchFamily="34" charset="-122"/>
                <a:cs typeface="Calibri" pitchFamily="34" charset="-120"/>
              </a:rPr>
              <a:t>preemption accuracy</a:t>
            </a:r>
            <a:endParaRPr lang="en-US" sz="1250" dirty="0"/>
          </a:p>
        </p:txBody>
      </p:sp>
      <p:sp>
        <p:nvSpPr>
          <p:cNvPr id="9" name="Shape 7"/>
          <p:cNvSpPr/>
          <p:nvPr/>
        </p:nvSpPr>
        <p:spPr>
          <a:xfrm>
            <a:off x="3657600" y="2103120"/>
            <a:ext cx="2926080" cy="1463040"/>
          </a:xfrm>
          <a:prstGeom prst="roundRect">
            <a:avLst>
              <a:gd name="adj" fmla="val 5000"/>
            </a:avLst>
          </a:prstGeom>
          <a:solidFill>
            <a:srgbClr val="1E2F55"/>
          </a:solidFill>
          <a:ln w="12700">
            <a:solidFill>
              <a:srgbClr val="1E2F55"/>
            </a:solidFill>
            <a:prstDash val="solid"/>
          </a:ln>
        </p:spPr>
      </p:sp>
      <p:sp>
        <p:nvSpPr>
          <p:cNvPr id="10" name="Text 8"/>
          <p:cNvSpPr txBox="1"/>
          <p:nvPr/>
        </p:nvSpPr>
        <p:spPr>
          <a:xfrm>
            <a:off x="3886200" y="2240280"/>
            <a:ext cx="2468880" cy="685800"/>
          </a:xfrm>
          <a:prstGeom prst="rect">
            <a:avLst/>
          </a:prstGeom>
          <a:noFill/>
          <a:ln/>
        </p:spPr>
        <p:txBody>
          <a:bodyPr wrap="square" lIns="0" tIns="0" rIns="0" bIns="0" rtlCol="0" anchor="ctr"/>
          <a:lstStyle/>
          <a:p>
            <a:pPr indent="0" marL="0">
              <a:buNone/>
            </a:pPr>
            <a:r>
              <a:rPr lang="en-US" sz="3800" b="1" dirty="0">
                <a:solidFill>
                  <a:srgbClr val="F2A300"/>
                </a:solidFill>
                <a:latin typeface="Cambria" pitchFamily="34" charset="0"/>
                <a:ea typeface="Cambria" pitchFamily="34" charset="-122"/>
                <a:cs typeface="Cambria" pitchFamily="34" charset="-120"/>
              </a:rPr>
              <a:t>&lt; 3 s</a:t>
            </a:r>
            <a:endParaRPr lang="en-US" sz="3800" dirty="0"/>
          </a:p>
        </p:txBody>
      </p:sp>
      <p:sp>
        <p:nvSpPr>
          <p:cNvPr id="11" name="Text 9"/>
          <p:cNvSpPr txBox="1"/>
          <p:nvPr/>
        </p:nvSpPr>
        <p:spPr>
          <a:xfrm>
            <a:off x="3886200" y="2944368"/>
            <a:ext cx="2468880" cy="566928"/>
          </a:xfrm>
          <a:prstGeom prst="rect">
            <a:avLst/>
          </a:prstGeom>
          <a:noFill/>
          <a:ln/>
        </p:spPr>
        <p:txBody>
          <a:bodyPr wrap="square" lIns="0" tIns="0" rIns="0" bIns="0" rtlCol="0" anchor="t"/>
          <a:lstStyle/>
          <a:p>
            <a:pPr indent="0" marL="0">
              <a:buNone/>
            </a:pPr>
            <a:r>
              <a:rPr lang="en-US" sz="1250" dirty="0">
                <a:solidFill>
                  <a:srgbClr val="C9D3E6"/>
                </a:solidFill>
                <a:latin typeface="Calibri" pitchFamily="34" charset="0"/>
                <a:ea typeface="Calibri" pitchFamily="34" charset="-122"/>
                <a:cs typeface="Calibri" pitchFamily="34" charset="-120"/>
              </a:rPr>
              <a:t>first sustained detection to green</a:t>
            </a:r>
            <a:endParaRPr lang="en-US" sz="1250" dirty="0"/>
          </a:p>
        </p:txBody>
      </p:sp>
      <p:sp>
        <p:nvSpPr>
          <p:cNvPr id="12" name="Shape 10"/>
          <p:cNvSpPr/>
          <p:nvPr/>
        </p:nvSpPr>
        <p:spPr>
          <a:xfrm>
            <a:off x="548640" y="3730752"/>
            <a:ext cx="2926080" cy="1463040"/>
          </a:xfrm>
          <a:prstGeom prst="roundRect">
            <a:avLst>
              <a:gd name="adj" fmla="val 5000"/>
            </a:avLst>
          </a:prstGeom>
          <a:solidFill>
            <a:srgbClr val="1E2F55"/>
          </a:solidFill>
          <a:ln w="12700">
            <a:solidFill>
              <a:srgbClr val="1E2F55"/>
            </a:solidFill>
            <a:prstDash val="solid"/>
          </a:ln>
        </p:spPr>
      </p:sp>
      <p:sp>
        <p:nvSpPr>
          <p:cNvPr id="13" name="Text 11"/>
          <p:cNvSpPr txBox="1"/>
          <p:nvPr/>
        </p:nvSpPr>
        <p:spPr>
          <a:xfrm>
            <a:off x="777240" y="3867912"/>
            <a:ext cx="2468880" cy="685800"/>
          </a:xfrm>
          <a:prstGeom prst="rect">
            <a:avLst/>
          </a:prstGeom>
          <a:noFill/>
          <a:ln/>
        </p:spPr>
        <p:txBody>
          <a:bodyPr wrap="square" lIns="0" tIns="0" rIns="0" bIns="0" rtlCol="0" anchor="ctr"/>
          <a:lstStyle/>
          <a:p>
            <a:pPr indent="0" marL="0">
              <a:buNone/>
            </a:pPr>
            <a:r>
              <a:rPr lang="en-US" sz="3800" b="1" dirty="0">
                <a:solidFill>
                  <a:srgbClr val="F2A300"/>
                </a:solidFill>
                <a:latin typeface="Cambria" pitchFamily="34" charset="0"/>
                <a:ea typeface="Cambria" pitchFamily="34" charset="-122"/>
                <a:cs typeface="Cambria" pitchFamily="34" charset="-120"/>
              </a:rPr>
              <a:t>&lt; 2%</a:t>
            </a:r>
            <a:endParaRPr lang="en-US" sz="3800" dirty="0"/>
          </a:p>
        </p:txBody>
      </p:sp>
      <p:sp>
        <p:nvSpPr>
          <p:cNvPr id="14" name="Text 12"/>
          <p:cNvSpPr txBox="1"/>
          <p:nvPr/>
        </p:nvSpPr>
        <p:spPr>
          <a:xfrm>
            <a:off x="777240" y="4572000"/>
            <a:ext cx="2468880" cy="566928"/>
          </a:xfrm>
          <a:prstGeom prst="rect">
            <a:avLst/>
          </a:prstGeom>
          <a:noFill/>
          <a:ln/>
        </p:spPr>
        <p:txBody>
          <a:bodyPr wrap="square" lIns="0" tIns="0" rIns="0" bIns="0" rtlCol="0" anchor="t"/>
          <a:lstStyle/>
          <a:p>
            <a:pPr indent="0" marL="0">
              <a:buNone/>
            </a:pPr>
            <a:r>
              <a:rPr lang="en-US" sz="1250" dirty="0">
                <a:solidFill>
                  <a:srgbClr val="C9D3E6"/>
                </a:solidFill>
                <a:latin typeface="Calibri" pitchFamily="34" charset="0"/>
                <a:ea typeface="Calibri" pitchFamily="34" charset="-122"/>
                <a:cs typeface="Calibri" pitchFamily="34" charset="-120"/>
              </a:rPr>
              <a:t>false-trigger rate</a:t>
            </a:r>
            <a:endParaRPr lang="en-US" sz="1250" dirty="0"/>
          </a:p>
        </p:txBody>
      </p:sp>
      <p:sp>
        <p:nvSpPr>
          <p:cNvPr id="15" name="Shape 13"/>
          <p:cNvSpPr/>
          <p:nvPr/>
        </p:nvSpPr>
        <p:spPr>
          <a:xfrm>
            <a:off x="3657600" y="3730752"/>
            <a:ext cx="2926080" cy="1463040"/>
          </a:xfrm>
          <a:prstGeom prst="roundRect">
            <a:avLst>
              <a:gd name="adj" fmla="val 5000"/>
            </a:avLst>
          </a:prstGeom>
          <a:solidFill>
            <a:srgbClr val="1E2F55"/>
          </a:solidFill>
          <a:ln w="12700">
            <a:solidFill>
              <a:srgbClr val="1E2F55"/>
            </a:solidFill>
            <a:prstDash val="solid"/>
          </a:ln>
        </p:spPr>
      </p:sp>
      <p:sp>
        <p:nvSpPr>
          <p:cNvPr id="16" name="Text 14"/>
          <p:cNvSpPr txBox="1"/>
          <p:nvPr/>
        </p:nvSpPr>
        <p:spPr>
          <a:xfrm>
            <a:off x="3886200" y="3867912"/>
            <a:ext cx="2468880" cy="685800"/>
          </a:xfrm>
          <a:prstGeom prst="rect">
            <a:avLst/>
          </a:prstGeom>
          <a:noFill/>
          <a:ln/>
        </p:spPr>
        <p:txBody>
          <a:bodyPr wrap="square" lIns="0" tIns="0" rIns="0" bIns="0" rtlCol="0" anchor="ctr"/>
          <a:lstStyle/>
          <a:p>
            <a:pPr indent="0" marL="0">
              <a:buNone/>
            </a:pPr>
            <a:r>
              <a:rPr lang="en-US" sz="3800" b="1" dirty="0">
                <a:solidFill>
                  <a:srgbClr val="F2A300"/>
                </a:solidFill>
                <a:latin typeface="Cambria" pitchFamily="34" charset="0"/>
                <a:ea typeface="Cambria" pitchFamily="34" charset="-122"/>
                <a:cs typeface="Cambria" pitchFamily="34" charset="-120"/>
              </a:rPr>
              <a:t>≤ 2 s</a:t>
            </a:r>
            <a:endParaRPr lang="en-US" sz="3800" dirty="0"/>
          </a:p>
        </p:txBody>
      </p:sp>
      <p:sp>
        <p:nvSpPr>
          <p:cNvPr id="17" name="Text 15"/>
          <p:cNvSpPr txBox="1"/>
          <p:nvPr/>
        </p:nvSpPr>
        <p:spPr>
          <a:xfrm>
            <a:off x="3886200" y="4572000"/>
            <a:ext cx="2468880" cy="566928"/>
          </a:xfrm>
          <a:prstGeom prst="rect">
            <a:avLst/>
          </a:prstGeom>
          <a:noFill/>
          <a:ln/>
        </p:spPr>
        <p:txBody>
          <a:bodyPr wrap="square" lIns="0" tIns="0" rIns="0" bIns="0" rtlCol="0" anchor="t"/>
          <a:lstStyle/>
          <a:p>
            <a:pPr indent="0" marL="0">
              <a:buNone/>
            </a:pPr>
            <a:r>
              <a:rPr lang="en-US" sz="1250" dirty="0">
                <a:solidFill>
                  <a:srgbClr val="C9D3E6"/>
                </a:solidFill>
                <a:latin typeface="Calibri" pitchFamily="34" charset="0"/>
                <a:ea typeface="Calibri" pitchFamily="34" charset="-122"/>
                <a:cs typeface="Calibri" pitchFamily="34" charset="-120"/>
              </a:rPr>
              <a:t>reversion after the vehicle leaves the zone</a:t>
            </a:r>
            <a:endParaRPr lang="en-US" sz="1250" dirty="0"/>
          </a:p>
        </p:txBody>
      </p:sp>
      <p:sp>
        <p:nvSpPr>
          <p:cNvPr id="18" name="Text 16"/>
          <p:cNvSpPr txBox="1"/>
          <p:nvPr/>
        </p:nvSpPr>
        <p:spPr>
          <a:xfrm>
            <a:off x="6903720" y="1600200"/>
            <a:ext cx="4739335" cy="365760"/>
          </a:xfrm>
          <a:prstGeom prst="rect">
            <a:avLst/>
          </a:prstGeom>
          <a:noFill/>
          <a:ln/>
        </p:spPr>
        <p:txBody>
          <a:bodyPr wrap="square" lIns="0" tIns="0" rIns="0" bIns="0" rtlCol="0" anchor="t"/>
          <a:lstStyle/>
          <a:p>
            <a:pPr indent="0" marL="0">
              <a:buNone/>
            </a:pPr>
            <a:r>
              <a:rPr lang="en-US" sz="1050" b="1" spc="150" kern="0" dirty="0">
                <a:solidFill>
                  <a:srgbClr val="C9D3E6"/>
                </a:solidFill>
                <a:latin typeface="Calibri" pitchFamily="34" charset="0"/>
                <a:ea typeface="Calibri" pitchFamily="34" charset="-122"/>
                <a:cs typeface="Calibri" pitchFamily="34" charset="-120"/>
              </a:rPr>
              <a:t>18-WEEK ROADMAP</a:t>
            </a:r>
            <a:endParaRPr lang="en-US" sz="1050" dirty="0"/>
          </a:p>
        </p:txBody>
      </p:sp>
      <p:sp>
        <p:nvSpPr>
          <p:cNvPr id="19" name="Shape 17"/>
          <p:cNvSpPr/>
          <p:nvPr/>
        </p:nvSpPr>
        <p:spPr>
          <a:xfrm>
            <a:off x="6903720" y="2103120"/>
            <a:ext cx="1051560" cy="640080"/>
          </a:xfrm>
          <a:prstGeom prst="roundRect">
            <a:avLst>
              <a:gd name="adj" fmla="val 11429"/>
            </a:avLst>
          </a:prstGeom>
          <a:solidFill>
            <a:srgbClr val="17875B"/>
          </a:solidFill>
          <a:ln w="12700">
            <a:solidFill>
              <a:srgbClr val="17875B"/>
            </a:solidFill>
            <a:prstDash val="solid"/>
          </a:ln>
        </p:spPr>
      </p:sp>
      <p:sp>
        <p:nvSpPr>
          <p:cNvPr id="20" name="Text 18"/>
          <p:cNvSpPr txBox="1"/>
          <p:nvPr/>
        </p:nvSpPr>
        <p:spPr>
          <a:xfrm>
            <a:off x="6903720" y="2103120"/>
            <a:ext cx="105156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Wk 1-3</a:t>
            </a:r>
            <a:endParaRPr lang="en-US" sz="1300" dirty="0"/>
          </a:p>
        </p:txBody>
      </p:sp>
      <p:sp>
        <p:nvSpPr>
          <p:cNvPr id="21" name="Text 19"/>
          <p:cNvSpPr txBox="1"/>
          <p:nvPr/>
        </p:nvSpPr>
        <p:spPr>
          <a:xfrm>
            <a:off x="8138160" y="2103120"/>
            <a:ext cx="3504895"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Literature review, requirements, SUMO baseline model</a:t>
            </a:r>
            <a:endParaRPr lang="en-US" sz="1300" dirty="0"/>
          </a:p>
        </p:txBody>
      </p:sp>
      <p:sp>
        <p:nvSpPr>
          <p:cNvPr id="22" name="Shape 20"/>
          <p:cNvSpPr/>
          <p:nvPr/>
        </p:nvSpPr>
        <p:spPr>
          <a:xfrm>
            <a:off x="6903720" y="2889504"/>
            <a:ext cx="1051560" cy="640080"/>
          </a:xfrm>
          <a:prstGeom prst="roundRect">
            <a:avLst>
              <a:gd name="adj" fmla="val 11429"/>
            </a:avLst>
          </a:prstGeom>
          <a:solidFill>
            <a:srgbClr val="17875B"/>
          </a:solidFill>
          <a:ln w="12700">
            <a:solidFill>
              <a:srgbClr val="17875B"/>
            </a:solidFill>
            <a:prstDash val="solid"/>
          </a:ln>
        </p:spPr>
      </p:sp>
      <p:sp>
        <p:nvSpPr>
          <p:cNvPr id="23" name="Text 21"/>
          <p:cNvSpPr txBox="1"/>
          <p:nvPr/>
        </p:nvSpPr>
        <p:spPr>
          <a:xfrm>
            <a:off x="6903720" y="2889504"/>
            <a:ext cx="105156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Wk 3-7</a:t>
            </a:r>
            <a:endParaRPr lang="en-US" sz="1300" dirty="0"/>
          </a:p>
        </p:txBody>
      </p:sp>
      <p:sp>
        <p:nvSpPr>
          <p:cNvPr id="24" name="Text 22"/>
          <p:cNvSpPr txBox="1"/>
          <p:nvPr/>
        </p:nvSpPr>
        <p:spPr>
          <a:xfrm>
            <a:off x="8138160" y="2889504"/>
            <a:ext cx="3504895"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YOLOv8n fine-tuning and detector-performance profile</a:t>
            </a:r>
            <a:endParaRPr lang="en-US" sz="1300" dirty="0"/>
          </a:p>
        </p:txBody>
      </p:sp>
      <p:sp>
        <p:nvSpPr>
          <p:cNvPr id="25" name="Shape 23"/>
          <p:cNvSpPr/>
          <p:nvPr/>
        </p:nvSpPr>
        <p:spPr>
          <a:xfrm>
            <a:off x="6903720" y="3675888"/>
            <a:ext cx="1051560" cy="640080"/>
          </a:xfrm>
          <a:prstGeom prst="roundRect">
            <a:avLst>
              <a:gd name="adj" fmla="val 11429"/>
            </a:avLst>
          </a:prstGeom>
          <a:solidFill>
            <a:srgbClr val="17875B"/>
          </a:solidFill>
          <a:ln w="12700">
            <a:solidFill>
              <a:srgbClr val="17875B"/>
            </a:solidFill>
            <a:prstDash val="solid"/>
          </a:ln>
        </p:spPr>
      </p:sp>
      <p:sp>
        <p:nvSpPr>
          <p:cNvPr id="26" name="Text 24"/>
          <p:cNvSpPr txBox="1"/>
          <p:nvPr/>
        </p:nvSpPr>
        <p:spPr>
          <a:xfrm>
            <a:off x="6903720" y="3675888"/>
            <a:ext cx="105156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Wk 8-14</a:t>
            </a:r>
            <a:endParaRPr lang="en-US" sz="1300" dirty="0"/>
          </a:p>
        </p:txBody>
      </p:sp>
      <p:sp>
        <p:nvSpPr>
          <p:cNvPr id="27" name="Text 25"/>
          <p:cNvSpPr txBox="1"/>
          <p:nvPr/>
        </p:nvSpPr>
        <p:spPr>
          <a:xfrm>
            <a:off x="8138160" y="3675888"/>
            <a:ext cx="3504895"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Tracking, controller, camera placement, scenarios, integration</a:t>
            </a:r>
            <a:endParaRPr lang="en-US" sz="1300" dirty="0"/>
          </a:p>
        </p:txBody>
      </p:sp>
      <p:sp>
        <p:nvSpPr>
          <p:cNvPr id="28" name="Shape 26"/>
          <p:cNvSpPr/>
          <p:nvPr/>
        </p:nvSpPr>
        <p:spPr>
          <a:xfrm>
            <a:off x="6903720" y="4462272"/>
            <a:ext cx="1051560" cy="640080"/>
          </a:xfrm>
          <a:prstGeom prst="roundRect">
            <a:avLst>
              <a:gd name="adj" fmla="val 11429"/>
            </a:avLst>
          </a:prstGeom>
          <a:solidFill>
            <a:srgbClr val="17875B"/>
          </a:solidFill>
          <a:ln w="12700">
            <a:solidFill>
              <a:srgbClr val="17875B"/>
            </a:solidFill>
            <a:prstDash val="solid"/>
          </a:ln>
        </p:spPr>
      </p:sp>
      <p:sp>
        <p:nvSpPr>
          <p:cNvPr id="29" name="Text 27"/>
          <p:cNvSpPr txBox="1"/>
          <p:nvPr/>
        </p:nvSpPr>
        <p:spPr>
          <a:xfrm>
            <a:off x="6903720" y="4462272"/>
            <a:ext cx="105156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Wk 15-18</a:t>
            </a:r>
            <a:endParaRPr lang="en-US" sz="1300" dirty="0"/>
          </a:p>
        </p:txBody>
      </p:sp>
      <p:sp>
        <p:nvSpPr>
          <p:cNvPr id="30" name="Text 28"/>
          <p:cNvSpPr txBox="1"/>
          <p:nvPr/>
        </p:nvSpPr>
        <p:spPr>
          <a:xfrm>
            <a:off x="8138160" y="4462272"/>
            <a:ext cx="3504895"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Benchmarking vs baseline, final report and live demo</a:t>
            </a:r>
            <a:endParaRPr lang="en-US" sz="1300" dirty="0"/>
          </a:p>
        </p:txBody>
      </p:sp>
      <p:sp>
        <p:nvSpPr>
          <p:cNvPr id="31" name="Shape 29"/>
          <p:cNvSpPr/>
          <p:nvPr/>
        </p:nvSpPr>
        <p:spPr>
          <a:xfrm>
            <a:off x="548640" y="5486400"/>
            <a:ext cx="11094415" cy="777240"/>
          </a:xfrm>
          <a:prstGeom prst="roundRect">
            <a:avLst>
              <a:gd name="adj" fmla="val 9412"/>
            </a:avLst>
          </a:prstGeom>
          <a:solidFill>
            <a:srgbClr val="0B1426"/>
          </a:solidFill>
          <a:ln w="12700">
            <a:solidFill>
              <a:srgbClr val="0B1426"/>
            </a:solidFill>
            <a:prstDash val="solid"/>
          </a:ln>
        </p:spPr>
      </p:sp>
      <p:sp>
        <p:nvSpPr>
          <p:cNvPr id="32" name="Text 30"/>
          <p:cNvSpPr txBox="1"/>
          <p:nvPr/>
        </p:nvSpPr>
        <p:spPr>
          <a:xfrm>
            <a:off x="868680" y="5486400"/>
            <a:ext cx="4572000"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 Questions?</a:t>
            </a:r>
            <a:endParaRPr lang="en-US" sz="2400" dirty="0"/>
          </a:p>
        </p:txBody>
      </p:sp>
      <p:sp>
        <p:nvSpPr>
          <p:cNvPr id="33" name="Text 31"/>
          <p:cNvSpPr txBox="1"/>
          <p:nvPr/>
        </p:nvSpPr>
        <p:spPr>
          <a:xfrm>
            <a:off x="5486400" y="5486400"/>
            <a:ext cx="5836615" cy="777240"/>
          </a:xfrm>
          <a:prstGeom prst="rect">
            <a:avLst/>
          </a:prstGeom>
          <a:noFill/>
          <a:ln/>
        </p:spPr>
        <p:txBody>
          <a:bodyPr wrap="square" lIns="0" tIns="0" rIns="0" bIns="0" rtlCol="0" anchor="ctr"/>
          <a:lstStyle/>
          <a:p>
            <a:pPr algn="r" indent="0" marL="0">
              <a:buNone/>
            </a:pPr>
            <a:r>
              <a:rPr lang="en-US" sz="1150" dirty="0">
                <a:solidFill>
                  <a:srgbClr val="C9D3E6"/>
                </a:solidFill>
                <a:latin typeface="Calibri" pitchFamily="34" charset="0"/>
                <a:ea typeface="Calibri" pitchFamily="34" charset="-122"/>
                <a:cs typeface="Calibri" pitchFamily="34" charset="-120"/>
              </a:rPr>
              <a:t>Abdur Rehman  |  Abdullah Salim Nizami  |  Abdul Hadi Sheikh</a:t>
            </a:r>
            <a:endParaRPr lang="en-US" sz="1150" dirty="0"/>
          </a:p>
          <a:p>
            <a:pPr algn="r" indent="0" marL="0">
              <a:buNone/>
            </a:pPr>
            <a:r>
              <a:rPr lang="en-US" sz="1150" dirty="0">
                <a:solidFill>
                  <a:srgbClr val="C9D3E6"/>
                </a:solidFill>
                <a:latin typeface="Calibri" pitchFamily="34" charset="0"/>
                <a:ea typeface="Calibri" pitchFamily="34" charset="-122"/>
                <a:cs typeface="Calibri" pitchFamily="34" charset="-120"/>
              </a:rPr>
              <a:t>Advisor: Sir Khurram Shahzad  |  Co-Advisor: Maam Sana Qadir</a:t>
            </a:r>
            <a:endParaRPr lang="en-US" sz="1150" dirty="0"/>
          </a:p>
        </p:txBody>
      </p:sp>
      <p:sp>
        <p:nvSpPr>
          <p:cNvPr id="34" name="Text 32"/>
          <p:cNvSpPr txBox="1"/>
          <p:nvPr/>
        </p:nvSpPr>
        <p:spPr>
          <a:xfrm>
            <a:off x="548640" y="6428232"/>
            <a:ext cx="9601200" cy="256032"/>
          </a:xfrm>
          <a:prstGeom prst="rect">
            <a:avLst/>
          </a:prstGeom>
          <a:noFill/>
          <a:ln/>
        </p:spPr>
        <p:txBody>
          <a:bodyPr wrap="square" lIns="0" tIns="0" rIns="0" bIns="0" rtlCol="0" anchor="ctr"/>
          <a:lstStyle/>
          <a:p>
            <a:pPr indent="0" marL="0">
              <a:buNone/>
            </a:pPr>
            <a:r>
              <a:rPr lang="en-US" sz="950" dirty="0">
                <a:solidFill>
                  <a:srgbClr val="C9D3E6"/>
                </a:solidFill>
                <a:latin typeface="Calibri" pitchFamily="34" charset="0"/>
                <a:ea typeface="Calibri" pitchFamily="34" charset="-122"/>
                <a:cs typeface="Calibri" pitchFamily="34" charset="-120"/>
              </a:rPr>
              <a:t>Targets and timeline: Module 6 and Table 6 of the proposal</a:t>
            </a:r>
            <a:endParaRPr lang="en-US" sz="950" dirty="0"/>
          </a:p>
        </p:txBody>
      </p:sp>
      <p:sp>
        <p:nvSpPr>
          <p:cNvPr id="35" name="Text 33"/>
          <p:cNvSpPr txBox="1"/>
          <p:nvPr/>
        </p:nvSpPr>
        <p:spPr>
          <a:xfrm>
            <a:off x="10545775" y="6428232"/>
            <a:ext cx="1097280" cy="256032"/>
          </a:xfrm>
          <a:prstGeom prst="rect">
            <a:avLst/>
          </a:prstGeom>
          <a:noFill/>
          <a:ln/>
        </p:spPr>
        <p:txBody>
          <a:bodyPr wrap="square" lIns="0" tIns="0" rIns="0" bIns="0" rtlCol="0" anchor="ctr"/>
          <a:lstStyle/>
          <a:p>
            <a:pPr algn="r" indent="0" marL="0">
              <a:buNone/>
            </a:pPr>
            <a:r>
              <a:rPr lang="en-US" sz="950" dirty="0">
                <a:solidFill>
                  <a:srgbClr val="C9D3E6"/>
                </a:solidFill>
                <a:latin typeface="Calibri" pitchFamily="34" charset="0"/>
                <a:ea typeface="Calibri" pitchFamily="34" charset="-122"/>
                <a:cs typeface="Calibri" pitchFamily="34" charset="-120"/>
              </a:rPr>
              <a:t>14 / 14</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SEECS, NUST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Computer-Vision-Based Emergency Vehicle Preemption (EVP) System for Traffic Intersections in Pakistan - FYP Proposal Defense</dc:title>
  <dc:subject>PptxGenJS Presentation</dc:subject>
  <dc:creator>Syed Muhammad Abdur Rehman, Abdullah Salim Nizami, Abdul Hadi Sheikh</dc:creator>
  <cp:lastModifiedBy>Syed Muhammad Abdur Rehman, Abdullah Salim Nizami, Abdul Hadi Sheikh</cp:lastModifiedBy>
  <cp:revision>1</cp:revision>
  <dcterms:created xsi:type="dcterms:W3CDTF">2026-10-01T15:55:58Z</dcterms:created>
  <dcterms:modified xsi:type="dcterms:W3CDTF">2026-10-01T15:55:58Z</dcterms:modified>
</cp:coreProperties>
</file>